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2192000" cy="5136739"/>
  <p:notesSz cx="7045325"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8F5C"/>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2392" y="1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790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annotated variant. Adds the per-round wording contrast between (b) and (c), repairs the overlapping "Aggregate development evidence" label of the source raster, and states in plain words what stays local and what the laboratories return.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48635" y="187371"/>
            <a:ext cx="0" cy="4732583"/>
          </a:xfrm>
          <a:prstGeom prst="line">
            <a:avLst/>
          </a:prstGeom>
          <a:noFill/>
          <a:ln w="12700">
            <a:solidFill>
              <a:srgbClr val="C9D3D5"/>
            </a:solidFill>
            <a:prstDash val="solid"/>
            <a:headEnd type="none"/>
            <a:tailEnd type="none"/>
          </a:ln>
        </p:spPr>
      </p:sp>
      <p:sp>
        <p:nvSpPr>
          <p:cNvPr id="3" name="Shape 1"/>
          <p:cNvSpPr/>
          <p:nvPr/>
        </p:nvSpPr>
        <p:spPr>
          <a:xfrm>
            <a:off x="8156944" y="202349"/>
            <a:ext cx="0" cy="4747019"/>
          </a:xfrm>
          <a:prstGeom prst="line">
            <a:avLst/>
          </a:prstGeom>
          <a:noFill/>
          <a:ln w="12700">
            <a:solidFill>
              <a:srgbClr val="C9D3D5"/>
            </a:solidFill>
            <a:prstDash val="solid"/>
            <a:headEnd type="none"/>
            <a:tailEnd type="none"/>
          </a:ln>
        </p:spPr>
      </p:sp>
      <p:sp>
        <p:nvSpPr>
          <p:cNvPr id="6" name="Shape 4"/>
          <p:cNvSpPr/>
          <p:nvPr/>
        </p:nvSpPr>
        <p:spPr>
          <a:xfrm>
            <a:off x="4660057" y="2637884"/>
            <a:ext cx="896593" cy="463877"/>
          </a:xfrm>
          <a:prstGeom prst="line">
            <a:avLst/>
          </a:prstGeom>
          <a:noFill/>
          <a:ln w="30480">
            <a:solidFill>
              <a:schemeClr val="accent1"/>
            </a:solidFill>
            <a:prstDash val="solid"/>
            <a:headEnd type="none"/>
            <a:tailEnd type="triangle"/>
          </a:ln>
        </p:spPr>
      </p:sp>
      <p:sp>
        <p:nvSpPr>
          <p:cNvPr id="7" name="Shape 5"/>
          <p:cNvSpPr/>
          <p:nvPr/>
        </p:nvSpPr>
        <p:spPr>
          <a:xfrm>
            <a:off x="5931511" y="2654355"/>
            <a:ext cx="0" cy="463877"/>
          </a:xfrm>
          <a:prstGeom prst="line">
            <a:avLst/>
          </a:prstGeom>
          <a:noFill/>
          <a:ln w="30480">
            <a:solidFill>
              <a:schemeClr val="accent1"/>
            </a:solidFill>
            <a:prstDash val="solid"/>
            <a:headEnd type="none"/>
            <a:tailEnd type="triangle"/>
          </a:ln>
        </p:spPr>
      </p:sp>
      <p:sp>
        <p:nvSpPr>
          <p:cNvPr id="8" name="Shape 6"/>
          <p:cNvSpPr/>
          <p:nvPr/>
        </p:nvSpPr>
        <p:spPr>
          <a:xfrm flipH="1">
            <a:off x="6372296" y="2637884"/>
            <a:ext cx="1235752" cy="463877"/>
          </a:xfrm>
          <a:prstGeom prst="line">
            <a:avLst/>
          </a:prstGeom>
          <a:noFill/>
          <a:ln w="30480">
            <a:solidFill>
              <a:schemeClr val="accent1"/>
            </a:solidFill>
            <a:prstDash val="solid"/>
            <a:headEnd type="none"/>
            <a:tailEnd type="triangle"/>
          </a:ln>
        </p:spPr>
      </p:sp>
      <p:sp>
        <p:nvSpPr>
          <p:cNvPr id="13" name="Shape 11"/>
          <p:cNvSpPr/>
          <p:nvPr/>
        </p:nvSpPr>
        <p:spPr>
          <a:xfrm>
            <a:off x="10621515" y="1305143"/>
            <a:ext cx="1407790" cy="0"/>
          </a:xfrm>
          <a:prstGeom prst="line">
            <a:avLst/>
          </a:prstGeom>
          <a:noFill/>
          <a:ln w="30480">
            <a:solidFill>
              <a:srgbClr val="3F8F5C"/>
            </a:solidFill>
            <a:prstDash val="solid"/>
            <a:headEnd type="none"/>
            <a:tailEnd type="none"/>
          </a:ln>
        </p:spPr>
      </p:sp>
      <p:sp>
        <p:nvSpPr>
          <p:cNvPr id="14" name="Shape 12"/>
          <p:cNvSpPr/>
          <p:nvPr/>
        </p:nvSpPr>
        <p:spPr>
          <a:xfrm>
            <a:off x="12019146" y="1305143"/>
            <a:ext cx="0" cy="2902329"/>
          </a:xfrm>
          <a:prstGeom prst="line">
            <a:avLst/>
          </a:prstGeom>
          <a:noFill/>
          <a:ln w="30480">
            <a:solidFill>
              <a:srgbClr val="3F8F5C"/>
            </a:solidFill>
            <a:prstDash val="solid"/>
            <a:headEnd type="none"/>
            <a:tailEnd type="none"/>
          </a:ln>
        </p:spPr>
      </p:sp>
      <p:sp>
        <p:nvSpPr>
          <p:cNvPr id="15" name="Shape 13"/>
          <p:cNvSpPr/>
          <p:nvPr/>
        </p:nvSpPr>
        <p:spPr>
          <a:xfrm flipH="1">
            <a:off x="10557702" y="4197516"/>
            <a:ext cx="1471603" cy="0"/>
          </a:xfrm>
          <a:prstGeom prst="line">
            <a:avLst/>
          </a:prstGeom>
          <a:noFill/>
          <a:ln w="30480">
            <a:solidFill>
              <a:srgbClr val="3F8F5C"/>
            </a:solidFill>
            <a:prstDash val="solid"/>
            <a:headEnd type="none"/>
            <a:tailEnd type="triangle"/>
          </a:ln>
        </p:spPr>
      </p:sp>
      <p:sp>
        <p:nvSpPr>
          <p:cNvPr id="18" name="Shape 16"/>
          <p:cNvSpPr/>
          <p:nvPr/>
        </p:nvSpPr>
        <p:spPr>
          <a:xfrm>
            <a:off x="6692826" y="1520147"/>
            <a:ext cx="42471" cy="42471"/>
          </a:xfrm>
          <a:prstGeom prst="ellipse">
            <a:avLst/>
          </a:prstGeom>
          <a:solidFill>
            <a:srgbClr val="1F2A37"/>
          </a:solidFill>
          <a:ln w="6350">
            <a:solidFill>
              <a:srgbClr val="1F2A37"/>
            </a:solidFill>
            <a:prstDash val="solid"/>
          </a:ln>
        </p:spPr>
      </p:sp>
      <p:sp>
        <p:nvSpPr>
          <p:cNvPr id="19" name="Shape 17"/>
          <p:cNvSpPr/>
          <p:nvPr/>
        </p:nvSpPr>
        <p:spPr>
          <a:xfrm>
            <a:off x="6792758" y="1520147"/>
            <a:ext cx="42471" cy="42471"/>
          </a:xfrm>
          <a:prstGeom prst="ellipse">
            <a:avLst/>
          </a:prstGeom>
          <a:solidFill>
            <a:srgbClr val="1F2A37"/>
          </a:solidFill>
          <a:ln w="6350">
            <a:solidFill>
              <a:srgbClr val="1F2A37"/>
            </a:solidFill>
            <a:prstDash val="solid"/>
          </a:ln>
        </p:spPr>
      </p:sp>
      <p:sp>
        <p:nvSpPr>
          <p:cNvPr id="20" name="Shape 18"/>
          <p:cNvSpPr/>
          <p:nvPr/>
        </p:nvSpPr>
        <p:spPr>
          <a:xfrm>
            <a:off x="6892690" y="1520147"/>
            <a:ext cx="42471" cy="42471"/>
          </a:xfrm>
          <a:prstGeom prst="ellipse">
            <a:avLst/>
          </a:prstGeom>
          <a:solidFill>
            <a:srgbClr val="1F2A37"/>
          </a:solidFill>
          <a:ln w="6350">
            <a:solidFill>
              <a:srgbClr val="1F2A37"/>
            </a:solidFill>
            <a:prstDash val="solid"/>
          </a:ln>
        </p:spPr>
      </p:sp>
      <p:sp>
        <p:nvSpPr>
          <p:cNvPr id="21" name="Shape 19"/>
          <p:cNvSpPr/>
          <p:nvPr/>
        </p:nvSpPr>
        <p:spPr>
          <a:xfrm>
            <a:off x="10521583" y="2637244"/>
            <a:ext cx="42471" cy="42471"/>
          </a:xfrm>
          <a:prstGeom prst="ellipse">
            <a:avLst/>
          </a:prstGeom>
          <a:solidFill>
            <a:srgbClr val="1F2A37"/>
          </a:solidFill>
          <a:ln w="6350">
            <a:solidFill>
              <a:srgbClr val="1F2A37"/>
            </a:solidFill>
            <a:prstDash val="solid"/>
          </a:ln>
        </p:spPr>
      </p:sp>
      <p:sp>
        <p:nvSpPr>
          <p:cNvPr id="22" name="Shape 20"/>
          <p:cNvSpPr/>
          <p:nvPr/>
        </p:nvSpPr>
        <p:spPr>
          <a:xfrm>
            <a:off x="10621515" y="2637244"/>
            <a:ext cx="42471" cy="42471"/>
          </a:xfrm>
          <a:prstGeom prst="ellipse">
            <a:avLst/>
          </a:prstGeom>
          <a:solidFill>
            <a:srgbClr val="1F2A37"/>
          </a:solidFill>
          <a:ln w="6350">
            <a:solidFill>
              <a:srgbClr val="1F2A37"/>
            </a:solidFill>
            <a:prstDash val="solid"/>
          </a:ln>
        </p:spPr>
      </p:sp>
      <p:sp>
        <p:nvSpPr>
          <p:cNvPr id="23" name="Shape 21"/>
          <p:cNvSpPr/>
          <p:nvPr/>
        </p:nvSpPr>
        <p:spPr>
          <a:xfrm>
            <a:off x="10721447" y="2637244"/>
            <a:ext cx="42471" cy="42471"/>
          </a:xfrm>
          <a:prstGeom prst="ellipse">
            <a:avLst/>
          </a:prstGeom>
          <a:solidFill>
            <a:srgbClr val="1F2A37"/>
          </a:solidFill>
          <a:ln w="6350">
            <a:solidFill>
              <a:srgbClr val="1F2A37"/>
            </a:solidFill>
            <a:prstDash val="solid"/>
          </a:ln>
        </p:spPr>
      </p:sp>
      <p:pic>
        <p:nvPicPr>
          <p:cNvPr id="24" name="Image 0" descr="/liziqing/yukai/AI4AI4Cell/paradigm_figure_icons/db_big_blue.png"/>
          <p:cNvPicPr>
            <a:picLocks noChangeAspect="1"/>
          </p:cNvPicPr>
          <p:nvPr/>
        </p:nvPicPr>
        <p:blipFill>
          <a:blip r:embed="rId3"/>
          <a:stretch>
            <a:fillRect/>
          </a:stretch>
        </p:blipFill>
        <p:spPr>
          <a:xfrm>
            <a:off x="385947" y="2982352"/>
            <a:ext cx="1028819" cy="880650"/>
          </a:xfrm>
          <a:prstGeom prst="rect">
            <a:avLst/>
          </a:prstGeom>
        </p:spPr>
      </p:pic>
      <p:pic>
        <p:nvPicPr>
          <p:cNvPr id="27" name="Image 3" descr="/liziqing/yukai/AI4AI4Cell/paradigm_figure_icons/lab_1_B.png"/>
          <p:cNvPicPr>
            <a:picLocks noChangeAspect="1"/>
          </p:cNvPicPr>
          <p:nvPr/>
        </p:nvPicPr>
        <p:blipFill>
          <a:blip r:embed="rId4"/>
          <a:stretch>
            <a:fillRect/>
          </a:stretch>
        </p:blipFill>
        <p:spPr>
          <a:xfrm>
            <a:off x="4366506" y="1201363"/>
            <a:ext cx="618329" cy="587100"/>
          </a:xfrm>
          <a:prstGeom prst="rect">
            <a:avLst/>
          </a:prstGeom>
        </p:spPr>
      </p:pic>
      <p:pic>
        <p:nvPicPr>
          <p:cNvPr id="28" name="Image 4" descr="/liziqing/yukai/AI4AI4Cell/paradigm_figure_icons/lab_2_B.png"/>
          <p:cNvPicPr>
            <a:picLocks noChangeAspect="1"/>
          </p:cNvPicPr>
          <p:nvPr/>
        </p:nvPicPr>
        <p:blipFill>
          <a:blip r:embed="rId5"/>
          <a:stretch>
            <a:fillRect/>
          </a:stretch>
        </p:blipFill>
        <p:spPr>
          <a:xfrm>
            <a:off x="5653129" y="1207609"/>
            <a:ext cx="618329" cy="574609"/>
          </a:xfrm>
          <a:prstGeom prst="rect">
            <a:avLst/>
          </a:prstGeom>
        </p:spPr>
      </p:pic>
      <p:pic>
        <p:nvPicPr>
          <p:cNvPr id="29" name="Image 5" descr="/liziqing/yukai/AI4AI4Cell/paradigm_figure_icons/lab_K_B.png"/>
          <p:cNvPicPr>
            <a:picLocks noChangeAspect="1"/>
          </p:cNvPicPr>
          <p:nvPr/>
        </p:nvPicPr>
        <p:blipFill>
          <a:blip r:embed="rId6"/>
          <a:stretch>
            <a:fillRect/>
          </a:stretch>
        </p:blipFill>
        <p:spPr>
          <a:xfrm>
            <a:off x="7314498" y="1207609"/>
            <a:ext cx="624575" cy="580854"/>
          </a:xfrm>
          <a:prstGeom prst="rect">
            <a:avLst/>
          </a:prstGeom>
        </p:spPr>
      </p:pic>
      <p:pic>
        <p:nvPicPr>
          <p:cNvPr id="30" name="Image 6" descr="/liziqing/yukai/AI4AI4Cell/paradigm_figure_icons/db_1_B.png"/>
          <p:cNvPicPr>
            <a:picLocks noChangeAspect="1"/>
          </p:cNvPicPr>
          <p:nvPr/>
        </p:nvPicPr>
        <p:blipFill>
          <a:blip r:embed="rId7"/>
          <a:stretch>
            <a:fillRect/>
          </a:stretch>
        </p:blipFill>
        <p:spPr>
          <a:xfrm>
            <a:off x="4460192" y="2131979"/>
            <a:ext cx="405973" cy="468431"/>
          </a:xfrm>
          <a:prstGeom prst="rect">
            <a:avLst/>
          </a:prstGeom>
        </p:spPr>
      </p:pic>
      <p:pic>
        <p:nvPicPr>
          <p:cNvPr id="31" name="Image 7" descr="/liziqing/yukai/AI4AI4Cell/paradigm_figure_icons/db_2_B.png"/>
          <p:cNvPicPr>
            <a:picLocks noChangeAspect="1"/>
          </p:cNvPicPr>
          <p:nvPr/>
        </p:nvPicPr>
        <p:blipFill>
          <a:blip r:embed="rId8"/>
          <a:stretch>
            <a:fillRect/>
          </a:stretch>
        </p:blipFill>
        <p:spPr>
          <a:xfrm>
            <a:off x="5721833" y="2138225"/>
            <a:ext cx="399728" cy="468431"/>
          </a:xfrm>
          <a:prstGeom prst="rect">
            <a:avLst/>
          </a:prstGeom>
        </p:spPr>
      </p:pic>
      <p:pic>
        <p:nvPicPr>
          <p:cNvPr id="32" name="Image 8" descr="/liziqing/yukai/AI4AI4Cell/paradigm_figure_icons/db_K_B.png"/>
          <p:cNvPicPr>
            <a:picLocks noChangeAspect="1"/>
          </p:cNvPicPr>
          <p:nvPr/>
        </p:nvPicPr>
        <p:blipFill>
          <a:blip r:embed="rId9"/>
          <a:stretch>
            <a:fillRect/>
          </a:stretch>
        </p:blipFill>
        <p:spPr>
          <a:xfrm>
            <a:off x="7408184" y="2131979"/>
            <a:ext cx="399728" cy="468431"/>
          </a:xfrm>
          <a:prstGeom prst="rect">
            <a:avLst/>
          </a:prstGeom>
        </p:spPr>
      </p:pic>
      <p:pic>
        <p:nvPicPr>
          <p:cNvPr id="35" name="Image 11" descr="/liziqing/yukai/AI4AI4Cell/paradigm_figure_icons/lab_1_C.png"/>
          <p:cNvPicPr>
            <a:picLocks noChangeAspect="1"/>
          </p:cNvPicPr>
          <p:nvPr/>
        </p:nvPicPr>
        <p:blipFill>
          <a:blip r:embed="rId10"/>
          <a:stretch>
            <a:fillRect/>
          </a:stretch>
        </p:blipFill>
        <p:spPr>
          <a:xfrm>
            <a:off x="8456739" y="2308717"/>
            <a:ext cx="593346" cy="512151"/>
          </a:xfrm>
          <a:prstGeom prst="rect">
            <a:avLst/>
          </a:prstGeom>
        </p:spPr>
      </p:pic>
      <p:pic>
        <p:nvPicPr>
          <p:cNvPr id="36" name="Image 12" descr="/liziqing/yukai/AI4AI4Cell/paradigm_figure_icons/lab_2_C.png"/>
          <p:cNvPicPr>
            <a:picLocks noChangeAspect="1"/>
          </p:cNvPicPr>
          <p:nvPr/>
        </p:nvPicPr>
        <p:blipFill>
          <a:blip r:embed="rId11"/>
          <a:stretch>
            <a:fillRect/>
          </a:stretch>
        </p:blipFill>
        <p:spPr>
          <a:xfrm>
            <a:off x="9624694" y="2308717"/>
            <a:ext cx="587100" cy="512151"/>
          </a:xfrm>
          <a:prstGeom prst="rect">
            <a:avLst/>
          </a:prstGeom>
        </p:spPr>
      </p:pic>
      <p:pic>
        <p:nvPicPr>
          <p:cNvPr id="37" name="Image 13" descr="/liziqing/yukai/AI4AI4Cell/paradigm_figure_icons/lab_K_C.png"/>
          <p:cNvPicPr>
            <a:picLocks noChangeAspect="1"/>
          </p:cNvPicPr>
          <p:nvPr/>
        </p:nvPicPr>
        <p:blipFill>
          <a:blip r:embed="rId12"/>
          <a:stretch>
            <a:fillRect/>
          </a:stretch>
        </p:blipFill>
        <p:spPr>
          <a:xfrm>
            <a:off x="11148656" y="2308717"/>
            <a:ext cx="599592" cy="512151"/>
          </a:xfrm>
          <a:prstGeom prst="rect">
            <a:avLst/>
          </a:prstGeom>
        </p:spPr>
      </p:pic>
      <p:pic>
        <p:nvPicPr>
          <p:cNvPr id="38" name="Image 14" descr="/liziqing/yukai/AI4AI4Cell/paradigm_figure_icons/db_1_C.png"/>
          <p:cNvPicPr>
            <a:picLocks noChangeAspect="1"/>
          </p:cNvPicPr>
          <p:nvPr/>
        </p:nvPicPr>
        <p:blipFill>
          <a:blip r:embed="rId13"/>
          <a:stretch>
            <a:fillRect/>
          </a:stretch>
        </p:blipFill>
        <p:spPr>
          <a:xfrm>
            <a:off x="8343336" y="2630498"/>
            <a:ext cx="206490" cy="216814"/>
          </a:xfrm>
          <a:prstGeom prst="rect">
            <a:avLst/>
          </a:prstGeom>
        </p:spPr>
      </p:pic>
      <p:pic>
        <p:nvPicPr>
          <p:cNvPr id="39" name="Image 15" descr="/liziqing/yukai/AI4AI4Cell/paradigm_figure_icons/db_2_C.png"/>
          <p:cNvPicPr>
            <a:picLocks noChangeAspect="1"/>
          </p:cNvPicPr>
          <p:nvPr/>
        </p:nvPicPr>
        <p:blipFill>
          <a:blip r:embed="rId14"/>
          <a:stretch>
            <a:fillRect/>
          </a:stretch>
        </p:blipFill>
        <p:spPr>
          <a:xfrm>
            <a:off x="9512332" y="2637244"/>
            <a:ext cx="206490" cy="216814"/>
          </a:xfrm>
          <a:prstGeom prst="rect">
            <a:avLst/>
          </a:prstGeom>
        </p:spPr>
      </p:pic>
      <p:pic>
        <p:nvPicPr>
          <p:cNvPr id="40" name="Image 16" descr="/liziqing/yukai/AI4AI4Cell/paradigm_figure_icons/db_K_C.png"/>
          <p:cNvPicPr>
            <a:picLocks noChangeAspect="1"/>
          </p:cNvPicPr>
          <p:nvPr/>
        </p:nvPicPr>
        <p:blipFill>
          <a:blip r:embed="rId15"/>
          <a:stretch>
            <a:fillRect/>
          </a:stretch>
        </p:blipFill>
        <p:spPr>
          <a:xfrm>
            <a:off x="11048369" y="2633760"/>
            <a:ext cx="199993" cy="213552"/>
          </a:xfrm>
          <a:prstGeom prst="rect">
            <a:avLst/>
          </a:prstGeom>
        </p:spPr>
      </p:pic>
      <p:pic>
        <p:nvPicPr>
          <p:cNvPr id="41" name="Image 17" descr="/liziqing/yukai/AI4AI4Cell/paradigm_figure_icons/net_c.png"/>
          <p:cNvPicPr>
            <a:picLocks noChangeAspect="1"/>
          </p:cNvPicPr>
          <p:nvPr/>
        </p:nvPicPr>
        <p:blipFill>
          <a:blip r:embed="rId16"/>
          <a:stretch>
            <a:fillRect/>
          </a:stretch>
        </p:blipFill>
        <p:spPr>
          <a:xfrm>
            <a:off x="9411474" y="3704739"/>
            <a:ext cx="1124234" cy="986828"/>
          </a:xfrm>
          <a:prstGeom prst="rect">
            <a:avLst/>
          </a:prstGeom>
        </p:spPr>
      </p:pic>
      <p:sp>
        <p:nvSpPr>
          <p:cNvPr id="42" name="Text 22"/>
          <p:cNvSpPr txBox="1"/>
          <p:nvPr/>
        </p:nvSpPr>
        <p:spPr>
          <a:xfrm>
            <a:off x="206204" y="269131"/>
            <a:ext cx="427163" cy="361124"/>
          </a:xfrm>
          <a:prstGeom prst="rect">
            <a:avLst/>
          </a:prstGeom>
          <a:noFill/>
          <a:ln/>
        </p:spPr>
        <p:txBody>
          <a:bodyPr wrap="square" lIns="0" tIns="0" rIns="0" bIns="0" rtlCol="0" anchor="ctr"/>
          <a:lstStyle/>
          <a:p>
            <a:pPr marL="0" indent="0" algn="ctr">
              <a:lnSpc>
                <a:spcPct val="92000"/>
              </a:lnSpc>
              <a:buNone/>
            </a:pPr>
            <a:r>
              <a:rPr lang="en-US" sz="2350" b="1" dirty="0">
                <a:solidFill>
                  <a:srgbClr val="1F2A37"/>
                </a:solidFill>
                <a:latin typeface="Arial" pitchFamily="34" charset="0"/>
                <a:ea typeface="Arial" pitchFamily="34" charset="-122"/>
                <a:cs typeface="Arial" pitchFamily="34" charset="-120"/>
              </a:rPr>
              <a:t>(a)</a:t>
            </a:r>
            <a:endParaRPr lang="en-US" sz="2350" dirty="0"/>
          </a:p>
        </p:txBody>
      </p:sp>
      <p:sp>
        <p:nvSpPr>
          <p:cNvPr id="43" name="Text 23"/>
          <p:cNvSpPr txBox="1"/>
          <p:nvPr/>
        </p:nvSpPr>
        <p:spPr>
          <a:xfrm>
            <a:off x="670842" y="313323"/>
            <a:ext cx="2774263" cy="322707"/>
          </a:xfrm>
          <a:prstGeom prst="rect">
            <a:avLst/>
          </a:prstGeom>
          <a:noFill/>
          <a:ln/>
        </p:spPr>
        <p:txBody>
          <a:bodyPr wrap="square" lIns="0" tIns="0" rIns="0" bIns="0" rtlCol="0" anchor="ctr"/>
          <a:lstStyle/>
          <a:p>
            <a:pPr marL="0" indent="0" algn="ctr">
              <a:lnSpc>
                <a:spcPct val="92000"/>
              </a:lnSpc>
              <a:buNone/>
            </a:pPr>
            <a:r>
              <a:rPr lang="en-US" sz="2100" b="1" dirty="0">
                <a:solidFill>
                  <a:srgbClr val="1F2A37"/>
                </a:solidFill>
                <a:latin typeface="Arial" pitchFamily="34" charset="0"/>
                <a:ea typeface="Arial" pitchFamily="34" charset="-122"/>
                <a:cs typeface="Arial" pitchFamily="34" charset="-120"/>
              </a:rPr>
              <a:t>Centralized bio-agent</a:t>
            </a:r>
            <a:endParaRPr lang="en-US" sz="2100" dirty="0"/>
          </a:p>
        </p:txBody>
      </p:sp>
      <p:sp>
        <p:nvSpPr>
          <p:cNvPr id="44" name="Text 24"/>
          <p:cNvSpPr txBox="1"/>
          <p:nvPr/>
        </p:nvSpPr>
        <p:spPr>
          <a:xfrm>
            <a:off x="4369004" y="272513"/>
            <a:ext cx="443578" cy="361124"/>
          </a:xfrm>
          <a:prstGeom prst="rect">
            <a:avLst/>
          </a:prstGeom>
          <a:noFill/>
          <a:ln/>
        </p:spPr>
        <p:txBody>
          <a:bodyPr wrap="square" lIns="0" tIns="0" rIns="0" bIns="0" rtlCol="0" anchor="ctr"/>
          <a:lstStyle/>
          <a:p>
            <a:pPr marL="0" indent="0" algn="ctr">
              <a:lnSpc>
                <a:spcPct val="92000"/>
              </a:lnSpc>
              <a:buNone/>
            </a:pPr>
            <a:r>
              <a:rPr lang="en-US" sz="2350" b="1" dirty="0">
                <a:solidFill>
                  <a:srgbClr val="1F2A37"/>
                </a:solidFill>
                <a:latin typeface="Arial" pitchFamily="34" charset="0"/>
                <a:ea typeface="Arial" pitchFamily="34" charset="-122"/>
                <a:cs typeface="Arial" pitchFamily="34" charset="-120"/>
              </a:rPr>
              <a:t>(b)</a:t>
            </a:r>
            <a:endParaRPr lang="en-US" sz="2350" dirty="0"/>
          </a:p>
        </p:txBody>
      </p:sp>
      <p:sp>
        <p:nvSpPr>
          <p:cNvPr id="45" name="Text 25"/>
          <p:cNvSpPr txBox="1"/>
          <p:nvPr/>
        </p:nvSpPr>
        <p:spPr>
          <a:xfrm>
            <a:off x="4818696" y="313323"/>
            <a:ext cx="2804133" cy="322707"/>
          </a:xfrm>
          <a:prstGeom prst="rect">
            <a:avLst/>
          </a:prstGeom>
          <a:noFill/>
          <a:ln/>
        </p:spPr>
        <p:txBody>
          <a:bodyPr wrap="square" lIns="0" tIns="0" rIns="0" bIns="0" rtlCol="0" anchor="ctr"/>
          <a:lstStyle/>
          <a:p>
            <a:pPr marL="0" indent="0" algn="ctr">
              <a:lnSpc>
                <a:spcPct val="92000"/>
              </a:lnSpc>
              <a:buNone/>
            </a:pPr>
            <a:r>
              <a:rPr lang="en-US" sz="2100" b="1" dirty="0">
                <a:solidFill>
                  <a:srgbClr val="1F2A37"/>
                </a:solidFill>
                <a:latin typeface="Arial" pitchFamily="34" charset="0"/>
                <a:ea typeface="Arial" pitchFamily="34" charset="-122"/>
                <a:cs typeface="Arial" pitchFamily="34" charset="-120"/>
              </a:rPr>
              <a:t>Collaborative training</a:t>
            </a:r>
            <a:endParaRPr lang="en-US" sz="2100" dirty="0"/>
          </a:p>
        </p:txBody>
      </p:sp>
      <p:sp>
        <p:nvSpPr>
          <p:cNvPr id="46" name="Text 26"/>
          <p:cNvSpPr txBox="1"/>
          <p:nvPr/>
        </p:nvSpPr>
        <p:spPr>
          <a:xfrm>
            <a:off x="8525443" y="269131"/>
            <a:ext cx="427163" cy="361124"/>
          </a:xfrm>
          <a:prstGeom prst="rect">
            <a:avLst/>
          </a:prstGeom>
          <a:noFill/>
          <a:ln/>
        </p:spPr>
        <p:txBody>
          <a:bodyPr wrap="square" lIns="0" tIns="0" rIns="0" bIns="0" rtlCol="0" anchor="ctr"/>
          <a:lstStyle/>
          <a:p>
            <a:pPr marL="0" indent="0" algn="ctr">
              <a:lnSpc>
                <a:spcPct val="92000"/>
              </a:lnSpc>
              <a:buNone/>
            </a:pPr>
            <a:r>
              <a:rPr lang="en-US" sz="2350" b="1" dirty="0">
                <a:solidFill>
                  <a:srgbClr val="1F2A37"/>
                </a:solidFill>
                <a:latin typeface="Arial" pitchFamily="34" charset="0"/>
                <a:ea typeface="Arial" pitchFamily="34" charset="-122"/>
                <a:cs typeface="Arial" pitchFamily="34" charset="-120"/>
              </a:rPr>
              <a:t>(c)</a:t>
            </a:r>
            <a:endParaRPr lang="en-US" sz="2350" dirty="0"/>
          </a:p>
        </p:txBody>
      </p:sp>
      <p:sp>
        <p:nvSpPr>
          <p:cNvPr id="47" name="Text 27"/>
          <p:cNvSpPr txBox="1"/>
          <p:nvPr/>
        </p:nvSpPr>
        <p:spPr>
          <a:xfrm>
            <a:off x="8971784" y="313323"/>
            <a:ext cx="1499437" cy="322707"/>
          </a:xfrm>
          <a:prstGeom prst="rect">
            <a:avLst/>
          </a:prstGeom>
          <a:noFill/>
          <a:ln/>
        </p:spPr>
        <p:txBody>
          <a:bodyPr wrap="square" lIns="0" tIns="0" rIns="0" bIns="0" rtlCol="0" anchor="ctr"/>
          <a:lstStyle/>
          <a:p>
            <a:pPr marL="0" indent="0" algn="ctr">
              <a:lnSpc>
                <a:spcPct val="92000"/>
              </a:lnSpc>
              <a:buNone/>
            </a:pPr>
            <a:r>
              <a:rPr lang="en-US" sz="2100" b="1" dirty="0">
                <a:solidFill>
                  <a:srgbClr val="1F2A37"/>
                </a:solidFill>
                <a:latin typeface="Arial" pitchFamily="34" charset="0"/>
                <a:ea typeface="Arial" pitchFamily="34" charset="-122"/>
                <a:cs typeface="Arial" pitchFamily="34" charset="-120"/>
              </a:rPr>
              <a:t>BioCoLoop</a:t>
            </a:r>
            <a:endParaRPr lang="en-US" sz="2100" dirty="0"/>
          </a:p>
        </p:txBody>
      </p:sp>
      <p:sp>
        <p:nvSpPr>
          <p:cNvPr id="48" name="Text 28"/>
          <p:cNvSpPr txBox="1"/>
          <p:nvPr/>
        </p:nvSpPr>
        <p:spPr>
          <a:xfrm>
            <a:off x="-175142" y="3810215"/>
            <a:ext cx="2244556" cy="414909"/>
          </a:xfrm>
          <a:prstGeom prst="rect">
            <a:avLst/>
          </a:prstGeom>
          <a:noFill/>
          <a:ln/>
        </p:spPr>
        <p:txBody>
          <a:bodyPr wrap="square" lIns="0" tIns="0" rIns="0" bIns="0" rtlCol="0" anchor="ctr"/>
          <a:lstStyle/>
          <a:p>
            <a:pPr marL="0" indent="0" algn="ctr">
              <a:lnSpc>
                <a:spcPct val="92000"/>
              </a:lnSpc>
              <a:buNone/>
            </a:pPr>
            <a:r>
              <a:rPr lang="en-US" sz="1600">
                <a:solidFill>
                  <a:srgbClr val="2B3644"/>
                </a:solidFill>
                <a:latin typeface="Arial" pitchFamily="34" charset="0"/>
                <a:ea typeface="Arial" pitchFamily="34" charset="-122"/>
                <a:cs typeface="Arial" pitchFamily="34" charset="-120"/>
              </a:rPr>
              <a:t>Accessible dataset</a:t>
            </a:r>
            <a:endParaRPr lang="en-US" sz="1600" dirty="0"/>
          </a:p>
        </p:txBody>
      </p:sp>
      <p:sp>
        <p:nvSpPr>
          <p:cNvPr id="55" name="Text 35"/>
          <p:cNvSpPr txBox="1"/>
          <p:nvPr/>
        </p:nvSpPr>
        <p:spPr>
          <a:xfrm>
            <a:off x="4433354" y="1861054"/>
            <a:ext cx="459650" cy="192087"/>
          </a:xfrm>
          <a:prstGeom prst="rect">
            <a:avLst/>
          </a:prstGeom>
          <a:noFill/>
          <a:ln/>
        </p:spPr>
        <p:txBody>
          <a:bodyPr wrap="square" lIns="0" tIns="0" rIns="0" bIns="0" rtlCol="0" anchor="ctr"/>
          <a:lstStyle/>
          <a:p>
            <a:pPr marL="0" indent="0" algn="ctr">
              <a:lnSpc>
                <a:spcPct val="92000"/>
              </a:lnSpc>
              <a:buNone/>
            </a:pPr>
            <a:r>
              <a:rPr lang="en-US" sz="1250" dirty="0">
                <a:solidFill>
                  <a:srgbClr val="2B3644"/>
                </a:solidFill>
                <a:latin typeface="Arial" pitchFamily="34" charset="0"/>
                <a:ea typeface="Arial" pitchFamily="34" charset="-122"/>
                <a:cs typeface="Arial" pitchFamily="34" charset="-120"/>
              </a:rPr>
              <a:t>Lab 1</a:t>
            </a:r>
            <a:endParaRPr lang="en-US" sz="1250" dirty="0"/>
          </a:p>
        </p:txBody>
      </p:sp>
      <p:sp>
        <p:nvSpPr>
          <p:cNvPr id="56" name="Text 36"/>
          <p:cNvSpPr txBox="1"/>
          <p:nvPr/>
        </p:nvSpPr>
        <p:spPr>
          <a:xfrm>
            <a:off x="5694994" y="1861054"/>
            <a:ext cx="459650" cy="192087"/>
          </a:xfrm>
          <a:prstGeom prst="rect">
            <a:avLst/>
          </a:prstGeom>
          <a:noFill/>
          <a:ln/>
        </p:spPr>
        <p:txBody>
          <a:bodyPr wrap="square" lIns="0" tIns="0" rIns="0" bIns="0" rtlCol="0" anchor="ctr"/>
          <a:lstStyle/>
          <a:p>
            <a:pPr marL="0" indent="0" algn="ctr">
              <a:lnSpc>
                <a:spcPct val="92000"/>
              </a:lnSpc>
              <a:buNone/>
            </a:pPr>
            <a:r>
              <a:rPr lang="en-US" sz="1250" dirty="0">
                <a:solidFill>
                  <a:srgbClr val="2B3644"/>
                </a:solidFill>
                <a:latin typeface="Arial" pitchFamily="34" charset="0"/>
                <a:ea typeface="Arial" pitchFamily="34" charset="-122"/>
                <a:cs typeface="Arial" pitchFamily="34" charset="-120"/>
              </a:rPr>
              <a:t>Lab 2</a:t>
            </a:r>
            <a:endParaRPr lang="en-US" sz="1250" dirty="0"/>
          </a:p>
        </p:txBody>
      </p:sp>
      <p:sp>
        <p:nvSpPr>
          <p:cNvPr id="57" name="Text 37"/>
          <p:cNvSpPr txBox="1"/>
          <p:nvPr/>
        </p:nvSpPr>
        <p:spPr>
          <a:xfrm>
            <a:off x="7372535" y="1861054"/>
            <a:ext cx="477271" cy="192087"/>
          </a:xfrm>
          <a:prstGeom prst="rect">
            <a:avLst/>
          </a:prstGeom>
          <a:noFill/>
          <a:ln/>
        </p:spPr>
        <p:txBody>
          <a:bodyPr wrap="square" lIns="0" tIns="0" rIns="0" bIns="0" rtlCol="0" anchor="ctr"/>
          <a:lstStyle/>
          <a:p>
            <a:pPr marL="0" indent="0" algn="ctr">
              <a:lnSpc>
                <a:spcPct val="92000"/>
              </a:lnSpc>
              <a:buNone/>
            </a:pPr>
            <a:r>
              <a:rPr lang="en-US" sz="1250" dirty="0">
                <a:solidFill>
                  <a:srgbClr val="2B3644"/>
                </a:solidFill>
                <a:latin typeface="Arial" pitchFamily="34" charset="0"/>
                <a:ea typeface="Arial" pitchFamily="34" charset="-122"/>
                <a:cs typeface="Arial" pitchFamily="34" charset="-120"/>
              </a:rPr>
              <a:t>Lab K</a:t>
            </a:r>
            <a:endParaRPr lang="en-US" sz="1250" dirty="0"/>
          </a:p>
        </p:txBody>
      </p:sp>
      <p:sp>
        <p:nvSpPr>
          <p:cNvPr id="58" name="Text 38"/>
          <p:cNvSpPr txBox="1"/>
          <p:nvPr/>
        </p:nvSpPr>
        <p:spPr>
          <a:xfrm>
            <a:off x="4460192" y="2849688"/>
            <a:ext cx="826867" cy="384175"/>
          </a:xfrm>
          <a:prstGeom prst="rect">
            <a:avLst/>
          </a:prstGeom>
          <a:noFill/>
          <a:ln/>
        </p:spPr>
        <p:txBody>
          <a:bodyPr wrap="square" lIns="0" tIns="0" rIns="0" bIns="0" rtlCol="0" anchor="ctr"/>
          <a:lstStyle>
            <a:lvl1pPr indent="0" algn="ctr">
              <a:lnSpc>
                <a:spcPct val="92000"/>
              </a:lnSpc>
              <a:buNone/>
              <a:defRPr sz="1100">
                <a:solidFill>
                  <a:srgbClr val="4472C4"/>
                </a:solidFill>
                <a:latin typeface="Arial" pitchFamily="34" charset="0"/>
                <a:ea typeface="Arial" pitchFamily="34" charset="-122"/>
                <a:cs typeface="Arial" pitchFamily="34" charset="-120"/>
              </a:defRPr>
            </a:lvl1pPr>
          </a:lstStyle>
          <a:p>
            <a:r>
              <a:rPr lang="en-US" sz="1200"/>
              <a:t>Local</a:t>
            </a:r>
            <a:endParaRPr lang="en-US" sz="1200" dirty="0"/>
          </a:p>
          <a:p>
            <a:r>
              <a:rPr lang="en-US" sz="1200"/>
              <a:t>update</a:t>
            </a:r>
            <a:endParaRPr lang="en-US" sz="1200" dirty="0"/>
          </a:p>
        </p:txBody>
      </p:sp>
      <p:sp>
        <p:nvSpPr>
          <p:cNvPr id="62" name="Text 42"/>
          <p:cNvSpPr txBox="1"/>
          <p:nvPr/>
        </p:nvSpPr>
        <p:spPr>
          <a:xfrm>
            <a:off x="4961490" y="4238846"/>
            <a:ext cx="1968296" cy="207455"/>
          </a:xfrm>
          <a:prstGeom prst="rect">
            <a:avLst/>
          </a:prstGeom>
          <a:noFill/>
          <a:ln/>
        </p:spPr>
        <p:txBody>
          <a:bodyPr wrap="square" lIns="0" tIns="0" rIns="0" bIns="0" rtlCol="0" anchor="ctr"/>
          <a:lstStyle/>
          <a:p>
            <a:pPr marL="0" indent="0" algn="ctr">
              <a:lnSpc>
                <a:spcPct val="92000"/>
              </a:lnSpc>
              <a:buNone/>
            </a:pPr>
            <a:r>
              <a:rPr lang="en-US" sz="1350" dirty="0">
                <a:solidFill>
                  <a:srgbClr val="6E7B87"/>
                </a:solidFill>
                <a:latin typeface="Arial" pitchFamily="34" charset="0"/>
                <a:ea typeface="Arial" pitchFamily="34" charset="-122"/>
                <a:cs typeface="Arial" pitchFamily="34" charset="-120"/>
              </a:rPr>
              <a:t>(design fixed in advance)</a:t>
            </a:r>
            <a:endParaRPr lang="en-US" sz="1350" dirty="0"/>
          </a:p>
        </p:txBody>
      </p:sp>
      <p:sp>
        <p:nvSpPr>
          <p:cNvPr id="64" name="Text 44"/>
          <p:cNvSpPr txBox="1"/>
          <p:nvPr/>
        </p:nvSpPr>
        <p:spPr>
          <a:xfrm>
            <a:off x="10683387" y="963363"/>
            <a:ext cx="1268270" cy="338074"/>
          </a:xfrm>
          <a:prstGeom prst="rect">
            <a:avLst/>
          </a:prstGeom>
          <a:noFill/>
          <a:ln/>
        </p:spPr>
        <p:txBody>
          <a:bodyPr wrap="square" lIns="0" tIns="0" rIns="0" bIns="0" rtlCol="0" anchor="ctr"/>
          <a:lstStyle/>
          <a:p>
            <a:pPr marL="0" indent="0" algn="ctr">
              <a:lnSpc>
                <a:spcPct val="92000"/>
              </a:lnSpc>
              <a:buNone/>
            </a:pPr>
            <a:r>
              <a:rPr lang="en-US" sz="1400">
                <a:solidFill>
                  <a:srgbClr val="3F8F5C"/>
                </a:solidFill>
                <a:latin typeface="Arial" pitchFamily="34" charset="0"/>
                <a:ea typeface="Arial" pitchFamily="34" charset="-122"/>
                <a:cs typeface="Arial" pitchFamily="34" charset="-120"/>
              </a:rPr>
              <a:t>Design revision</a:t>
            </a:r>
            <a:endParaRPr lang="en-US" sz="1400" dirty="0">
              <a:solidFill>
                <a:srgbClr val="3F8F5C"/>
              </a:solidFill>
            </a:endParaRPr>
          </a:p>
        </p:txBody>
      </p:sp>
      <p:sp>
        <p:nvSpPr>
          <p:cNvPr id="67" name="Text 47"/>
          <p:cNvSpPr txBox="1"/>
          <p:nvPr/>
        </p:nvSpPr>
        <p:spPr>
          <a:xfrm>
            <a:off x="8531805" y="2873756"/>
            <a:ext cx="411987" cy="169037"/>
          </a:xfrm>
          <a:prstGeom prst="rect">
            <a:avLst/>
          </a:prstGeom>
          <a:noFill/>
          <a:ln/>
        </p:spPr>
        <p:txBody>
          <a:bodyPr wrap="square" lIns="0" tIns="0" rIns="0" bIns="0" rtlCol="0" anchor="ctr"/>
          <a:lstStyle/>
          <a:p>
            <a:pPr marL="0" indent="0" algn="ctr">
              <a:lnSpc>
                <a:spcPct val="92000"/>
              </a:lnSpc>
              <a:buNone/>
            </a:pPr>
            <a:r>
              <a:rPr lang="en-US" sz="1100" dirty="0">
                <a:solidFill>
                  <a:srgbClr val="2B3644"/>
                </a:solidFill>
                <a:latin typeface="Arial" pitchFamily="34" charset="0"/>
                <a:ea typeface="Arial" pitchFamily="34" charset="-122"/>
                <a:cs typeface="Arial" pitchFamily="34" charset="-120"/>
              </a:rPr>
              <a:t>Lab 1</a:t>
            </a:r>
            <a:endParaRPr lang="en-US" sz="1100" dirty="0"/>
          </a:p>
        </p:txBody>
      </p:sp>
      <p:sp>
        <p:nvSpPr>
          <p:cNvPr id="68" name="Text 48"/>
          <p:cNvSpPr txBox="1"/>
          <p:nvPr/>
        </p:nvSpPr>
        <p:spPr>
          <a:xfrm>
            <a:off x="9684145" y="2873756"/>
            <a:ext cx="411987" cy="169037"/>
          </a:xfrm>
          <a:prstGeom prst="rect">
            <a:avLst/>
          </a:prstGeom>
          <a:noFill/>
          <a:ln/>
        </p:spPr>
        <p:txBody>
          <a:bodyPr wrap="square" lIns="0" tIns="0" rIns="0" bIns="0" rtlCol="0" anchor="ctr"/>
          <a:lstStyle/>
          <a:p>
            <a:pPr marL="0" indent="0" algn="ctr">
              <a:lnSpc>
                <a:spcPct val="92000"/>
              </a:lnSpc>
              <a:buNone/>
            </a:pPr>
            <a:r>
              <a:rPr lang="en-US" sz="1100" dirty="0">
                <a:solidFill>
                  <a:srgbClr val="2B3644"/>
                </a:solidFill>
                <a:latin typeface="Arial" pitchFamily="34" charset="0"/>
                <a:ea typeface="Arial" pitchFamily="34" charset="-122"/>
                <a:cs typeface="Arial" pitchFamily="34" charset="-120"/>
              </a:rPr>
              <a:t>Lab 2</a:t>
            </a:r>
            <a:endParaRPr lang="en-US" sz="1100" dirty="0"/>
          </a:p>
        </p:txBody>
      </p:sp>
      <p:sp>
        <p:nvSpPr>
          <p:cNvPr id="69" name="Text 49"/>
          <p:cNvSpPr txBox="1"/>
          <p:nvPr/>
        </p:nvSpPr>
        <p:spPr>
          <a:xfrm>
            <a:off x="11212845" y="2873756"/>
            <a:ext cx="427494" cy="169037"/>
          </a:xfrm>
          <a:prstGeom prst="rect">
            <a:avLst/>
          </a:prstGeom>
          <a:noFill/>
          <a:ln/>
        </p:spPr>
        <p:txBody>
          <a:bodyPr wrap="square" lIns="0" tIns="0" rIns="0" bIns="0" rtlCol="0" anchor="ctr"/>
          <a:lstStyle/>
          <a:p>
            <a:pPr marL="0" indent="0" algn="ctr">
              <a:lnSpc>
                <a:spcPct val="92000"/>
              </a:lnSpc>
              <a:buNone/>
            </a:pPr>
            <a:r>
              <a:rPr lang="en-US" sz="1100" dirty="0">
                <a:solidFill>
                  <a:srgbClr val="2B3644"/>
                </a:solidFill>
                <a:latin typeface="Arial" pitchFamily="34" charset="0"/>
                <a:ea typeface="Arial" pitchFamily="34" charset="-122"/>
                <a:cs typeface="Arial" pitchFamily="34" charset="-120"/>
              </a:rPr>
              <a:t>Lab K</a:t>
            </a:r>
            <a:endParaRPr lang="en-US" sz="1100" dirty="0"/>
          </a:p>
        </p:txBody>
      </p:sp>
      <p:sp>
        <p:nvSpPr>
          <p:cNvPr id="73" name="Text 53"/>
          <p:cNvSpPr txBox="1"/>
          <p:nvPr/>
        </p:nvSpPr>
        <p:spPr>
          <a:xfrm>
            <a:off x="8708137" y="4712500"/>
            <a:ext cx="670735" cy="207455"/>
          </a:xfrm>
          <a:prstGeom prst="rect">
            <a:avLst/>
          </a:prstGeom>
          <a:noFill/>
          <a:ln/>
        </p:spPr>
        <p:txBody>
          <a:bodyPr wrap="square" lIns="0" tIns="0" rIns="0" bIns="0" rtlCol="0" anchor="ctr"/>
          <a:lstStyle/>
          <a:p>
            <a:pPr marL="0" indent="0" algn="ctr">
              <a:lnSpc>
                <a:spcPct val="92000"/>
              </a:lnSpc>
              <a:buNone/>
            </a:pPr>
            <a:r>
              <a:rPr lang="en-US" altLang="zh-CN" sz="1600">
                <a:solidFill>
                  <a:srgbClr val="2B3644"/>
                </a:solidFill>
                <a:latin typeface="Arial" pitchFamily="34" charset="0"/>
                <a:cs typeface="Arial" pitchFamily="34" charset="-120"/>
              </a:rPr>
              <a:t>Model</a:t>
            </a:r>
            <a:endParaRPr lang="en-US" altLang="zh-CN" sz="1600" dirty="0">
              <a:solidFill>
                <a:srgbClr val="2B3644"/>
              </a:solidFill>
              <a:latin typeface="Arial" pitchFamily="34" charset="0"/>
              <a:cs typeface="Arial" pitchFamily="34" charset="-120"/>
            </a:endParaRPr>
          </a:p>
        </p:txBody>
      </p:sp>
      <p:sp>
        <p:nvSpPr>
          <p:cNvPr id="74" name="Text 54"/>
          <p:cNvSpPr txBox="1"/>
          <p:nvPr/>
        </p:nvSpPr>
        <p:spPr>
          <a:xfrm>
            <a:off x="9381602" y="4715275"/>
            <a:ext cx="2549511" cy="207455"/>
          </a:xfrm>
          <a:prstGeom prst="rect">
            <a:avLst/>
          </a:prstGeom>
          <a:noFill/>
          <a:ln/>
        </p:spPr>
        <p:txBody>
          <a:bodyPr wrap="square" lIns="0" tIns="0" rIns="0" bIns="0" rtlCol="0" anchor="ctr"/>
          <a:lstStyle/>
          <a:p>
            <a:pPr marL="0" indent="0" algn="ctr">
              <a:lnSpc>
                <a:spcPct val="92000"/>
              </a:lnSpc>
              <a:buNone/>
            </a:pPr>
            <a:r>
              <a:rPr lang="en-US" sz="1350" dirty="0">
                <a:solidFill>
                  <a:srgbClr val="6E7B87"/>
                </a:solidFill>
                <a:latin typeface="Arial" pitchFamily="34" charset="0"/>
                <a:ea typeface="Arial" pitchFamily="34" charset="-122"/>
                <a:cs typeface="Arial" pitchFamily="34" charset="-120"/>
              </a:rPr>
              <a:t>(design revised between rounds)</a:t>
            </a:r>
            <a:endParaRPr lang="en-US" sz="1350" dirty="0"/>
          </a:p>
        </p:txBody>
      </p:sp>
      <p:sp>
        <p:nvSpPr>
          <p:cNvPr id="82" name="Shape 10">
            <a:extLst>
              <a:ext uri="{FF2B5EF4-FFF2-40B4-BE49-F238E27FC236}">
                <a16:creationId xmlns:a16="http://schemas.microsoft.com/office/drawing/2014/main" id="{49011C04-2809-474A-9B8C-B035C6B3D8EE}"/>
              </a:ext>
            </a:extLst>
          </p:cNvPr>
          <p:cNvSpPr/>
          <p:nvPr/>
        </p:nvSpPr>
        <p:spPr>
          <a:xfrm flipV="1">
            <a:off x="910729" y="2425360"/>
            <a:ext cx="1097904" cy="530650"/>
          </a:xfrm>
          <a:prstGeom prst="line">
            <a:avLst/>
          </a:prstGeom>
          <a:noFill/>
          <a:ln w="30480">
            <a:solidFill>
              <a:srgbClr val="3F8F5C"/>
            </a:solidFill>
            <a:prstDash val="solid"/>
            <a:headEnd type="none"/>
            <a:tailEnd type="triangle"/>
          </a:ln>
        </p:spPr>
      </p:sp>
      <p:sp>
        <p:nvSpPr>
          <p:cNvPr id="85" name="Shape 13">
            <a:extLst>
              <a:ext uri="{FF2B5EF4-FFF2-40B4-BE49-F238E27FC236}">
                <a16:creationId xmlns:a16="http://schemas.microsoft.com/office/drawing/2014/main" id="{A7FECB0A-A5F4-4844-BDE2-F8B3B052194F}"/>
              </a:ext>
            </a:extLst>
          </p:cNvPr>
          <p:cNvSpPr/>
          <p:nvPr/>
        </p:nvSpPr>
        <p:spPr>
          <a:xfrm>
            <a:off x="2410676" y="2425360"/>
            <a:ext cx="417658" cy="556992"/>
          </a:xfrm>
          <a:prstGeom prst="line">
            <a:avLst/>
          </a:prstGeom>
          <a:noFill/>
          <a:ln w="30480">
            <a:solidFill>
              <a:srgbClr val="3F8F5C"/>
            </a:solidFill>
            <a:prstDash val="solid"/>
            <a:headEnd type="none"/>
            <a:tailEnd type="triangle"/>
          </a:ln>
        </p:spPr>
      </p:sp>
      <p:pic>
        <p:nvPicPr>
          <p:cNvPr id="89" name="Image 10" descr="/liziqing/yukai/AI4AI4Cell/paradigm_figure_icons/loop_c.png">
            <a:extLst>
              <a:ext uri="{FF2B5EF4-FFF2-40B4-BE49-F238E27FC236}">
                <a16:creationId xmlns:a16="http://schemas.microsoft.com/office/drawing/2014/main" id="{D8A2A58A-70DA-4BD6-9878-5AF417DA36BD}"/>
              </a:ext>
            </a:extLst>
          </p:cNvPr>
          <p:cNvPicPr>
            <a:picLocks noChangeAspect="1"/>
          </p:cNvPicPr>
          <p:nvPr/>
        </p:nvPicPr>
        <p:blipFill>
          <a:blip r:embed="rId17"/>
          <a:stretch>
            <a:fillRect/>
          </a:stretch>
        </p:blipFill>
        <p:spPr>
          <a:xfrm>
            <a:off x="1681733" y="1484079"/>
            <a:ext cx="1089592" cy="861129"/>
          </a:xfrm>
          <a:prstGeom prst="rect">
            <a:avLst/>
          </a:prstGeom>
        </p:spPr>
      </p:pic>
      <p:pic>
        <p:nvPicPr>
          <p:cNvPr id="96" name="Image 17" descr="/liziqing/yukai/AI4AI4Cell/paradigm_figure_icons/net_c.png">
            <a:extLst>
              <a:ext uri="{FF2B5EF4-FFF2-40B4-BE49-F238E27FC236}">
                <a16:creationId xmlns:a16="http://schemas.microsoft.com/office/drawing/2014/main" id="{9F28F0CF-6AC8-4164-BBAD-AFF35D0A2B84}"/>
              </a:ext>
            </a:extLst>
          </p:cNvPr>
          <p:cNvPicPr>
            <a:picLocks noChangeAspect="1"/>
          </p:cNvPicPr>
          <p:nvPr/>
        </p:nvPicPr>
        <p:blipFill>
          <a:blip r:embed="rId16"/>
          <a:stretch>
            <a:fillRect/>
          </a:stretch>
        </p:blipFill>
        <p:spPr>
          <a:xfrm>
            <a:off x="2666750" y="2973650"/>
            <a:ext cx="1028819" cy="903075"/>
          </a:xfrm>
          <a:prstGeom prst="rect">
            <a:avLst/>
          </a:prstGeom>
        </p:spPr>
      </p:pic>
      <p:sp>
        <p:nvSpPr>
          <p:cNvPr id="97" name="Text 43">
            <a:extLst>
              <a:ext uri="{FF2B5EF4-FFF2-40B4-BE49-F238E27FC236}">
                <a16:creationId xmlns:a16="http://schemas.microsoft.com/office/drawing/2014/main" id="{DA964F40-5814-4C93-8838-6A42BBCD8B8E}"/>
              </a:ext>
            </a:extLst>
          </p:cNvPr>
          <p:cNvSpPr txBox="1"/>
          <p:nvPr/>
        </p:nvSpPr>
        <p:spPr>
          <a:xfrm>
            <a:off x="1047976" y="1216703"/>
            <a:ext cx="2167835" cy="234031"/>
          </a:xfrm>
          <a:prstGeom prst="rect">
            <a:avLst/>
          </a:prstGeom>
          <a:noFill/>
          <a:ln/>
        </p:spPr>
        <p:txBody>
          <a:bodyPr wrap="square" lIns="0" tIns="0" rIns="0" bIns="0" rtlCol="0" anchor="ctr"/>
          <a:lstStyle/>
          <a:p>
            <a:pPr marL="0" indent="0" algn="ctr">
              <a:lnSpc>
                <a:spcPct val="92000"/>
              </a:lnSpc>
              <a:buNone/>
            </a:pPr>
            <a:r>
              <a:rPr lang="en-US" sz="1600" dirty="0">
                <a:solidFill>
                  <a:srgbClr val="2B3644"/>
                </a:solidFill>
                <a:latin typeface="Arial" pitchFamily="34" charset="0"/>
                <a:ea typeface="Arial" pitchFamily="34" charset="-122"/>
                <a:cs typeface="Arial" pitchFamily="34" charset="-120"/>
              </a:rPr>
              <a:t>Research / design loop</a:t>
            </a:r>
            <a:endParaRPr lang="en-US" sz="1600" dirty="0"/>
          </a:p>
        </p:txBody>
      </p:sp>
      <p:sp>
        <p:nvSpPr>
          <p:cNvPr id="98" name="Text 45">
            <a:extLst>
              <a:ext uri="{FF2B5EF4-FFF2-40B4-BE49-F238E27FC236}">
                <a16:creationId xmlns:a16="http://schemas.microsoft.com/office/drawing/2014/main" id="{C69DC5DB-7CBC-4C75-A664-5ED9842FBE80}"/>
              </a:ext>
            </a:extLst>
          </p:cNvPr>
          <p:cNvSpPr txBox="1"/>
          <p:nvPr/>
        </p:nvSpPr>
        <p:spPr>
          <a:xfrm>
            <a:off x="-8867" y="2407720"/>
            <a:ext cx="1720979" cy="338074"/>
          </a:xfrm>
          <a:prstGeom prst="rect">
            <a:avLst/>
          </a:prstGeom>
          <a:noFill/>
          <a:ln/>
        </p:spPr>
        <p:txBody>
          <a:bodyPr wrap="square" lIns="0" tIns="0" rIns="0" bIns="0" rtlCol="0" anchor="ctr"/>
          <a:lstStyle/>
          <a:p>
            <a:pPr marL="0" indent="0" algn="ctr">
              <a:lnSpc>
                <a:spcPct val="92000"/>
              </a:lnSpc>
              <a:buNone/>
            </a:pPr>
            <a:r>
              <a:rPr lang="en-US" sz="1200">
                <a:solidFill>
                  <a:srgbClr val="3F8F5C"/>
                </a:solidFill>
                <a:latin typeface="Arial" pitchFamily="34" charset="0"/>
                <a:ea typeface="Arial" pitchFamily="34" charset="-122"/>
                <a:cs typeface="Arial" pitchFamily="34" charset="-120"/>
              </a:rPr>
              <a:t>Aggregate</a:t>
            </a:r>
            <a:r>
              <a:rPr lang="en-US" sz="1200" dirty="0">
                <a:solidFill>
                  <a:srgbClr val="3F8F5C"/>
                </a:solidFill>
              </a:rPr>
              <a:t> </a:t>
            </a:r>
            <a:r>
              <a:rPr lang="en-US" sz="1200">
                <a:solidFill>
                  <a:srgbClr val="3F8F5C"/>
                </a:solidFill>
                <a:latin typeface="Arial" pitchFamily="34" charset="0"/>
                <a:ea typeface="Arial" pitchFamily="34" charset="-122"/>
                <a:cs typeface="Arial" pitchFamily="34" charset="-120"/>
              </a:rPr>
              <a:t>development </a:t>
            </a:r>
            <a:r>
              <a:rPr lang="en-US" sz="1200" dirty="0">
                <a:solidFill>
                  <a:srgbClr val="3F8F5C"/>
                </a:solidFill>
                <a:latin typeface="Arial" pitchFamily="34" charset="0"/>
                <a:ea typeface="Arial" pitchFamily="34" charset="-122"/>
                <a:cs typeface="Arial" pitchFamily="34" charset="-120"/>
              </a:rPr>
              <a:t>evidence</a:t>
            </a:r>
            <a:endParaRPr lang="en-US" sz="1200" dirty="0">
              <a:solidFill>
                <a:srgbClr val="3F8F5C"/>
              </a:solidFill>
            </a:endParaRPr>
          </a:p>
        </p:txBody>
      </p:sp>
      <p:sp>
        <p:nvSpPr>
          <p:cNvPr id="102" name="Text 53">
            <a:extLst>
              <a:ext uri="{FF2B5EF4-FFF2-40B4-BE49-F238E27FC236}">
                <a16:creationId xmlns:a16="http://schemas.microsoft.com/office/drawing/2014/main" id="{A5AF9A12-7215-4A9F-B4EA-7F5A22B7332E}"/>
              </a:ext>
            </a:extLst>
          </p:cNvPr>
          <p:cNvSpPr txBox="1"/>
          <p:nvPr/>
        </p:nvSpPr>
        <p:spPr>
          <a:xfrm>
            <a:off x="2535652" y="3915934"/>
            <a:ext cx="1377308" cy="207455"/>
          </a:xfrm>
          <a:prstGeom prst="rect">
            <a:avLst/>
          </a:prstGeom>
          <a:noFill/>
          <a:ln/>
        </p:spPr>
        <p:txBody>
          <a:bodyPr wrap="square" lIns="0" tIns="0" rIns="0" bIns="0" rtlCol="0" anchor="ctr"/>
          <a:lstStyle/>
          <a:p>
            <a:pPr marL="0" indent="0" algn="ctr">
              <a:lnSpc>
                <a:spcPct val="92000"/>
              </a:lnSpc>
              <a:buNone/>
            </a:pPr>
            <a:r>
              <a:rPr lang="en-US" altLang="zh-CN" sz="1600">
                <a:solidFill>
                  <a:srgbClr val="2B3644"/>
                </a:solidFill>
                <a:latin typeface="Arial" pitchFamily="34" charset="0"/>
                <a:cs typeface="Arial" pitchFamily="34" charset="-120"/>
              </a:rPr>
              <a:t>Model</a:t>
            </a:r>
            <a:endParaRPr lang="en-US" sz="1600" dirty="0">
              <a:solidFill>
                <a:srgbClr val="2B3644"/>
              </a:solidFill>
              <a:latin typeface="Arial" pitchFamily="34" charset="0"/>
              <a:cs typeface="Arial" pitchFamily="34" charset="-120"/>
            </a:endParaRPr>
          </a:p>
        </p:txBody>
      </p:sp>
      <p:sp>
        <p:nvSpPr>
          <p:cNvPr id="103" name="Text 54">
            <a:extLst>
              <a:ext uri="{FF2B5EF4-FFF2-40B4-BE49-F238E27FC236}">
                <a16:creationId xmlns:a16="http://schemas.microsoft.com/office/drawing/2014/main" id="{D6A70366-2B45-47C8-9347-281E35581F77}"/>
              </a:ext>
            </a:extLst>
          </p:cNvPr>
          <p:cNvSpPr txBox="1"/>
          <p:nvPr/>
        </p:nvSpPr>
        <p:spPr>
          <a:xfrm>
            <a:off x="1538134" y="4175284"/>
            <a:ext cx="2549511" cy="207455"/>
          </a:xfrm>
          <a:prstGeom prst="rect">
            <a:avLst/>
          </a:prstGeom>
          <a:noFill/>
          <a:ln/>
        </p:spPr>
        <p:txBody>
          <a:bodyPr wrap="square" lIns="0" tIns="0" rIns="0" bIns="0" rtlCol="0" anchor="ctr"/>
          <a:lstStyle/>
          <a:p>
            <a:pPr marL="0" indent="0" algn="ctr">
              <a:lnSpc>
                <a:spcPct val="92000"/>
              </a:lnSpc>
              <a:buNone/>
            </a:pPr>
            <a:r>
              <a:rPr lang="en-US" sz="1350" dirty="0">
                <a:solidFill>
                  <a:srgbClr val="6E7B87"/>
                </a:solidFill>
                <a:latin typeface="Arial" pitchFamily="34" charset="0"/>
                <a:ea typeface="Arial" pitchFamily="34" charset="-122"/>
                <a:cs typeface="Arial" pitchFamily="34" charset="-120"/>
              </a:rPr>
              <a:t>(design revised between rounds)</a:t>
            </a:r>
            <a:endParaRPr lang="en-US" sz="1350" dirty="0"/>
          </a:p>
        </p:txBody>
      </p:sp>
      <p:sp>
        <p:nvSpPr>
          <p:cNvPr id="104" name="Shape 13">
            <a:extLst>
              <a:ext uri="{FF2B5EF4-FFF2-40B4-BE49-F238E27FC236}">
                <a16:creationId xmlns:a16="http://schemas.microsoft.com/office/drawing/2014/main" id="{720BE142-ED5B-4CA3-BFC3-A6CFED1EBC2D}"/>
              </a:ext>
            </a:extLst>
          </p:cNvPr>
          <p:cNvSpPr/>
          <p:nvPr/>
        </p:nvSpPr>
        <p:spPr>
          <a:xfrm>
            <a:off x="1452133" y="3315525"/>
            <a:ext cx="1169350" cy="0"/>
          </a:xfrm>
          <a:prstGeom prst="line">
            <a:avLst/>
          </a:prstGeom>
          <a:noFill/>
          <a:ln w="30480">
            <a:solidFill>
              <a:schemeClr val="accent1"/>
            </a:solidFill>
            <a:prstDash val="solid"/>
            <a:headEnd type="none"/>
            <a:tailEnd type="triangle"/>
          </a:ln>
        </p:spPr>
      </p:sp>
      <p:sp>
        <p:nvSpPr>
          <p:cNvPr id="105" name="Shape 10">
            <a:extLst>
              <a:ext uri="{FF2B5EF4-FFF2-40B4-BE49-F238E27FC236}">
                <a16:creationId xmlns:a16="http://schemas.microsoft.com/office/drawing/2014/main" id="{15944F5E-0465-44E0-A622-314EE18BEA7A}"/>
              </a:ext>
            </a:extLst>
          </p:cNvPr>
          <p:cNvSpPr/>
          <p:nvPr/>
        </p:nvSpPr>
        <p:spPr>
          <a:xfrm flipH="1">
            <a:off x="1452133" y="3464834"/>
            <a:ext cx="1164836" cy="0"/>
          </a:xfrm>
          <a:prstGeom prst="line">
            <a:avLst/>
          </a:prstGeom>
          <a:noFill/>
          <a:ln w="30480">
            <a:solidFill>
              <a:srgbClr val="3F8F5C"/>
            </a:solidFill>
            <a:prstDash val="solid"/>
            <a:headEnd type="none"/>
            <a:tailEnd type="triangle"/>
          </a:ln>
        </p:spPr>
      </p:sp>
      <p:sp>
        <p:nvSpPr>
          <p:cNvPr id="106" name="Text 45">
            <a:extLst>
              <a:ext uri="{FF2B5EF4-FFF2-40B4-BE49-F238E27FC236}">
                <a16:creationId xmlns:a16="http://schemas.microsoft.com/office/drawing/2014/main" id="{FA1CEE2C-59D1-4909-8760-7087F81DACA7}"/>
              </a:ext>
            </a:extLst>
          </p:cNvPr>
          <p:cNvSpPr txBox="1"/>
          <p:nvPr/>
        </p:nvSpPr>
        <p:spPr>
          <a:xfrm>
            <a:off x="1476410" y="3575980"/>
            <a:ext cx="1196083" cy="243415"/>
          </a:xfrm>
          <a:prstGeom prst="rect">
            <a:avLst/>
          </a:prstGeom>
          <a:noFill/>
          <a:ln/>
        </p:spPr>
        <p:txBody>
          <a:bodyPr wrap="square" lIns="0" tIns="0" rIns="0" bIns="0" rtlCol="0" anchor="ctr"/>
          <a:lstStyle/>
          <a:p>
            <a:pPr marL="0" indent="0" algn="ctr">
              <a:lnSpc>
                <a:spcPct val="92000"/>
              </a:lnSpc>
              <a:buNone/>
            </a:pPr>
            <a:r>
              <a:rPr lang="en-US" sz="1400">
                <a:solidFill>
                  <a:srgbClr val="3F8F5C"/>
                </a:solidFill>
                <a:latin typeface="Arial" pitchFamily="34" charset="0"/>
                <a:ea typeface="Arial" pitchFamily="34" charset="-122"/>
                <a:cs typeface="Arial" pitchFamily="34" charset="-120"/>
              </a:rPr>
              <a:t>model parameters </a:t>
            </a:r>
          </a:p>
        </p:txBody>
      </p:sp>
      <p:sp>
        <p:nvSpPr>
          <p:cNvPr id="107" name="Text 45">
            <a:extLst>
              <a:ext uri="{FF2B5EF4-FFF2-40B4-BE49-F238E27FC236}">
                <a16:creationId xmlns:a16="http://schemas.microsoft.com/office/drawing/2014/main" id="{168FDA53-4230-4EDE-9FED-DBEC6B184C0A}"/>
              </a:ext>
            </a:extLst>
          </p:cNvPr>
          <p:cNvSpPr txBox="1"/>
          <p:nvPr/>
        </p:nvSpPr>
        <p:spPr>
          <a:xfrm>
            <a:off x="1503771" y="3008344"/>
            <a:ext cx="1089592" cy="193929"/>
          </a:xfrm>
          <a:prstGeom prst="rect">
            <a:avLst/>
          </a:prstGeom>
          <a:noFill/>
          <a:ln/>
        </p:spPr>
        <p:txBody>
          <a:bodyPr wrap="square" lIns="0" tIns="0" rIns="0" bIns="0" rtlCol="0" anchor="ctr"/>
          <a:lstStyle/>
          <a:p>
            <a:pPr marL="0" indent="0" algn="ctr">
              <a:lnSpc>
                <a:spcPct val="92000"/>
              </a:lnSpc>
              <a:buNone/>
            </a:pPr>
            <a:r>
              <a:rPr lang="en-US" sz="1400">
                <a:solidFill>
                  <a:srgbClr val="4472C4"/>
                </a:solidFill>
                <a:latin typeface="Arial" pitchFamily="34" charset="0"/>
                <a:ea typeface="Arial" pitchFamily="34" charset="-122"/>
                <a:cs typeface="Arial" pitchFamily="34" charset="-120"/>
              </a:rPr>
              <a:t>Accessible data</a:t>
            </a:r>
          </a:p>
        </p:txBody>
      </p:sp>
      <p:sp>
        <p:nvSpPr>
          <p:cNvPr id="108" name="Text 44">
            <a:extLst>
              <a:ext uri="{FF2B5EF4-FFF2-40B4-BE49-F238E27FC236}">
                <a16:creationId xmlns:a16="http://schemas.microsoft.com/office/drawing/2014/main" id="{0E62FE48-8E2A-4075-9700-ADA267EDC277}"/>
              </a:ext>
            </a:extLst>
          </p:cNvPr>
          <p:cNvSpPr txBox="1"/>
          <p:nvPr/>
        </p:nvSpPr>
        <p:spPr>
          <a:xfrm>
            <a:off x="2646284" y="2496197"/>
            <a:ext cx="793817" cy="338074"/>
          </a:xfrm>
          <a:prstGeom prst="rect">
            <a:avLst/>
          </a:prstGeom>
          <a:noFill/>
          <a:ln/>
        </p:spPr>
        <p:txBody>
          <a:bodyPr wrap="square" lIns="0" tIns="0" rIns="0" bIns="0" rtlCol="0" anchor="ctr"/>
          <a:lstStyle/>
          <a:p>
            <a:pPr marL="0" indent="0" algn="ctr">
              <a:lnSpc>
                <a:spcPct val="92000"/>
              </a:lnSpc>
              <a:buNone/>
            </a:pPr>
            <a:r>
              <a:rPr lang="en-US" sz="1200" dirty="0">
                <a:solidFill>
                  <a:srgbClr val="3F8F5C"/>
                </a:solidFill>
                <a:latin typeface="Arial" pitchFamily="34" charset="0"/>
                <a:ea typeface="Arial" pitchFamily="34" charset="-122"/>
                <a:cs typeface="Arial" pitchFamily="34" charset="-120"/>
              </a:rPr>
              <a:t>Design</a:t>
            </a:r>
            <a:endParaRPr lang="en-US" sz="1200" dirty="0">
              <a:solidFill>
                <a:srgbClr val="3F8F5C"/>
              </a:solidFill>
            </a:endParaRPr>
          </a:p>
          <a:p>
            <a:pPr marL="0" indent="0" algn="ctr">
              <a:lnSpc>
                <a:spcPct val="92000"/>
              </a:lnSpc>
              <a:buNone/>
            </a:pPr>
            <a:r>
              <a:rPr lang="en-US" sz="1200" dirty="0">
                <a:solidFill>
                  <a:srgbClr val="3F8F5C"/>
                </a:solidFill>
                <a:latin typeface="Arial" pitchFamily="34" charset="0"/>
                <a:ea typeface="Arial" pitchFamily="34" charset="-122"/>
                <a:cs typeface="Arial" pitchFamily="34" charset="-120"/>
              </a:rPr>
              <a:t>revision</a:t>
            </a:r>
            <a:endParaRPr lang="en-US" sz="1200" dirty="0">
              <a:solidFill>
                <a:srgbClr val="3F8F5C"/>
              </a:solidFill>
            </a:endParaRPr>
          </a:p>
        </p:txBody>
      </p:sp>
      <p:sp>
        <p:nvSpPr>
          <p:cNvPr id="109" name="Shape 4">
            <a:extLst>
              <a:ext uri="{FF2B5EF4-FFF2-40B4-BE49-F238E27FC236}">
                <a16:creationId xmlns:a16="http://schemas.microsoft.com/office/drawing/2014/main" id="{EE78043A-FE46-4123-894E-B11680A05446}"/>
              </a:ext>
            </a:extLst>
          </p:cNvPr>
          <p:cNvSpPr/>
          <p:nvPr/>
        </p:nvSpPr>
        <p:spPr>
          <a:xfrm>
            <a:off x="8636929" y="3046750"/>
            <a:ext cx="966099" cy="656751"/>
          </a:xfrm>
          <a:prstGeom prst="line">
            <a:avLst/>
          </a:prstGeom>
          <a:noFill/>
          <a:ln w="30480">
            <a:solidFill>
              <a:schemeClr val="accent1"/>
            </a:solidFill>
            <a:prstDash val="solid"/>
            <a:headEnd type="none"/>
            <a:tailEnd type="triangle"/>
          </a:ln>
        </p:spPr>
      </p:sp>
      <p:sp>
        <p:nvSpPr>
          <p:cNvPr id="110" name="Shape 5">
            <a:extLst>
              <a:ext uri="{FF2B5EF4-FFF2-40B4-BE49-F238E27FC236}">
                <a16:creationId xmlns:a16="http://schemas.microsoft.com/office/drawing/2014/main" id="{9EBB9B59-88AC-4AAB-9511-2361BAE49417}"/>
              </a:ext>
            </a:extLst>
          </p:cNvPr>
          <p:cNvSpPr/>
          <p:nvPr/>
        </p:nvSpPr>
        <p:spPr>
          <a:xfrm>
            <a:off x="9835578" y="3046751"/>
            <a:ext cx="0" cy="656751"/>
          </a:xfrm>
          <a:prstGeom prst="line">
            <a:avLst/>
          </a:prstGeom>
          <a:noFill/>
          <a:ln w="30480">
            <a:solidFill>
              <a:schemeClr val="accent1"/>
            </a:solidFill>
            <a:prstDash val="solid"/>
            <a:headEnd type="none"/>
            <a:tailEnd type="triangle"/>
          </a:ln>
        </p:spPr>
      </p:sp>
      <p:sp>
        <p:nvSpPr>
          <p:cNvPr id="111" name="Shape 6">
            <a:extLst>
              <a:ext uri="{FF2B5EF4-FFF2-40B4-BE49-F238E27FC236}">
                <a16:creationId xmlns:a16="http://schemas.microsoft.com/office/drawing/2014/main" id="{96B550B7-22C6-4D16-892C-201CEFA4A649}"/>
              </a:ext>
            </a:extLst>
          </p:cNvPr>
          <p:cNvSpPr/>
          <p:nvPr/>
        </p:nvSpPr>
        <p:spPr>
          <a:xfrm flipH="1">
            <a:off x="10268509" y="3045510"/>
            <a:ext cx="1059446" cy="624203"/>
          </a:xfrm>
          <a:prstGeom prst="line">
            <a:avLst/>
          </a:prstGeom>
          <a:noFill/>
          <a:ln w="30480">
            <a:solidFill>
              <a:schemeClr val="accent1"/>
            </a:solidFill>
            <a:prstDash val="solid"/>
            <a:headEnd type="none"/>
            <a:tailEnd type="triangle"/>
          </a:ln>
        </p:spPr>
      </p:sp>
      <p:sp>
        <p:nvSpPr>
          <p:cNvPr id="112" name="Text 38">
            <a:extLst>
              <a:ext uri="{FF2B5EF4-FFF2-40B4-BE49-F238E27FC236}">
                <a16:creationId xmlns:a16="http://schemas.microsoft.com/office/drawing/2014/main" id="{E4AA127B-9121-40AC-B8C9-CD5117657625}"/>
              </a:ext>
            </a:extLst>
          </p:cNvPr>
          <p:cNvSpPr txBox="1"/>
          <p:nvPr/>
        </p:nvSpPr>
        <p:spPr>
          <a:xfrm>
            <a:off x="8220157" y="3268105"/>
            <a:ext cx="1249149" cy="384175"/>
          </a:xfrm>
          <a:prstGeom prst="rect">
            <a:avLst/>
          </a:prstGeom>
          <a:noFill/>
          <a:ln/>
        </p:spPr>
        <p:txBody>
          <a:bodyPr wrap="square" lIns="0" tIns="0" rIns="0" bIns="0" rtlCol="0" anchor="ctr"/>
          <a:lstStyle>
            <a:lvl1pPr indent="0" algn="ctr">
              <a:lnSpc>
                <a:spcPct val="92000"/>
              </a:lnSpc>
              <a:buNone/>
              <a:defRPr sz="1100">
                <a:solidFill>
                  <a:srgbClr val="4472C4"/>
                </a:solidFill>
                <a:latin typeface="Arial" pitchFamily="34" charset="0"/>
                <a:ea typeface="Arial" pitchFamily="34" charset="-122"/>
                <a:cs typeface="Arial" pitchFamily="34" charset="-120"/>
              </a:defRPr>
            </a:lvl1pPr>
          </a:lstStyle>
          <a:p>
            <a:r>
              <a:rPr lang="en-US"/>
              <a:t>Local</a:t>
            </a:r>
            <a:endParaRPr lang="en-US" dirty="0"/>
          </a:p>
          <a:p>
            <a:r>
              <a:rPr lang="en-US"/>
              <a:t>update</a:t>
            </a:r>
            <a:endParaRPr lang="en-US" dirty="0"/>
          </a:p>
        </p:txBody>
      </p:sp>
      <p:sp>
        <p:nvSpPr>
          <p:cNvPr id="113" name="Shape 10">
            <a:extLst>
              <a:ext uri="{FF2B5EF4-FFF2-40B4-BE49-F238E27FC236}">
                <a16:creationId xmlns:a16="http://schemas.microsoft.com/office/drawing/2014/main" id="{081B343C-755F-4482-97EA-839582590B18}"/>
              </a:ext>
            </a:extLst>
          </p:cNvPr>
          <p:cNvSpPr/>
          <p:nvPr/>
        </p:nvSpPr>
        <p:spPr>
          <a:xfrm flipH="1" flipV="1">
            <a:off x="8796129" y="3045510"/>
            <a:ext cx="924186" cy="624203"/>
          </a:xfrm>
          <a:prstGeom prst="line">
            <a:avLst/>
          </a:prstGeom>
          <a:noFill/>
          <a:ln w="30480">
            <a:solidFill>
              <a:srgbClr val="3F8F5C"/>
            </a:solidFill>
            <a:prstDash val="solid"/>
            <a:headEnd type="none"/>
            <a:tailEnd type="triangle"/>
          </a:ln>
        </p:spPr>
      </p:sp>
      <p:sp>
        <p:nvSpPr>
          <p:cNvPr id="115" name="Shape 10">
            <a:extLst>
              <a:ext uri="{FF2B5EF4-FFF2-40B4-BE49-F238E27FC236}">
                <a16:creationId xmlns:a16="http://schemas.microsoft.com/office/drawing/2014/main" id="{2BCFC6A6-8300-4312-AC6E-973057D3B269}"/>
              </a:ext>
            </a:extLst>
          </p:cNvPr>
          <p:cNvSpPr/>
          <p:nvPr/>
        </p:nvSpPr>
        <p:spPr>
          <a:xfrm flipV="1">
            <a:off x="9958795" y="3027542"/>
            <a:ext cx="0" cy="665988"/>
          </a:xfrm>
          <a:prstGeom prst="line">
            <a:avLst/>
          </a:prstGeom>
          <a:noFill/>
          <a:ln w="30480">
            <a:solidFill>
              <a:srgbClr val="3F8F5C"/>
            </a:solidFill>
            <a:prstDash val="solid"/>
            <a:headEnd type="none"/>
            <a:tailEnd type="triangle"/>
          </a:ln>
        </p:spPr>
      </p:sp>
      <p:sp>
        <p:nvSpPr>
          <p:cNvPr id="116" name="Shape 10">
            <a:extLst>
              <a:ext uri="{FF2B5EF4-FFF2-40B4-BE49-F238E27FC236}">
                <a16:creationId xmlns:a16="http://schemas.microsoft.com/office/drawing/2014/main" id="{8144C77F-E9A1-40E0-9BB9-86B45F9E46A0}"/>
              </a:ext>
            </a:extLst>
          </p:cNvPr>
          <p:cNvSpPr/>
          <p:nvPr/>
        </p:nvSpPr>
        <p:spPr>
          <a:xfrm flipV="1">
            <a:off x="10439829" y="3045510"/>
            <a:ext cx="1059446" cy="616072"/>
          </a:xfrm>
          <a:prstGeom prst="line">
            <a:avLst/>
          </a:prstGeom>
          <a:noFill/>
          <a:ln w="30480">
            <a:solidFill>
              <a:srgbClr val="3F8F5C"/>
            </a:solidFill>
            <a:prstDash val="solid"/>
            <a:headEnd type="none"/>
            <a:tailEnd type="triangle"/>
          </a:ln>
        </p:spPr>
      </p:sp>
      <p:sp>
        <p:nvSpPr>
          <p:cNvPr id="117" name="Text 45">
            <a:extLst>
              <a:ext uri="{FF2B5EF4-FFF2-40B4-BE49-F238E27FC236}">
                <a16:creationId xmlns:a16="http://schemas.microsoft.com/office/drawing/2014/main" id="{C1A54B65-CD21-4B5F-834C-6290F7C5E3B7}"/>
              </a:ext>
            </a:extLst>
          </p:cNvPr>
          <p:cNvSpPr txBox="1"/>
          <p:nvPr/>
        </p:nvSpPr>
        <p:spPr>
          <a:xfrm>
            <a:off x="10921271" y="3267435"/>
            <a:ext cx="933390" cy="338074"/>
          </a:xfrm>
          <a:prstGeom prst="rect">
            <a:avLst/>
          </a:prstGeom>
          <a:noFill/>
          <a:ln/>
        </p:spPr>
        <p:txBody>
          <a:bodyPr wrap="square" lIns="0" tIns="0" rIns="0" bIns="0" rtlCol="0" anchor="ctr"/>
          <a:lstStyle/>
          <a:p>
            <a:pPr marL="0" indent="0" algn="ctr">
              <a:lnSpc>
                <a:spcPct val="92000"/>
              </a:lnSpc>
              <a:buNone/>
            </a:pPr>
            <a:r>
              <a:rPr lang="en-US" sz="1100">
                <a:solidFill>
                  <a:srgbClr val="3F8F5C"/>
                </a:solidFill>
                <a:latin typeface="Arial" pitchFamily="34" charset="0"/>
                <a:ea typeface="Arial" pitchFamily="34" charset="-122"/>
                <a:cs typeface="Arial" pitchFamily="34" charset="-120"/>
              </a:rPr>
              <a:t>model parameters </a:t>
            </a:r>
          </a:p>
        </p:txBody>
      </p:sp>
      <p:sp>
        <p:nvSpPr>
          <p:cNvPr id="118" name="Shape 10">
            <a:extLst>
              <a:ext uri="{FF2B5EF4-FFF2-40B4-BE49-F238E27FC236}">
                <a16:creationId xmlns:a16="http://schemas.microsoft.com/office/drawing/2014/main" id="{1133D533-02F6-4C11-BFBB-61B8223A67AB}"/>
              </a:ext>
            </a:extLst>
          </p:cNvPr>
          <p:cNvSpPr/>
          <p:nvPr/>
        </p:nvSpPr>
        <p:spPr>
          <a:xfrm flipV="1">
            <a:off x="8778527" y="1776572"/>
            <a:ext cx="1380718" cy="528929"/>
          </a:xfrm>
          <a:prstGeom prst="line">
            <a:avLst/>
          </a:prstGeom>
          <a:noFill/>
          <a:ln w="30480">
            <a:solidFill>
              <a:srgbClr val="3F8F5C"/>
            </a:solidFill>
            <a:prstDash val="solid"/>
            <a:headEnd type="none"/>
            <a:tailEnd type="triangle"/>
          </a:ln>
        </p:spPr>
      </p:sp>
      <p:sp>
        <p:nvSpPr>
          <p:cNvPr id="119" name="Text 45">
            <a:extLst>
              <a:ext uri="{FF2B5EF4-FFF2-40B4-BE49-F238E27FC236}">
                <a16:creationId xmlns:a16="http://schemas.microsoft.com/office/drawing/2014/main" id="{37762929-F218-4B84-8813-7A3F3A8A0810}"/>
              </a:ext>
            </a:extLst>
          </p:cNvPr>
          <p:cNvSpPr txBox="1"/>
          <p:nvPr/>
        </p:nvSpPr>
        <p:spPr>
          <a:xfrm>
            <a:off x="8176126" y="1757883"/>
            <a:ext cx="1675195" cy="338074"/>
          </a:xfrm>
          <a:prstGeom prst="rect">
            <a:avLst/>
          </a:prstGeom>
          <a:noFill/>
          <a:ln/>
        </p:spPr>
        <p:txBody>
          <a:bodyPr wrap="square" lIns="0" tIns="0" rIns="0" bIns="0" rtlCol="0" anchor="ctr"/>
          <a:lstStyle/>
          <a:p>
            <a:pPr marL="0" indent="0" algn="ctr">
              <a:lnSpc>
                <a:spcPct val="92000"/>
              </a:lnSpc>
              <a:buNone/>
            </a:pPr>
            <a:r>
              <a:rPr lang="en-US" sz="1200">
                <a:solidFill>
                  <a:srgbClr val="3F8F5C"/>
                </a:solidFill>
                <a:latin typeface="Arial" pitchFamily="34" charset="0"/>
                <a:ea typeface="Arial" pitchFamily="34" charset="-122"/>
                <a:cs typeface="Arial" pitchFamily="34" charset="-120"/>
              </a:rPr>
              <a:t>Aggregate development </a:t>
            </a:r>
            <a:r>
              <a:rPr lang="en-US" sz="1200" dirty="0">
                <a:solidFill>
                  <a:srgbClr val="3F8F5C"/>
                </a:solidFill>
                <a:latin typeface="Arial" pitchFamily="34" charset="0"/>
                <a:ea typeface="Arial" pitchFamily="34" charset="-122"/>
                <a:cs typeface="Arial" pitchFamily="34" charset="-120"/>
              </a:rPr>
              <a:t>evidence</a:t>
            </a:r>
            <a:endParaRPr lang="en-US" sz="1200" dirty="0">
              <a:solidFill>
                <a:srgbClr val="3F8F5C"/>
              </a:solidFill>
            </a:endParaRPr>
          </a:p>
        </p:txBody>
      </p:sp>
      <p:sp>
        <p:nvSpPr>
          <p:cNvPr id="120" name="Shape 10">
            <a:extLst>
              <a:ext uri="{FF2B5EF4-FFF2-40B4-BE49-F238E27FC236}">
                <a16:creationId xmlns:a16="http://schemas.microsoft.com/office/drawing/2014/main" id="{DFFDEE9D-00D2-489D-833D-93A5CE6D7582}"/>
              </a:ext>
            </a:extLst>
          </p:cNvPr>
          <p:cNvSpPr/>
          <p:nvPr/>
        </p:nvSpPr>
        <p:spPr>
          <a:xfrm flipV="1">
            <a:off x="9936123" y="1754688"/>
            <a:ext cx="421688" cy="550812"/>
          </a:xfrm>
          <a:prstGeom prst="line">
            <a:avLst/>
          </a:prstGeom>
          <a:noFill/>
          <a:ln w="30480">
            <a:solidFill>
              <a:srgbClr val="3F8F5C"/>
            </a:solidFill>
            <a:prstDash val="solid"/>
            <a:headEnd type="none"/>
            <a:tailEnd type="triangle"/>
          </a:ln>
        </p:spPr>
      </p:sp>
      <p:sp>
        <p:nvSpPr>
          <p:cNvPr id="121" name="Shape 10">
            <a:extLst>
              <a:ext uri="{FF2B5EF4-FFF2-40B4-BE49-F238E27FC236}">
                <a16:creationId xmlns:a16="http://schemas.microsoft.com/office/drawing/2014/main" id="{01A1E998-721E-4B19-AD3E-06B68D5F4ED9}"/>
              </a:ext>
            </a:extLst>
          </p:cNvPr>
          <p:cNvSpPr/>
          <p:nvPr/>
        </p:nvSpPr>
        <p:spPr>
          <a:xfrm flipH="1" flipV="1">
            <a:off x="10557702" y="1761040"/>
            <a:ext cx="839861" cy="544459"/>
          </a:xfrm>
          <a:prstGeom prst="line">
            <a:avLst/>
          </a:prstGeom>
          <a:noFill/>
          <a:ln w="30480">
            <a:solidFill>
              <a:srgbClr val="3F8F5C"/>
            </a:solidFill>
            <a:prstDash val="solid"/>
            <a:headEnd type="none"/>
            <a:tailEnd type="triangle"/>
          </a:ln>
        </p:spPr>
      </p:sp>
      <p:pic>
        <p:nvPicPr>
          <p:cNvPr id="79" name="Image 17" descr="/liziqing/yukai/AI4AI4Cell/paradigm_figure_icons/net_c.png">
            <a:extLst>
              <a:ext uri="{FF2B5EF4-FFF2-40B4-BE49-F238E27FC236}">
                <a16:creationId xmlns:a16="http://schemas.microsoft.com/office/drawing/2014/main" id="{118125D7-FB72-4D5D-90B8-944CEA9E94F0}"/>
              </a:ext>
            </a:extLst>
          </p:cNvPr>
          <p:cNvPicPr>
            <a:picLocks noChangeAspect="1"/>
          </p:cNvPicPr>
          <p:nvPr/>
        </p:nvPicPr>
        <p:blipFill>
          <a:blip r:embed="rId16"/>
          <a:stretch>
            <a:fillRect/>
          </a:stretch>
        </p:blipFill>
        <p:spPr>
          <a:xfrm>
            <a:off x="5433416" y="3132217"/>
            <a:ext cx="1028819" cy="903075"/>
          </a:xfrm>
          <a:prstGeom prst="rect">
            <a:avLst/>
          </a:prstGeom>
        </p:spPr>
      </p:pic>
      <p:sp>
        <p:nvSpPr>
          <p:cNvPr id="80" name="Text 53">
            <a:extLst>
              <a:ext uri="{FF2B5EF4-FFF2-40B4-BE49-F238E27FC236}">
                <a16:creationId xmlns:a16="http://schemas.microsoft.com/office/drawing/2014/main" id="{BF8FB8AB-194C-496C-9B61-2650C531F201}"/>
              </a:ext>
            </a:extLst>
          </p:cNvPr>
          <p:cNvSpPr txBox="1"/>
          <p:nvPr/>
        </p:nvSpPr>
        <p:spPr>
          <a:xfrm>
            <a:off x="5302318" y="4074501"/>
            <a:ext cx="1377308" cy="207455"/>
          </a:xfrm>
          <a:prstGeom prst="rect">
            <a:avLst/>
          </a:prstGeom>
          <a:noFill/>
          <a:ln/>
        </p:spPr>
        <p:txBody>
          <a:bodyPr wrap="square" lIns="0" tIns="0" rIns="0" bIns="0" rtlCol="0" anchor="ctr"/>
          <a:lstStyle/>
          <a:p>
            <a:pPr marL="0" indent="0" algn="ctr">
              <a:lnSpc>
                <a:spcPct val="92000"/>
              </a:lnSpc>
              <a:buNone/>
            </a:pPr>
            <a:r>
              <a:rPr lang="en-US" altLang="zh-CN" sz="1600">
                <a:solidFill>
                  <a:srgbClr val="2B3644"/>
                </a:solidFill>
                <a:latin typeface="Arial" pitchFamily="34" charset="0"/>
                <a:cs typeface="Arial" pitchFamily="34" charset="-120"/>
              </a:rPr>
              <a:t>Model</a:t>
            </a:r>
            <a:endParaRPr lang="en-US" sz="1600" dirty="0">
              <a:solidFill>
                <a:srgbClr val="2B3644"/>
              </a:solidFill>
              <a:latin typeface="Arial" pitchFamily="34" charset="0"/>
              <a:cs typeface="Arial" pitchFamily="34" charset="-120"/>
            </a:endParaRPr>
          </a:p>
        </p:txBody>
      </p:sp>
      <p:pic>
        <p:nvPicPr>
          <p:cNvPr id="81" name="Image 10" descr="/liziqing/yukai/AI4AI4Cell/paradigm_figure_icons/loop_c.png">
            <a:extLst>
              <a:ext uri="{FF2B5EF4-FFF2-40B4-BE49-F238E27FC236}">
                <a16:creationId xmlns:a16="http://schemas.microsoft.com/office/drawing/2014/main" id="{CEADDE51-A343-4279-9744-3C20B780A6D9}"/>
              </a:ext>
            </a:extLst>
          </p:cNvPr>
          <p:cNvPicPr>
            <a:picLocks noChangeAspect="1"/>
          </p:cNvPicPr>
          <p:nvPr/>
        </p:nvPicPr>
        <p:blipFill>
          <a:blip r:embed="rId17"/>
          <a:stretch>
            <a:fillRect/>
          </a:stretch>
        </p:blipFill>
        <p:spPr>
          <a:xfrm>
            <a:off x="9536739" y="904235"/>
            <a:ext cx="1089592" cy="861129"/>
          </a:xfrm>
          <a:prstGeom prst="rect">
            <a:avLst/>
          </a:prstGeom>
        </p:spPr>
      </p:pic>
      <p:sp>
        <p:nvSpPr>
          <p:cNvPr id="86" name="Text 43">
            <a:extLst>
              <a:ext uri="{FF2B5EF4-FFF2-40B4-BE49-F238E27FC236}">
                <a16:creationId xmlns:a16="http://schemas.microsoft.com/office/drawing/2014/main" id="{436E9937-820B-4222-981B-F8099C6CA724}"/>
              </a:ext>
            </a:extLst>
          </p:cNvPr>
          <p:cNvSpPr txBox="1"/>
          <p:nvPr/>
        </p:nvSpPr>
        <p:spPr>
          <a:xfrm>
            <a:off x="8902982" y="636859"/>
            <a:ext cx="2167835" cy="234031"/>
          </a:xfrm>
          <a:prstGeom prst="rect">
            <a:avLst/>
          </a:prstGeom>
          <a:noFill/>
          <a:ln/>
        </p:spPr>
        <p:txBody>
          <a:bodyPr wrap="square" lIns="0" tIns="0" rIns="0" bIns="0" rtlCol="0" anchor="ctr"/>
          <a:lstStyle/>
          <a:p>
            <a:pPr marL="0" indent="0" algn="ctr">
              <a:lnSpc>
                <a:spcPct val="92000"/>
              </a:lnSpc>
              <a:buNone/>
            </a:pPr>
            <a:r>
              <a:rPr lang="en-US" sz="1600" dirty="0">
                <a:solidFill>
                  <a:srgbClr val="2B3644"/>
                </a:solidFill>
                <a:latin typeface="Arial" pitchFamily="34" charset="0"/>
                <a:ea typeface="Arial" pitchFamily="34" charset="-122"/>
                <a:cs typeface="Arial" pitchFamily="34" charset="-120"/>
              </a:rPr>
              <a:t>Research / design loop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125</Words>
  <Application>Microsoft Office PowerPoint</Application>
  <PresentationFormat>Custom</PresentationFormat>
  <Paragraphs>35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等线</vt: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paradigms for biological model improvement</dc:title>
  <dc:subject>PptxGenJS Presentation</dc:subject>
  <dc:creator/>
  <cp:lastModifiedBy>Kai YU 俞开</cp:lastModifiedBy>
  <cp:revision>6</cp:revision>
  <dcterms:created xsi:type="dcterms:W3CDTF">2026-09-25T19:55:47Z</dcterms:created>
  <dcterms:modified xsi:type="dcterms:W3CDTF">2026-09-26T09:24:09Z</dcterms:modified>
</cp:coreProperties>
</file>