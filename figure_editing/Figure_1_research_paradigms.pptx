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0058400" cy="5577840"/>
  <p:notesSz cx="557784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counterpart of manuscript Figure 1. Native PowerPoint text, shapes and arrows. Layout preserves the three active source paradigms. Editing this deck does not update the paper until it is exported and explicitly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_0"/>
          <p:cNvSpPr txBox="1"/>
          <p:nvPr/>
        </p:nvSpPr>
        <p:spPr>
          <a:xfrm>
            <a:off x="71247" y="109040"/>
            <a:ext cx="3168396" cy="318734"/>
          </a:xfrm>
          <a:prstGeom prst="rect">
            <a:avLst/>
          </a:prstGeom>
          <a:noFill/>
          <a:ln/>
        </p:spPr>
        <p:txBody>
          <a:bodyPr wrap="square" lIns="0" tIns="0" rIns="0" bIns="0" rtlCol="0" anchor="ctr"/>
          <a:lstStyle/>
          <a:p>
            <a:pPr algn="ctr" indent="0" marL="0">
              <a:lnSpc>
                <a:spcPct val="100000"/>
              </a:lnSpc>
              <a:buNone/>
            </a:pPr>
            <a:r>
              <a:rPr lang="en-US" sz="1560" b="1" dirty="0">
                <a:solidFill>
                  <a:srgbClr val="172B3A"/>
                </a:solidFill>
                <a:latin typeface="DejaVu Sans" pitchFamily="34" charset="0"/>
                <a:ea typeface="DejaVu Sans" pitchFamily="34" charset="-122"/>
                <a:cs typeface="DejaVu Sans" pitchFamily="34" charset="-120"/>
              </a:rPr>
              <a:t>(a) Centralized bio-agent</a:t>
            </a:r>
            <a:endParaRPr lang="en-US" sz="1560" dirty="0"/>
          </a:p>
        </p:txBody>
      </p:sp>
      <p:sp>
        <p:nvSpPr>
          <p:cNvPr id="3" name="subtitle_0"/>
          <p:cNvSpPr txBox="1"/>
          <p:nvPr/>
        </p:nvSpPr>
        <p:spPr>
          <a:xfrm>
            <a:off x="100584" y="398417"/>
            <a:ext cx="3109722" cy="260020"/>
          </a:xfrm>
          <a:prstGeom prst="rect">
            <a:avLst/>
          </a:prstGeom>
          <a:noFill/>
          <a:ln/>
        </p:spPr>
        <p:txBody>
          <a:bodyPr wrap="square" lIns="0" tIns="0" rIns="0" bIns="0" rtlCol="0" anchor="ctr"/>
          <a:lstStyle/>
          <a:p>
            <a:pPr algn="ctr" indent="0" marL="0">
              <a:lnSpc>
                <a:spcPct val="100000"/>
              </a:lnSpc>
              <a:buNone/>
            </a:pPr>
            <a:r>
              <a:rPr lang="en-US" sz="1360" dirty="0">
                <a:solidFill>
                  <a:srgbClr val="536475"/>
                </a:solidFill>
                <a:latin typeface="DejaVu Sans" pitchFamily="34" charset="0"/>
                <a:ea typeface="DejaVu Sans" pitchFamily="34" charset="-122"/>
                <a:cs typeface="DejaVu Sans" pitchFamily="34" charset="-120"/>
              </a:rPr>
              <a:t>Centralized access</a:t>
            </a:r>
            <a:endParaRPr lang="en-US" sz="1360" dirty="0"/>
          </a:p>
        </p:txBody>
      </p:sp>
      <p:sp>
        <p:nvSpPr>
          <p:cNvPr id="4" name="panel_0_research"/>
          <p:cNvSpPr/>
          <p:nvPr/>
        </p:nvSpPr>
        <p:spPr>
          <a:xfrm>
            <a:off x="544830" y="796834"/>
            <a:ext cx="2221230" cy="561978"/>
          </a:xfrm>
          <a:prstGeom prst="roundRect">
            <a:avLst>
              <a:gd name="adj" fmla="val 9763"/>
            </a:avLst>
          </a:prstGeom>
          <a:solidFill>
            <a:srgbClr val="F1EAF7"/>
          </a:solidFill>
          <a:ln w="16510">
            <a:solidFill>
              <a:srgbClr val="76539A"/>
            </a:solidFill>
            <a:prstDash val="solid"/>
          </a:ln>
        </p:spPr>
      </p:sp>
      <p:sp>
        <p:nvSpPr>
          <p:cNvPr id="5" name="panel_0_research_text"/>
          <p:cNvSpPr txBox="1"/>
          <p:nvPr/>
        </p:nvSpPr>
        <p:spPr>
          <a:xfrm>
            <a:off x="578358" y="817804"/>
            <a:ext cx="2154174" cy="520039"/>
          </a:xfrm>
          <a:prstGeom prst="rect">
            <a:avLst/>
          </a:prstGeom>
          <a:noFill/>
          <a:ln/>
        </p:spPr>
        <p:txBody>
          <a:bodyPr wrap="square" lIns="0" tIns="0" rIns="0" bIns="0" rtlCol="0" anchor="ctr"/>
          <a:lstStyle/>
          <a:p>
            <a:pPr algn="ctr" indent="0" marL="0">
              <a:lnSpc>
                <a:spcPct val="100000"/>
              </a:lnSpc>
              <a:buNone/>
            </a:pPr>
            <a:r>
              <a:rPr lang="en-US" sz="1440" b="1" dirty="0">
                <a:solidFill>
                  <a:srgbClr val="76539A"/>
                </a:solidFill>
                <a:latin typeface="DejaVu Sans" pitchFamily="34" charset="0"/>
                <a:ea typeface="DejaVu Sans" pitchFamily="34" charset="-122"/>
                <a:cs typeface="DejaVu Sans" pitchFamily="34" charset="-120"/>
              </a:rPr>
              <a:t>Research harness</a:t>
            </a:r>
            <a:endParaRPr lang="en-US" sz="1440" dirty="0"/>
          </a:p>
          <a:p>
            <a:pPr algn="ctr" indent="0" marL="0">
              <a:lnSpc>
                <a:spcPct val="100000"/>
              </a:lnSpc>
              <a:buNone/>
            </a:pPr>
            <a:r>
              <a:rPr lang="en-US" sz="1440" b="1" dirty="0">
                <a:solidFill>
                  <a:srgbClr val="76539A"/>
                </a:solidFill>
                <a:latin typeface="DejaVu Sans" pitchFamily="34" charset="0"/>
                <a:ea typeface="DejaVu Sans" pitchFamily="34" charset="-122"/>
                <a:cs typeface="DejaVu Sans" pitchFamily="34" charset="-120"/>
              </a:rPr>
              <a:t>Propose · remember</a:t>
            </a:r>
            <a:endParaRPr lang="en-US" sz="1440" dirty="0"/>
          </a:p>
        </p:txBody>
      </p:sp>
      <p:sp>
        <p:nvSpPr>
          <p:cNvPr id="6" name="panel_0_model"/>
          <p:cNvSpPr/>
          <p:nvPr/>
        </p:nvSpPr>
        <p:spPr>
          <a:xfrm>
            <a:off x="653796" y="1677546"/>
            <a:ext cx="2003298" cy="545202"/>
          </a:xfrm>
          <a:prstGeom prst="roundRect">
            <a:avLst>
              <a:gd name="adj" fmla="val 10063"/>
            </a:avLst>
          </a:prstGeom>
          <a:solidFill>
            <a:srgbClr val="E8F1F8"/>
          </a:solidFill>
          <a:ln w="16510">
            <a:solidFill>
              <a:srgbClr val="356FA3"/>
            </a:solidFill>
            <a:prstDash val="solid"/>
          </a:ln>
        </p:spPr>
      </p:sp>
      <p:sp>
        <p:nvSpPr>
          <p:cNvPr id="7" name="panel_0_model_text"/>
          <p:cNvSpPr txBox="1"/>
          <p:nvPr/>
        </p:nvSpPr>
        <p:spPr>
          <a:xfrm>
            <a:off x="687324" y="1698515"/>
            <a:ext cx="1936242" cy="503264"/>
          </a:xfrm>
          <a:prstGeom prst="rect">
            <a:avLst/>
          </a:prstGeom>
          <a:noFill/>
          <a:ln/>
        </p:spPr>
        <p:txBody>
          <a:bodyPr wrap="square" lIns="0" tIns="0" rIns="0" bIns="0" rtlCol="0" anchor="ctr"/>
          <a:lstStyle/>
          <a:p>
            <a:pPr algn="ctr" indent="0" marL="0">
              <a:lnSpc>
                <a:spcPct val="100000"/>
              </a:lnSpc>
              <a:buNone/>
            </a:pPr>
            <a:r>
              <a:rPr lang="en-US" sz="1440" b="1" dirty="0">
                <a:solidFill>
                  <a:srgbClr val="356FA3"/>
                </a:solidFill>
                <a:latin typeface="DejaVu Sans" pitchFamily="34" charset="0"/>
                <a:ea typeface="DejaVu Sans" pitchFamily="34" charset="-122"/>
                <a:cs typeface="DejaVu Sans" pitchFamily="34" charset="-120"/>
              </a:rPr>
              <a:t>Model design</a:t>
            </a:r>
            <a:endParaRPr lang="en-US" sz="1440" dirty="0"/>
          </a:p>
          <a:p>
            <a:pPr algn="ctr" indent="0" marL="0">
              <a:lnSpc>
                <a:spcPct val="100000"/>
              </a:lnSpc>
              <a:buNone/>
            </a:pPr>
            <a:r>
              <a:rPr lang="en-US" sz="1440" b="1" dirty="0">
                <a:solidFill>
                  <a:srgbClr val="356FA3"/>
                </a:solidFill>
                <a:latin typeface="DejaVu Sans" pitchFamily="34" charset="0"/>
                <a:ea typeface="DejaVu Sans" pitchFamily="34" charset="-122"/>
                <a:cs typeface="DejaVu Sans" pitchFamily="34" charset="-120"/>
              </a:rPr>
              <a:t>+ predictor</a:t>
            </a:r>
            <a:endParaRPr lang="en-US" sz="1440" dirty="0"/>
          </a:p>
        </p:txBody>
      </p:sp>
      <p:sp>
        <p:nvSpPr>
          <p:cNvPr id="8" name="panel_0_fitting"/>
          <p:cNvSpPr/>
          <p:nvPr/>
        </p:nvSpPr>
        <p:spPr>
          <a:xfrm>
            <a:off x="653796" y="2616972"/>
            <a:ext cx="2003298" cy="545202"/>
          </a:xfrm>
          <a:prstGeom prst="roundRect">
            <a:avLst>
              <a:gd name="adj" fmla="val 10063"/>
            </a:avLst>
          </a:prstGeom>
          <a:solidFill>
            <a:srgbClr val="E8F1F8"/>
          </a:solidFill>
          <a:ln w="16510">
            <a:solidFill>
              <a:srgbClr val="356FA3"/>
            </a:solidFill>
            <a:prstDash val="solid"/>
          </a:ln>
        </p:spPr>
      </p:sp>
      <p:sp>
        <p:nvSpPr>
          <p:cNvPr id="9" name="panel_0_fitting_text"/>
          <p:cNvSpPr txBox="1"/>
          <p:nvPr/>
        </p:nvSpPr>
        <p:spPr>
          <a:xfrm>
            <a:off x="687324" y="2637941"/>
            <a:ext cx="1936242" cy="503264"/>
          </a:xfrm>
          <a:prstGeom prst="rect">
            <a:avLst/>
          </a:prstGeom>
          <a:noFill/>
          <a:ln/>
        </p:spPr>
        <p:txBody>
          <a:bodyPr wrap="square" lIns="0" tIns="0" rIns="0" bIns="0" rtlCol="0" anchor="ctr"/>
          <a:lstStyle/>
          <a:p>
            <a:pPr algn="ctr" indent="0" marL="0">
              <a:lnSpc>
                <a:spcPct val="100000"/>
              </a:lnSpc>
              <a:buNone/>
            </a:pPr>
            <a:r>
              <a:rPr lang="en-US" sz="1400" b="1" dirty="0">
                <a:solidFill>
                  <a:srgbClr val="356FA3"/>
                </a:solidFill>
                <a:latin typeface="DejaVu Sans" pitchFamily="34" charset="0"/>
                <a:ea typeface="DejaVu Sans" pitchFamily="34" charset="-122"/>
                <a:cs typeface="DejaVu Sans" pitchFamily="34" charset="-120"/>
              </a:rPr>
              <a:t>Local fitting</a:t>
            </a:r>
            <a:endParaRPr lang="en-US" sz="1400" dirty="0"/>
          </a:p>
          <a:p>
            <a:pPr algn="ctr" indent="0" marL="0">
              <a:lnSpc>
                <a:spcPct val="100000"/>
              </a:lnSpc>
              <a:buNone/>
            </a:pPr>
            <a:r>
              <a:rPr lang="en-US" sz="1400" b="1" dirty="0">
                <a:solidFill>
                  <a:srgbClr val="356FA3"/>
                </a:solidFill>
                <a:latin typeface="DejaVu Sans" pitchFamily="34" charset="0"/>
                <a:ea typeface="DejaVu Sans" pitchFamily="34" charset="-122"/>
                <a:cs typeface="DejaVu Sans" pitchFamily="34" charset="-120"/>
              </a:rPr>
              <a:t>+ evaluation</a:t>
            </a:r>
            <a:endParaRPr lang="en-US" sz="1400" dirty="0"/>
          </a:p>
        </p:txBody>
      </p:sp>
      <p:sp>
        <p:nvSpPr>
          <p:cNvPr id="10" name="panel_0_data"/>
          <p:cNvSpPr/>
          <p:nvPr/>
        </p:nvSpPr>
        <p:spPr>
          <a:xfrm>
            <a:off x="1022604" y="3791254"/>
            <a:ext cx="1265682" cy="553590"/>
          </a:xfrm>
          <a:prstGeom prst="roundRect">
            <a:avLst>
              <a:gd name="adj" fmla="val 9911"/>
            </a:avLst>
          </a:prstGeom>
          <a:solidFill>
            <a:srgbClr val="E7F5F2"/>
          </a:solidFill>
          <a:ln w="16510">
            <a:solidFill>
              <a:srgbClr val="238B7B"/>
            </a:solidFill>
            <a:prstDash val="solid"/>
          </a:ln>
        </p:spPr>
      </p:sp>
      <p:sp>
        <p:nvSpPr>
          <p:cNvPr id="11" name="panel_0_data_text"/>
          <p:cNvSpPr txBox="1"/>
          <p:nvPr/>
        </p:nvSpPr>
        <p:spPr>
          <a:xfrm>
            <a:off x="1056132" y="3812223"/>
            <a:ext cx="1198626" cy="511651"/>
          </a:xfrm>
          <a:prstGeom prst="rect">
            <a:avLst/>
          </a:prstGeom>
          <a:noFill/>
          <a:ln/>
        </p:spPr>
        <p:txBody>
          <a:bodyPr wrap="square" lIns="0" tIns="0" rIns="0" bIns="0" rtlCol="0" anchor="ctr"/>
          <a:lstStyle/>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Accessible</a:t>
            </a:r>
            <a:endParaRPr lang="en-US" sz="1400" dirty="0"/>
          </a:p>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local data</a:t>
            </a:r>
            <a:endParaRPr lang="en-US" sz="1400" dirty="0"/>
          </a:p>
        </p:txBody>
      </p:sp>
      <p:sp>
        <p:nvSpPr>
          <p:cNvPr id="12" name="panel_0_model_down"/>
          <p:cNvSpPr/>
          <p:nvPr/>
        </p:nvSpPr>
        <p:spPr>
          <a:xfrm>
            <a:off x="1072896" y="2231136"/>
            <a:ext cx="0" cy="369060"/>
          </a:xfrm>
          <a:prstGeom prst="line">
            <a:avLst/>
          </a:prstGeom>
          <a:noFill/>
          <a:ln w="16510">
            <a:solidFill>
              <a:srgbClr val="356FA3"/>
            </a:solidFill>
            <a:prstDash val="solid"/>
            <a:headEnd type="none"/>
            <a:tailEnd type="triangle"/>
          </a:ln>
        </p:spPr>
      </p:sp>
      <p:sp>
        <p:nvSpPr>
          <p:cNvPr id="13" name="panel_0_model_up"/>
          <p:cNvSpPr/>
          <p:nvPr/>
        </p:nvSpPr>
        <p:spPr>
          <a:xfrm>
            <a:off x="2237994" y="2239524"/>
            <a:ext cx="0" cy="369060"/>
          </a:xfrm>
          <a:prstGeom prst="line">
            <a:avLst/>
          </a:prstGeom>
          <a:noFill/>
          <a:ln w="16510">
            <a:solidFill>
              <a:srgbClr val="356FA3"/>
            </a:solidFill>
            <a:prstDash val="solid"/>
            <a:headEnd type="triangle"/>
            <a:tailEnd type="none"/>
          </a:ln>
        </p:spPr>
      </p:sp>
      <p:sp>
        <p:nvSpPr>
          <p:cNvPr id="14" name="panel_0_data_up"/>
          <p:cNvSpPr/>
          <p:nvPr/>
        </p:nvSpPr>
        <p:spPr>
          <a:xfrm>
            <a:off x="1655445" y="3178949"/>
            <a:ext cx="0" cy="595529"/>
          </a:xfrm>
          <a:prstGeom prst="line">
            <a:avLst/>
          </a:prstGeom>
          <a:noFill/>
          <a:ln w="16510">
            <a:solidFill>
              <a:srgbClr val="238B7B"/>
            </a:solidFill>
            <a:prstDash val="solid"/>
            <a:headEnd type="triangle"/>
            <a:tailEnd type="none"/>
          </a:ln>
        </p:spPr>
      </p:sp>
      <p:sp>
        <p:nvSpPr>
          <p:cNvPr id="15" name="panel_0_proposal"/>
          <p:cNvSpPr/>
          <p:nvPr/>
        </p:nvSpPr>
        <p:spPr>
          <a:xfrm>
            <a:off x="1207008" y="1367200"/>
            <a:ext cx="0" cy="293571"/>
          </a:xfrm>
          <a:prstGeom prst="line">
            <a:avLst/>
          </a:prstGeom>
          <a:noFill/>
          <a:ln w="16510">
            <a:solidFill>
              <a:srgbClr val="76539A"/>
            </a:solidFill>
            <a:prstDash val="solid"/>
            <a:headEnd type="none"/>
            <a:tailEnd type="triangle"/>
          </a:ln>
        </p:spPr>
      </p:sp>
      <p:sp>
        <p:nvSpPr>
          <p:cNvPr id="16" name="panel_0_feedback_0"/>
          <p:cNvSpPr/>
          <p:nvPr/>
        </p:nvSpPr>
        <p:spPr>
          <a:xfrm>
            <a:off x="2665476" y="2893767"/>
            <a:ext cx="301752" cy="0"/>
          </a:xfrm>
          <a:prstGeom prst="line">
            <a:avLst/>
          </a:prstGeom>
          <a:noFill/>
          <a:ln w="16510">
            <a:solidFill>
              <a:srgbClr val="C76A28"/>
            </a:solidFill>
            <a:prstDash val="solid"/>
            <a:headEnd type="none"/>
            <a:tailEnd type="none"/>
          </a:ln>
        </p:spPr>
      </p:sp>
      <p:sp>
        <p:nvSpPr>
          <p:cNvPr id="17" name="panel_0_feedback_1"/>
          <p:cNvSpPr/>
          <p:nvPr/>
        </p:nvSpPr>
        <p:spPr>
          <a:xfrm>
            <a:off x="2967228" y="1082017"/>
            <a:ext cx="0" cy="1811750"/>
          </a:xfrm>
          <a:prstGeom prst="line">
            <a:avLst/>
          </a:prstGeom>
          <a:noFill/>
          <a:ln w="16510">
            <a:solidFill>
              <a:srgbClr val="C76A28"/>
            </a:solidFill>
            <a:prstDash val="solid"/>
            <a:headEnd type="none"/>
            <a:tailEnd type="none"/>
          </a:ln>
        </p:spPr>
      </p:sp>
      <p:sp>
        <p:nvSpPr>
          <p:cNvPr id="18" name="panel_0_feedback_2"/>
          <p:cNvSpPr/>
          <p:nvPr/>
        </p:nvSpPr>
        <p:spPr>
          <a:xfrm>
            <a:off x="2774442" y="1082017"/>
            <a:ext cx="192786" cy="0"/>
          </a:xfrm>
          <a:prstGeom prst="line">
            <a:avLst/>
          </a:prstGeom>
          <a:noFill/>
          <a:ln w="16510">
            <a:solidFill>
              <a:srgbClr val="C76A28"/>
            </a:solidFill>
            <a:prstDash val="solid"/>
            <a:headEnd type="triangle"/>
            <a:tailEnd type="none"/>
          </a:ln>
        </p:spPr>
      </p:sp>
      <p:sp>
        <p:nvSpPr>
          <p:cNvPr id="19" name="panel_0_feedback_label"/>
          <p:cNvSpPr/>
          <p:nvPr/>
        </p:nvSpPr>
        <p:spPr>
          <a:xfrm>
            <a:off x="3034284" y="1274935"/>
            <a:ext cx="251460" cy="1442689"/>
          </a:xfrm>
          <a:prstGeom prst="rect">
            <a:avLst/>
          </a:prstGeom>
          <a:noFill/>
          <a:ln/>
        </p:spPr>
        <p:txBody>
          <a:bodyPr wrap="square" lIns="0" tIns="0" rIns="0" bIns="0" rtlCol="0" anchor="ctr" vert="vert270"/>
          <a:lstStyle/>
          <a:p>
            <a:pPr algn="ctr" indent="0" marL="0">
              <a:buNone/>
            </a:pPr>
            <a:r>
              <a:rPr lang="en-US" sz="1340" dirty="0">
                <a:solidFill>
                  <a:srgbClr val="C76A28"/>
                </a:solidFill>
                <a:latin typeface="DejaVu Sans" pitchFamily="34" charset="0"/>
                <a:ea typeface="DejaVu Sans" pitchFamily="34" charset="-122"/>
                <a:cs typeface="DejaVu Sans" pitchFamily="34" charset="-120"/>
              </a:rPr>
              <a:t>Results</a:t>
            </a:r>
            <a:endParaRPr lang="en-US" sz="1340" dirty="0"/>
          </a:p>
        </p:txBody>
      </p:sp>
      <p:sp>
        <p:nvSpPr>
          <p:cNvPr id="20" name="title_1"/>
          <p:cNvSpPr txBox="1"/>
          <p:nvPr/>
        </p:nvSpPr>
        <p:spPr>
          <a:xfrm>
            <a:off x="3424047" y="109040"/>
            <a:ext cx="3168396" cy="318734"/>
          </a:xfrm>
          <a:prstGeom prst="rect">
            <a:avLst/>
          </a:prstGeom>
          <a:noFill/>
          <a:ln/>
        </p:spPr>
        <p:txBody>
          <a:bodyPr wrap="square" lIns="0" tIns="0" rIns="0" bIns="0" rtlCol="0" anchor="ctr"/>
          <a:lstStyle/>
          <a:p>
            <a:pPr algn="ctr" indent="0" marL="0">
              <a:lnSpc>
                <a:spcPct val="100000"/>
              </a:lnSpc>
              <a:buNone/>
            </a:pPr>
            <a:r>
              <a:rPr lang="en-US" sz="1560" b="1" dirty="0">
                <a:solidFill>
                  <a:srgbClr val="172B3A"/>
                </a:solidFill>
                <a:latin typeface="DejaVu Sans" pitchFamily="34" charset="0"/>
                <a:ea typeface="DejaVu Sans" pitchFamily="34" charset="-122"/>
                <a:cs typeface="DejaVu Sans" pitchFamily="34" charset="-120"/>
              </a:rPr>
              <a:t>(b) Collaborative training</a:t>
            </a:r>
            <a:endParaRPr lang="en-US" sz="1560" dirty="0"/>
          </a:p>
        </p:txBody>
      </p:sp>
      <p:sp>
        <p:nvSpPr>
          <p:cNvPr id="21" name="subtitle_1"/>
          <p:cNvSpPr txBox="1"/>
          <p:nvPr/>
        </p:nvSpPr>
        <p:spPr>
          <a:xfrm>
            <a:off x="3453384" y="398417"/>
            <a:ext cx="3109722" cy="260020"/>
          </a:xfrm>
          <a:prstGeom prst="rect">
            <a:avLst/>
          </a:prstGeom>
          <a:noFill/>
          <a:ln/>
        </p:spPr>
        <p:txBody>
          <a:bodyPr wrap="square" lIns="0" tIns="0" rIns="0" bIns="0" rtlCol="0" anchor="ctr"/>
          <a:lstStyle/>
          <a:p>
            <a:pPr algn="ctr" indent="0" marL="0">
              <a:lnSpc>
                <a:spcPct val="100000"/>
              </a:lnSpc>
              <a:buNone/>
            </a:pPr>
            <a:r>
              <a:rPr lang="en-US" sz="1360" dirty="0">
                <a:solidFill>
                  <a:srgbClr val="536475"/>
                </a:solidFill>
                <a:latin typeface="DejaVu Sans" pitchFamily="34" charset="0"/>
                <a:ea typeface="DejaVu Sans" pitchFamily="34" charset="-122"/>
                <a:cs typeface="DejaVu Sans" pitchFamily="34" charset="-120"/>
              </a:rPr>
              <a:t>Fixed design</a:t>
            </a:r>
            <a:endParaRPr lang="en-US" sz="1360" dirty="0"/>
          </a:p>
        </p:txBody>
      </p:sp>
      <p:sp>
        <p:nvSpPr>
          <p:cNvPr id="22" name="panel_1_research"/>
          <p:cNvSpPr/>
          <p:nvPr/>
        </p:nvSpPr>
        <p:spPr>
          <a:xfrm>
            <a:off x="3897630" y="796834"/>
            <a:ext cx="2221230" cy="561978"/>
          </a:xfrm>
          <a:prstGeom prst="roundRect">
            <a:avLst>
              <a:gd name="adj" fmla="val 9763"/>
            </a:avLst>
          </a:prstGeom>
          <a:solidFill>
            <a:srgbClr val="F4F6F7"/>
          </a:solidFill>
          <a:ln w="16510">
            <a:solidFill>
              <a:srgbClr val="8B98A3"/>
            </a:solidFill>
            <a:prstDash val="dash"/>
          </a:ln>
        </p:spPr>
      </p:sp>
      <p:sp>
        <p:nvSpPr>
          <p:cNvPr id="23" name="panel_1_research_text"/>
          <p:cNvSpPr txBox="1"/>
          <p:nvPr/>
        </p:nvSpPr>
        <p:spPr>
          <a:xfrm>
            <a:off x="3931158" y="817804"/>
            <a:ext cx="2154174" cy="520039"/>
          </a:xfrm>
          <a:prstGeom prst="rect">
            <a:avLst/>
          </a:prstGeom>
          <a:noFill/>
          <a:ln/>
        </p:spPr>
        <p:txBody>
          <a:bodyPr wrap="square" lIns="0" tIns="0" rIns="0" bIns="0" rtlCol="0" anchor="ctr"/>
          <a:lstStyle/>
          <a:p>
            <a:pPr algn="ctr" indent="0" marL="0">
              <a:lnSpc>
                <a:spcPct val="100000"/>
              </a:lnSpc>
              <a:buNone/>
            </a:pPr>
            <a:r>
              <a:rPr lang="en-US" sz="1440" b="1" dirty="0">
                <a:solidFill>
                  <a:srgbClr val="8B98A3"/>
                </a:solidFill>
                <a:latin typeface="DejaVu Sans" pitchFamily="34" charset="0"/>
                <a:ea typeface="DejaVu Sans" pitchFamily="34" charset="-122"/>
                <a:cs typeface="DejaVu Sans" pitchFamily="34" charset="-120"/>
              </a:rPr>
              <a:t>Research harness</a:t>
            </a:r>
            <a:endParaRPr lang="en-US" sz="1440" dirty="0"/>
          </a:p>
          <a:p>
            <a:pPr algn="ctr" indent="0" marL="0">
              <a:lnSpc>
                <a:spcPct val="100000"/>
              </a:lnSpc>
              <a:buNone/>
            </a:pPr>
            <a:r>
              <a:rPr lang="en-US" sz="1440" b="1" dirty="0">
                <a:solidFill>
                  <a:srgbClr val="8B98A3"/>
                </a:solidFill>
                <a:latin typeface="DejaVu Sans" pitchFamily="34" charset="0"/>
                <a:ea typeface="DejaVu Sans" pitchFamily="34" charset="-122"/>
                <a:cs typeface="DejaVu Sans" pitchFamily="34" charset="-120"/>
              </a:rPr>
              <a:t>Propose · remember</a:t>
            </a:r>
            <a:endParaRPr lang="en-US" sz="1440" dirty="0"/>
          </a:p>
        </p:txBody>
      </p:sp>
      <p:sp>
        <p:nvSpPr>
          <p:cNvPr id="24" name="panel_1_model"/>
          <p:cNvSpPr/>
          <p:nvPr/>
        </p:nvSpPr>
        <p:spPr>
          <a:xfrm>
            <a:off x="4006596" y="1677546"/>
            <a:ext cx="2003298" cy="545202"/>
          </a:xfrm>
          <a:prstGeom prst="roundRect">
            <a:avLst>
              <a:gd name="adj" fmla="val 10063"/>
            </a:avLst>
          </a:prstGeom>
          <a:solidFill>
            <a:srgbClr val="E8F1F8"/>
          </a:solidFill>
          <a:ln w="16510">
            <a:solidFill>
              <a:srgbClr val="356FA3"/>
            </a:solidFill>
            <a:prstDash val="solid"/>
          </a:ln>
        </p:spPr>
      </p:sp>
      <p:sp>
        <p:nvSpPr>
          <p:cNvPr id="25" name="panel_1_model_text"/>
          <p:cNvSpPr txBox="1"/>
          <p:nvPr/>
        </p:nvSpPr>
        <p:spPr>
          <a:xfrm>
            <a:off x="4040124" y="1698515"/>
            <a:ext cx="1936242" cy="503264"/>
          </a:xfrm>
          <a:prstGeom prst="rect">
            <a:avLst/>
          </a:prstGeom>
          <a:noFill/>
          <a:ln/>
        </p:spPr>
        <p:txBody>
          <a:bodyPr wrap="square" lIns="0" tIns="0" rIns="0" bIns="0" rtlCol="0" anchor="ctr"/>
          <a:lstStyle/>
          <a:p>
            <a:pPr algn="ctr" indent="0" marL="0">
              <a:lnSpc>
                <a:spcPct val="100000"/>
              </a:lnSpc>
              <a:buNone/>
            </a:pPr>
            <a:r>
              <a:rPr lang="en-US" sz="1440" b="1" dirty="0">
                <a:solidFill>
                  <a:srgbClr val="356FA3"/>
                </a:solidFill>
                <a:latin typeface="DejaVu Sans" pitchFamily="34" charset="0"/>
                <a:ea typeface="DejaVu Sans" pitchFamily="34" charset="-122"/>
                <a:cs typeface="DejaVu Sans" pitchFamily="34" charset="-120"/>
              </a:rPr>
              <a:t>Model design</a:t>
            </a:r>
            <a:endParaRPr lang="en-US" sz="1440" dirty="0"/>
          </a:p>
          <a:p>
            <a:pPr algn="ctr" indent="0" marL="0">
              <a:lnSpc>
                <a:spcPct val="100000"/>
              </a:lnSpc>
              <a:buNone/>
            </a:pPr>
            <a:r>
              <a:rPr lang="en-US" sz="1440" b="1" dirty="0">
                <a:solidFill>
                  <a:srgbClr val="356FA3"/>
                </a:solidFill>
                <a:latin typeface="DejaVu Sans" pitchFamily="34" charset="0"/>
                <a:ea typeface="DejaVu Sans" pitchFamily="34" charset="-122"/>
                <a:cs typeface="DejaVu Sans" pitchFamily="34" charset="-120"/>
              </a:rPr>
              <a:t>+ predictor</a:t>
            </a:r>
            <a:endParaRPr lang="en-US" sz="1440" dirty="0"/>
          </a:p>
        </p:txBody>
      </p:sp>
      <p:sp>
        <p:nvSpPr>
          <p:cNvPr id="26" name="panel_1_fitting"/>
          <p:cNvSpPr/>
          <p:nvPr/>
        </p:nvSpPr>
        <p:spPr>
          <a:xfrm>
            <a:off x="4006596" y="2616972"/>
            <a:ext cx="2003298" cy="545202"/>
          </a:xfrm>
          <a:prstGeom prst="roundRect">
            <a:avLst>
              <a:gd name="adj" fmla="val 10063"/>
            </a:avLst>
          </a:prstGeom>
          <a:solidFill>
            <a:srgbClr val="FBEDE3"/>
          </a:solidFill>
          <a:ln w="16510">
            <a:solidFill>
              <a:srgbClr val="C76A28"/>
            </a:solidFill>
            <a:prstDash val="solid"/>
          </a:ln>
        </p:spPr>
      </p:sp>
      <p:sp>
        <p:nvSpPr>
          <p:cNvPr id="27" name="panel_1_fitting_text"/>
          <p:cNvSpPr txBox="1"/>
          <p:nvPr/>
        </p:nvSpPr>
        <p:spPr>
          <a:xfrm>
            <a:off x="4040124" y="2637941"/>
            <a:ext cx="1936242" cy="503264"/>
          </a:xfrm>
          <a:prstGeom prst="rect">
            <a:avLst/>
          </a:prstGeom>
          <a:noFill/>
          <a:ln/>
        </p:spPr>
        <p:txBody>
          <a:bodyPr wrap="square" lIns="0" tIns="0" rIns="0" bIns="0" rtlCol="0" anchor="ctr"/>
          <a:lstStyle/>
          <a:p>
            <a:pPr algn="ctr" indent="0" marL="0">
              <a:lnSpc>
                <a:spcPct val="100000"/>
              </a:lnSpc>
              <a:buNone/>
            </a:pPr>
            <a:r>
              <a:rPr lang="en-US" sz="1400" b="1" dirty="0">
                <a:solidFill>
                  <a:srgbClr val="C76A28"/>
                </a:solidFill>
                <a:latin typeface="DejaVu Sans" pitchFamily="34" charset="0"/>
                <a:ea typeface="DejaVu Sans" pitchFamily="34" charset="-122"/>
                <a:cs typeface="DejaVu Sans" pitchFamily="34" charset="-120"/>
              </a:rPr>
              <a:t>Aggregate updates</a:t>
            </a:r>
            <a:endParaRPr lang="en-US" sz="1400" dirty="0"/>
          </a:p>
          <a:p>
            <a:pPr algn="ctr" indent="0" marL="0">
              <a:lnSpc>
                <a:spcPct val="100000"/>
              </a:lnSpc>
              <a:buNone/>
            </a:pPr>
            <a:r>
              <a:rPr lang="en-US" sz="1400" b="1" dirty="0">
                <a:solidFill>
                  <a:srgbClr val="C76A28"/>
                </a:solidFill>
                <a:latin typeface="DejaVu Sans" pitchFamily="34" charset="0"/>
                <a:ea typeface="DejaVu Sans" pitchFamily="34" charset="-122"/>
                <a:cs typeface="DejaVu Sans" pitchFamily="34" charset="-120"/>
              </a:rPr>
              <a:t>+ scores</a:t>
            </a:r>
            <a:endParaRPr lang="en-US" sz="1400" dirty="0"/>
          </a:p>
        </p:txBody>
      </p:sp>
      <p:sp>
        <p:nvSpPr>
          <p:cNvPr id="28" name="panel_1_lab_0"/>
          <p:cNvSpPr/>
          <p:nvPr/>
        </p:nvSpPr>
        <p:spPr>
          <a:xfrm>
            <a:off x="3553968" y="3791254"/>
            <a:ext cx="762762" cy="553590"/>
          </a:xfrm>
          <a:prstGeom prst="roundRect">
            <a:avLst>
              <a:gd name="adj" fmla="val 9911"/>
            </a:avLst>
          </a:prstGeom>
          <a:solidFill>
            <a:srgbClr val="E7F5F2"/>
          </a:solidFill>
          <a:ln w="16510">
            <a:solidFill>
              <a:srgbClr val="238B7B"/>
            </a:solidFill>
            <a:prstDash val="solid"/>
          </a:ln>
        </p:spPr>
      </p:sp>
      <p:sp>
        <p:nvSpPr>
          <p:cNvPr id="29" name="panel_1_lab_0_text"/>
          <p:cNvSpPr txBox="1"/>
          <p:nvPr/>
        </p:nvSpPr>
        <p:spPr>
          <a:xfrm>
            <a:off x="3587496" y="3812223"/>
            <a:ext cx="695706" cy="511651"/>
          </a:xfrm>
          <a:prstGeom prst="rect">
            <a:avLst/>
          </a:prstGeom>
          <a:noFill/>
          <a:ln/>
        </p:spPr>
        <p:txBody>
          <a:bodyPr wrap="square" lIns="0" tIns="0" rIns="0" bIns="0" rtlCol="0" anchor="ctr"/>
          <a:lstStyle/>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Lab 1</a:t>
            </a:r>
            <a:endParaRPr lang="en-US" sz="1400" dirty="0"/>
          </a:p>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Data</a:t>
            </a:r>
            <a:endParaRPr lang="en-US" sz="1400" dirty="0"/>
          </a:p>
        </p:txBody>
      </p:sp>
      <p:sp>
        <p:nvSpPr>
          <p:cNvPr id="30" name="panel_1_lab_1"/>
          <p:cNvSpPr/>
          <p:nvPr/>
        </p:nvSpPr>
        <p:spPr>
          <a:xfrm>
            <a:off x="4643628" y="3791254"/>
            <a:ext cx="762762" cy="553590"/>
          </a:xfrm>
          <a:prstGeom prst="roundRect">
            <a:avLst>
              <a:gd name="adj" fmla="val 9911"/>
            </a:avLst>
          </a:prstGeom>
          <a:solidFill>
            <a:srgbClr val="E7F5F2"/>
          </a:solidFill>
          <a:ln w="16510">
            <a:solidFill>
              <a:srgbClr val="238B7B"/>
            </a:solidFill>
            <a:prstDash val="solid"/>
          </a:ln>
        </p:spPr>
      </p:sp>
      <p:sp>
        <p:nvSpPr>
          <p:cNvPr id="31" name="panel_1_lab_1_text"/>
          <p:cNvSpPr txBox="1"/>
          <p:nvPr/>
        </p:nvSpPr>
        <p:spPr>
          <a:xfrm>
            <a:off x="4677156" y="3812223"/>
            <a:ext cx="695706" cy="511651"/>
          </a:xfrm>
          <a:prstGeom prst="rect">
            <a:avLst/>
          </a:prstGeom>
          <a:noFill/>
          <a:ln/>
        </p:spPr>
        <p:txBody>
          <a:bodyPr wrap="square" lIns="0" tIns="0" rIns="0" bIns="0" rtlCol="0" anchor="ctr"/>
          <a:lstStyle/>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Lab 2</a:t>
            </a:r>
            <a:endParaRPr lang="en-US" sz="1400" dirty="0"/>
          </a:p>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Data</a:t>
            </a:r>
            <a:endParaRPr lang="en-US" sz="1400" dirty="0"/>
          </a:p>
        </p:txBody>
      </p:sp>
      <p:sp>
        <p:nvSpPr>
          <p:cNvPr id="32" name="panel_1_lab_2"/>
          <p:cNvSpPr/>
          <p:nvPr/>
        </p:nvSpPr>
        <p:spPr>
          <a:xfrm>
            <a:off x="5733288" y="3791254"/>
            <a:ext cx="762762" cy="553590"/>
          </a:xfrm>
          <a:prstGeom prst="roundRect">
            <a:avLst>
              <a:gd name="adj" fmla="val 9911"/>
            </a:avLst>
          </a:prstGeom>
          <a:solidFill>
            <a:srgbClr val="E7F5F2"/>
          </a:solidFill>
          <a:ln w="16510">
            <a:solidFill>
              <a:srgbClr val="238B7B"/>
            </a:solidFill>
            <a:prstDash val="solid"/>
          </a:ln>
        </p:spPr>
      </p:sp>
      <p:sp>
        <p:nvSpPr>
          <p:cNvPr id="33" name="panel_1_lab_2_text"/>
          <p:cNvSpPr txBox="1"/>
          <p:nvPr/>
        </p:nvSpPr>
        <p:spPr>
          <a:xfrm>
            <a:off x="5766816" y="3812223"/>
            <a:ext cx="695706" cy="511651"/>
          </a:xfrm>
          <a:prstGeom prst="rect">
            <a:avLst/>
          </a:prstGeom>
          <a:noFill/>
          <a:ln/>
        </p:spPr>
        <p:txBody>
          <a:bodyPr wrap="square" lIns="0" tIns="0" rIns="0" bIns="0" rtlCol="0" anchor="ctr"/>
          <a:lstStyle/>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Lab K</a:t>
            </a:r>
            <a:endParaRPr lang="en-US" sz="1400" dirty="0"/>
          </a:p>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Data</a:t>
            </a:r>
            <a:endParaRPr lang="en-US" sz="1400" dirty="0"/>
          </a:p>
        </p:txBody>
      </p:sp>
      <p:sp>
        <p:nvSpPr>
          <p:cNvPr id="34" name="panel_1_ellipsis"/>
          <p:cNvSpPr txBox="1"/>
          <p:nvPr/>
        </p:nvSpPr>
        <p:spPr>
          <a:xfrm>
            <a:off x="5423154" y="3933845"/>
            <a:ext cx="268224" cy="268407"/>
          </a:xfrm>
          <a:prstGeom prst="rect">
            <a:avLst/>
          </a:prstGeom>
          <a:noFill/>
          <a:ln/>
        </p:spPr>
        <p:txBody>
          <a:bodyPr wrap="square" lIns="0" tIns="0" rIns="0" bIns="0" rtlCol="0" anchor="ctr"/>
          <a:lstStyle/>
          <a:p>
            <a:pPr algn="ctr" indent="0" marL="0">
              <a:lnSpc>
                <a:spcPct val="100000"/>
              </a:lnSpc>
              <a:buNone/>
            </a:pPr>
            <a:r>
              <a:rPr lang="en-US" sz="1400" dirty="0">
                <a:solidFill>
                  <a:srgbClr val="238B7B"/>
                </a:solidFill>
                <a:latin typeface="DejaVu Sans" pitchFamily="34" charset="0"/>
                <a:ea typeface="DejaVu Sans" pitchFamily="34" charset="-122"/>
                <a:cs typeface="DejaVu Sans" pitchFamily="34" charset="-120"/>
              </a:rPr>
              <a:t>...</a:t>
            </a:r>
            <a:endParaRPr lang="en-US" sz="1400" dirty="0"/>
          </a:p>
        </p:txBody>
      </p:sp>
      <p:sp>
        <p:nvSpPr>
          <p:cNvPr id="35" name="panel_1_model_down"/>
          <p:cNvSpPr/>
          <p:nvPr/>
        </p:nvSpPr>
        <p:spPr>
          <a:xfrm>
            <a:off x="4425696" y="2231136"/>
            <a:ext cx="0" cy="369060"/>
          </a:xfrm>
          <a:prstGeom prst="line">
            <a:avLst/>
          </a:prstGeom>
          <a:noFill/>
          <a:ln w="16510">
            <a:solidFill>
              <a:srgbClr val="356FA3"/>
            </a:solidFill>
            <a:prstDash val="solid"/>
            <a:headEnd type="none"/>
            <a:tailEnd type="triangle"/>
          </a:ln>
        </p:spPr>
      </p:sp>
      <p:sp>
        <p:nvSpPr>
          <p:cNvPr id="36" name="panel_1_model_up"/>
          <p:cNvSpPr/>
          <p:nvPr/>
        </p:nvSpPr>
        <p:spPr>
          <a:xfrm>
            <a:off x="5590794" y="2239524"/>
            <a:ext cx="0" cy="369060"/>
          </a:xfrm>
          <a:prstGeom prst="line">
            <a:avLst/>
          </a:prstGeom>
          <a:noFill/>
          <a:ln w="16510">
            <a:solidFill>
              <a:srgbClr val="C76A28"/>
            </a:solidFill>
            <a:prstDash val="solid"/>
            <a:headEnd type="triangle"/>
            <a:tailEnd type="none"/>
          </a:ln>
        </p:spPr>
      </p:sp>
      <p:sp>
        <p:nvSpPr>
          <p:cNvPr id="37" name="panel_1_local_update_0"/>
          <p:cNvSpPr/>
          <p:nvPr/>
        </p:nvSpPr>
        <p:spPr>
          <a:xfrm flipV="1">
            <a:off x="3935349" y="3178949"/>
            <a:ext cx="356235" cy="595529"/>
          </a:xfrm>
          <a:prstGeom prst="line">
            <a:avLst/>
          </a:prstGeom>
          <a:noFill/>
          <a:ln w="16510">
            <a:solidFill>
              <a:srgbClr val="356FA3"/>
            </a:solidFill>
            <a:prstDash val="solid"/>
            <a:headEnd type="triangle"/>
            <a:tailEnd type="triangle"/>
          </a:ln>
        </p:spPr>
      </p:sp>
      <p:sp>
        <p:nvSpPr>
          <p:cNvPr id="38" name="panel_1_local_update_1"/>
          <p:cNvSpPr/>
          <p:nvPr/>
        </p:nvSpPr>
        <p:spPr>
          <a:xfrm>
            <a:off x="5012436" y="3178949"/>
            <a:ext cx="12573" cy="595529"/>
          </a:xfrm>
          <a:prstGeom prst="line">
            <a:avLst/>
          </a:prstGeom>
          <a:noFill/>
          <a:ln w="16510">
            <a:solidFill>
              <a:srgbClr val="356FA3"/>
            </a:solidFill>
            <a:prstDash val="solid"/>
            <a:headEnd type="triangle"/>
            <a:tailEnd type="triangle"/>
          </a:ln>
        </p:spPr>
      </p:sp>
      <p:sp>
        <p:nvSpPr>
          <p:cNvPr id="39" name="panel_1_local_update_2"/>
          <p:cNvSpPr/>
          <p:nvPr/>
        </p:nvSpPr>
        <p:spPr>
          <a:xfrm>
            <a:off x="5716524" y="3178949"/>
            <a:ext cx="398145" cy="595529"/>
          </a:xfrm>
          <a:prstGeom prst="line">
            <a:avLst/>
          </a:prstGeom>
          <a:noFill/>
          <a:ln w="16510">
            <a:solidFill>
              <a:srgbClr val="356FA3"/>
            </a:solidFill>
            <a:prstDash val="solid"/>
            <a:headEnd type="triangle"/>
            <a:tailEnd type="triangle"/>
          </a:ln>
        </p:spPr>
      </p:sp>
      <p:sp>
        <p:nvSpPr>
          <p:cNvPr id="40" name="panel_1_local_note"/>
          <p:cNvSpPr txBox="1"/>
          <p:nvPr/>
        </p:nvSpPr>
        <p:spPr>
          <a:xfrm>
            <a:off x="3461766" y="4449690"/>
            <a:ext cx="3101340" cy="276795"/>
          </a:xfrm>
          <a:prstGeom prst="rect">
            <a:avLst/>
          </a:prstGeom>
          <a:noFill/>
          <a:ln/>
        </p:spPr>
        <p:txBody>
          <a:bodyPr wrap="square" lIns="0" tIns="0" rIns="0" bIns="0" rtlCol="0" anchor="ctr"/>
          <a:lstStyle/>
          <a:p>
            <a:pPr algn="ctr" indent="0" marL="0">
              <a:lnSpc>
                <a:spcPct val="100000"/>
              </a:lnSpc>
              <a:buNone/>
            </a:pPr>
            <a:r>
              <a:rPr lang="en-US" sz="1340" dirty="0">
                <a:solidFill>
                  <a:srgbClr val="536475"/>
                </a:solidFill>
                <a:latin typeface="DejaVu Sans" pitchFamily="34" charset="0"/>
                <a:ea typeface="DejaVu Sans" pitchFamily="34" charset="-122"/>
                <a:cs typeface="DejaVu Sans" pitchFamily="34" charset="-120"/>
              </a:rPr>
              <a:t>Train locally; share updates</a:t>
            </a:r>
            <a:endParaRPr lang="en-US" sz="1340" dirty="0"/>
          </a:p>
        </p:txBody>
      </p:sp>
      <p:sp>
        <p:nvSpPr>
          <p:cNvPr id="41" name="title_2"/>
          <p:cNvSpPr txBox="1"/>
          <p:nvPr/>
        </p:nvSpPr>
        <p:spPr>
          <a:xfrm>
            <a:off x="6776847" y="109040"/>
            <a:ext cx="3168396" cy="318734"/>
          </a:xfrm>
          <a:prstGeom prst="rect">
            <a:avLst/>
          </a:prstGeom>
          <a:noFill/>
          <a:ln/>
        </p:spPr>
        <p:txBody>
          <a:bodyPr wrap="square" lIns="0" tIns="0" rIns="0" bIns="0" rtlCol="0" anchor="ctr"/>
          <a:lstStyle/>
          <a:p>
            <a:pPr algn="ctr" indent="0" marL="0">
              <a:lnSpc>
                <a:spcPct val="100000"/>
              </a:lnSpc>
              <a:buNone/>
            </a:pPr>
            <a:r>
              <a:rPr lang="en-US" sz="1560" b="1" dirty="0">
                <a:solidFill>
                  <a:srgbClr val="172B3A"/>
                </a:solidFill>
                <a:latin typeface="DejaVu Sans" pitchFamily="34" charset="0"/>
                <a:ea typeface="DejaVu Sans" pitchFamily="34" charset="-122"/>
                <a:cs typeface="DejaVu Sans" pitchFamily="34" charset="-120"/>
              </a:rPr>
              <a:t>(c) BioCoLoop</a:t>
            </a:r>
            <a:endParaRPr lang="en-US" sz="1560" dirty="0"/>
          </a:p>
        </p:txBody>
      </p:sp>
      <p:sp>
        <p:nvSpPr>
          <p:cNvPr id="42" name="subtitle_2"/>
          <p:cNvSpPr txBox="1"/>
          <p:nvPr/>
        </p:nvSpPr>
        <p:spPr>
          <a:xfrm>
            <a:off x="6806184" y="398417"/>
            <a:ext cx="3109722" cy="260020"/>
          </a:xfrm>
          <a:prstGeom prst="rect">
            <a:avLst/>
          </a:prstGeom>
          <a:noFill/>
          <a:ln/>
        </p:spPr>
        <p:txBody>
          <a:bodyPr wrap="square" lIns="0" tIns="0" rIns="0" bIns="0" rtlCol="0" anchor="ctr"/>
          <a:lstStyle/>
          <a:p>
            <a:pPr algn="ctr" indent="0" marL="0">
              <a:lnSpc>
                <a:spcPct val="100000"/>
              </a:lnSpc>
              <a:buNone/>
            </a:pPr>
            <a:r>
              <a:rPr lang="en-US" sz="1360" dirty="0">
                <a:solidFill>
                  <a:srgbClr val="536475"/>
                </a:solidFill>
                <a:latin typeface="DejaVu Sans" pitchFamily="34" charset="0"/>
                <a:ea typeface="DejaVu Sans" pitchFamily="34" charset="-122"/>
                <a:cs typeface="DejaVu Sans" pitchFamily="34" charset="-120"/>
              </a:rPr>
              <a:t>Model + design learning</a:t>
            </a:r>
            <a:endParaRPr lang="en-US" sz="1360" dirty="0"/>
          </a:p>
        </p:txBody>
      </p:sp>
      <p:sp>
        <p:nvSpPr>
          <p:cNvPr id="43" name="panel_2_research"/>
          <p:cNvSpPr/>
          <p:nvPr/>
        </p:nvSpPr>
        <p:spPr>
          <a:xfrm>
            <a:off x="7250430" y="796834"/>
            <a:ext cx="2221230" cy="561978"/>
          </a:xfrm>
          <a:prstGeom prst="roundRect">
            <a:avLst>
              <a:gd name="adj" fmla="val 9763"/>
            </a:avLst>
          </a:prstGeom>
          <a:solidFill>
            <a:srgbClr val="F1EAF7"/>
          </a:solidFill>
          <a:ln w="16510">
            <a:solidFill>
              <a:srgbClr val="76539A"/>
            </a:solidFill>
            <a:prstDash val="solid"/>
          </a:ln>
        </p:spPr>
      </p:sp>
      <p:sp>
        <p:nvSpPr>
          <p:cNvPr id="44" name="panel_2_research_text"/>
          <p:cNvSpPr txBox="1"/>
          <p:nvPr/>
        </p:nvSpPr>
        <p:spPr>
          <a:xfrm>
            <a:off x="7283958" y="817804"/>
            <a:ext cx="2154174" cy="520039"/>
          </a:xfrm>
          <a:prstGeom prst="rect">
            <a:avLst/>
          </a:prstGeom>
          <a:noFill/>
          <a:ln/>
        </p:spPr>
        <p:txBody>
          <a:bodyPr wrap="square" lIns="0" tIns="0" rIns="0" bIns="0" rtlCol="0" anchor="ctr"/>
          <a:lstStyle/>
          <a:p>
            <a:pPr algn="ctr" indent="0" marL="0">
              <a:lnSpc>
                <a:spcPct val="100000"/>
              </a:lnSpc>
              <a:buNone/>
            </a:pPr>
            <a:r>
              <a:rPr lang="en-US" sz="1440" b="1" dirty="0">
                <a:solidFill>
                  <a:srgbClr val="76539A"/>
                </a:solidFill>
                <a:latin typeface="DejaVu Sans" pitchFamily="34" charset="0"/>
                <a:ea typeface="DejaVu Sans" pitchFamily="34" charset="-122"/>
                <a:cs typeface="DejaVu Sans" pitchFamily="34" charset="-120"/>
              </a:rPr>
              <a:t>Research harness</a:t>
            </a:r>
            <a:endParaRPr lang="en-US" sz="1440" dirty="0"/>
          </a:p>
          <a:p>
            <a:pPr algn="ctr" indent="0" marL="0">
              <a:lnSpc>
                <a:spcPct val="100000"/>
              </a:lnSpc>
              <a:buNone/>
            </a:pPr>
            <a:r>
              <a:rPr lang="en-US" sz="1440" b="1" dirty="0">
                <a:solidFill>
                  <a:srgbClr val="76539A"/>
                </a:solidFill>
                <a:latin typeface="DejaVu Sans" pitchFamily="34" charset="0"/>
                <a:ea typeface="DejaVu Sans" pitchFamily="34" charset="-122"/>
                <a:cs typeface="DejaVu Sans" pitchFamily="34" charset="-120"/>
              </a:rPr>
              <a:t>Propose · remember</a:t>
            </a:r>
            <a:endParaRPr lang="en-US" sz="1440" dirty="0"/>
          </a:p>
        </p:txBody>
      </p:sp>
      <p:sp>
        <p:nvSpPr>
          <p:cNvPr id="45" name="panel_2_model"/>
          <p:cNvSpPr/>
          <p:nvPr/>
        </p:nvSpPr>
        <p:spPr>
          <a:xfrm>
            <a:off x="7359396" y="1677546"/>
            <a:ext cx="2003298" cy="545202"/>
          </a:xfrm>
          <a:prstGeom prst="roundRect">
            <a:avLst>
              <a:gd name="adj" fmla="val 10063"/>
            </a:avLst>
          </a:prstGeom>
          <a:solidFill>
            <a:srgbClr val="E8F1F8"/>
          </a:solidFill>
          <a:ln w="16510">
            <a:solidFill>
              <a:srgbClr val="356FA3"/>
            </a:solidFill>
            <a:prstDash val="solid"/>
          </a:ln>
        </p:spPr>
      </p:sp>
      <p:sp>
        <p:nvSpPr>
          <p:cNvPr id="46" name="panel_2_model_text"/>
          <p:cNvSpPr txBox="1"/>
          <p:nvPr/>
        </p:nvSpPr>
        <p:spPr>
          <a:xfrm>
            <a:off x="7392924" y="1698515"/>
            <a:ext cx="1936242" cy="503264"/>
          </a:xfrm>
          <a:prstGeom prst="rect">
            <a:avLst/>
          </a:prstGeom>
          <a:noFill/>
          <a:ln/>
        </p:spPr>
        <p:txBody>
          <a:bodyPr wrap="square" lIns="0" tIns="0" rIns="0" bIns="0" rtlCol="0" anchor="ctr"/>
          <a:lstStyle/>
          <a:p>
            <a:pPr algn="ctr" indent="0" marL="0">
              <a:lnSpc>
                <a:spcPct val="100000"/>
              </a:lnSpc>
              <a:buNone/>
            </a:pPr>
            <a:r>
              <a:rPr lang="en-US" sz="1440" b="1" dirty="0">
                <a:solidFill>
                  <a:srgbClr val="356FA3"/>
                </a:solidFill>
                <a:latin typeface="DejaVu Sans" pitchFamily="34" charset="0"/>
                <a:ea typeface="DejaVu Sans" pitchFamily="34" charset="-122"/>
                <a:cs typeface="DejaVu Sans" pitchFamily="34" charset="-120"/>
              </a:rPr>
              <a:t>Model design</a:t>
            </a:r>
            <a:endParaRPr lang="en-US" sz="1440" dirty="0"/>
          </a:p>
          <a:p>
            <a:pPr algn="ctr" indent="0" marL="0">
              <a:lnSpc>
                <a:spcPct val="100000"/>
              </a:lnSpc>
              <a:buNone/>
            </a:pPr>
            <a:r>
              <a:rPr lang="en-US" sz="1440" b="1" dirty="0">
                <a:solidFill>
                  <a:srgbClr val="356FA3"/>
                </a:solidFill>
                <a:latin typeface="DejaVu Sans" pitchFamily="34" charset="0"/>
                <a:ea typeface="DejaVu Sans" pitchFamily="34" charset="-122"/>
                <a:cs typeface="DejaVu Sans" pitchFamily="34" charset="-120"/>
              </a:rPr>
              <a:t>+ predictor</a:t>
            </a:r>
            <a:endParaRPr lang="en-US" sz="1440" dirty="0"/>
          </a:p>
        </p:txBody>
      </p:sp>
      <p:sp>
        <p:nvSpPr>
          <p:cNvPr id="47" name="panel_2_fitting"/>
          <p:cNvSpPr/>
          <p:nvPr/>
        </p:nvSpPr>
        <p:spPr>
          <a:xfrm>
            <a:off x="7359396" y="2616972"/>
            <a:ext cx="2003298" cy="545202"/>
          </a:xfrm>
          <a:prstGeom prst="roundRect">
            <a:avLst>
              <a:gd name="adj" fmla="val 10063"/>
            </a:avLst>
          </a:prstGeom>
          <a:solidFill>
            <a:srgbClr val="FBEDE3"/>
          </a:solidFill>
          <a:ln w="16510">
            <a:solidFill>
              <a:srgbClr val="C76A28"/>
            </a:solidFill>
            <a:prstDash val="solid"/>
          </a:ln>
        </p:spPr>
      </p:sp>
      <p:sp>
        <p:nvSpPr>
          <p:cNvPr id="48" name="panel_2_fitting_text"/>
          <p:cNvSpPr txBox="1"/>
          <p:nvPr/>
        </p:nvSpPr>
        <p:spPr>
          <a:xfrm>
            <a:off x="7392924" y="2637941"/>
            <a:ext cx="1936242" cy="503264"/>
          </a:xfrm>
          <a:prstGeom prst="rect">
            <a:avLst/>
          </a:prstGeom>
          <a:noFill/>
          <a:ln/>
        </p:spPr>
        <p:txBody>
          <a:bodyPr wrap="square" lIns="0" tIns="0" rIns="0" bIns="0" rtlCol="0" anchor="ctr"/>
          <a:lstStyle/>
          <a:p>
            <a:pPr algn="ctr" indent="0" marL="0">
              <a:lnSpc>
                <a:spcPct val="100000"/>
              </a:lnSpc>
              <a:buNone/>
            </a:pPr>
            <a:r>
              <a:rPr lang="en-US" sz="1400" b="1" dirty="0">
                <a:solidFill>
                  <a:srgbClr val="C76A28"/>
                </a:solidFill>
                <a:latin typeface="DejaVu Sans" pitchFamily="34" charset="0"/>
                <a:ea typeface="DejaVu Sans" pitchFamily="34" charset="-122"/>
                <a:cs typeface="DejaVu Sans" pitchFamily="34" charset="-120"/>
              </a:rPr>
              <a:t>Aggregate updates</a:t>
            </a:r>
            <a:endParaRPr lang="en-US" sz="1400" dirty="0"/>
          </a:p>
          <a:p>
            <a:pPr algn="ctr" indent="0" marL="0">
              <a:lnSpc>
                <a:spcPct val="100000"/>
              </a:lnSpc>
              <a:buNone/>
            </a:pPr>
            <a:r>
              <a:rPr lang="en-US" sz="1400" b="1" dirty="0">
                <a:solidFill>
                  <a:srgbClr val="C76A28"/>
                </a:solidFill>
                <a:latin typeface="DejaVu Sans" pitchFamily="34" charset="0"/>
                <a:ea typeface="DejaVu Sans" pitchFamily="34" charset="-122"/>
                <a:cs typeface="DejaVu Sans" pitchFamily="34" charset="-120"/>
              </a:rPr>
              <a:t>+ scores</a:t>
            </a:r>
            <a:endParaRPr lang="en-US" sz="1400" dirty="0"/>
          </a:p>
        </p:txBody>
      </p:sp>
      <p:sp>
        <p:nvSpPr>
          <p:cNvPr id="49" name="panel_2_lab_0"/>
          <p:cNvSpPr/>
          <p:nvPr/>
        </p:nvSpPr>
        <p:spPr>
          <a:xfrm>
            <a:off x="6906768" y="3791254"/>
            <a:ext cx="762762" cy="553590"/>
          </a:xfrm>
          <a:prstGeom prst="roundRect">
            <a:avLst>
              <a:gd name="adj" fmla="val 9911"/>
            </a:avLst>
          </a:prstGeom>
          <a:solidFill>
            <a:srgbClr val="E7F5F2"/>
          </a:solidFill>
          <a:ln w="16510">
            <a:solidFill>
              <a:srgbClr val="238B7B"/>
            </a:solidFill>
            <a:prstDash val="solid"/>
          </a:ln>
        </p:spPr>
      </p:sp>
      <p:sp>
        <p:nvSpPr>
          <p:cNvPr id="50" name="panel_2_lab_0_text"/>
          <p:cNvSpPr txBox="1"/>
          <p:nvPr/>
        </p:nvSpPr>
        <p:spPr>
          <a:xfrm>
            <a:off x="6940296" y="3812223"/>
            <a:ext cx="695706" cy="511651"/>
          </a:xfrm>
          <a:prstGeom prst="rect">
            <a:avLst/>
          </a:prstGeom>
          <a:noFill/>
          <a:ln/>
        </p:spPr>
        <p:txBody>
          <a:bodyPr wrap="square" lIns="0" tIns="0" rIns="0" bIns="0" rtlCol="0" anchor="ctr"/>
          <a:lstStyle/>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Lab 1</a:t>
            </a:r>
            <a:endParaRPr lang="en-US" sz="1400" dirty="0"/>
          </a:p>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Data</a:t>
            </a:r>
            <a:endParaRPr lang="en-US" sz="1400" dirty="0"/>
          </a:p>
        </p:txBody>
      </p:sp>
      <p:sp>
        <p:nvSpPr>
          <p:cNvPr id="51" name="panel_2_lab_1"/>
          <p:cNvSpPr/>
          <p:nvPr/>
        </p:nvSpPr>
        <p:spPr>
          <a:xfrm>
            <a:off x="7996428" y="3791254"/>
            <a:ext cx="762762" cy="553590"/>
          </a:xfrm>
          <a:prstGeom prst="roundRect">
            <a:avLst>
              <a:gd name="adj" fmla="val 9911"/>
            </a:avLst>
          </a:prstGeom>
          <a:solidFill>
            <a:srgbClr val="E7F5F2"/>
          </a:solidFill>
          <a:ln w="16510">
            <a:solidFill>
              <a:srgbClr val="238B7B"/>
            </a:solidFill>
            <a:prstDash val="solid"/>
          </a:ln>
        </p:spPr>
      </p:sp>
      <p:sp>
        <p:nvSpPr>
          <p:cNvPr id="52" name="panel_2_lab_1_text"/>
          <p:cNvSpPr txBox="1"/>
          <p:nvPr/>
        </p:nvSpPr>
        <p:spPr>
          <a:xfrm>
            <a:off x="8029956" y="3812223"/>
            <a:ext cx="695706" cy="511651"/>
          </a:xfrm>
          <a:prstGeom prst="rect">
            <a:avLst/>
          </a:prstGeom>
          <a:noFill/>
          <a:ln/>
        </p:spPr>
        <p:txBody>
          <a:bodyPr wrap="square" lIns="0" tIns="0" rIns="0" bIns="0" rtlCol="0" anchor="ctr"/>
          <a:lstStyle/>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Lab 2</a:t>
            </a:r>
            <a:endParaRPr lang="en-US" sz="1400" dirty="0"/>
          </a:p>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Data</a:t>
            </a:r>
            <a:endParaRPr lang="en-US" sz="1400" dirty="0"/>
          </a:p>
        </p:txBody>
      </p:sp>
      <p:sp>
        <p:nvSpPr>
          <p:cNvPr id="53" name="panel_2_lab_2"/>
          <p:cNvSpPr/>
          <p:nvPr/>
        </p:nvSpPr>
        <p:spPr>
          <a:xfrm>
            <a:off x="9086088" y="3791254"/>
            <a:ext cx="762762" cy="553590"/>
          </a:xfrm>
          <a:prstGeom prst="roundRect">
            <a:avLst>
              <a:gd name="adj" fmla="val 9911"/>
            </a:avLst>
          </a:prstGeom>
          <a:solidFill>
            <a:srgbClr val="E7F5F2"/>
          </a:solidFill>
          <a:ln w="16510">
            <a:solidFill>
              <a:srgbClr val="238B7B"/>
            </a:solidFill>
            <a:prstDash val="solid"/>
          </a:ln>
        </p:spPr>
      </p:sp>
      <p:sp>
        <p:nvSpPr>
          <p:cNvPr id="54" name="panel_2_lab_2_text"/>
          <p:cNvSpPr txBox="1"/>
          <p:nvPr/>
        </p:nvSpPr>
        <p:spPr>
          <a:xfrm>
            <a:off x="9119616" y="3812223"/>
            <a:ext cx="695706" cy="511651"/>
          </a:xfrm>
          <a:prstGeom prst="rect">
            <a:avLst/>
          </a:prstGeom>
          <a:noFill/>
          <a:ln/>
        </p:spPr>
        <p:txBody>
          <a:bodyPr wrap="square" lIns="0" tIns="0" rIns="0" bIns="0" rtlCol="0" anchor="ctr"/>
          <a:lstStyle/>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Lab K</a:t>
            </a:r>
            <a:endParaRPr lang="en-US" sz="1400" dirty="0"/>
          </a:p>
          <a:p>
            <a:pPr algn="ctr" indent="0" marL="0">
              <a:lnSpc>
                <a:spcPct val="100000"/>
              </a:lnSpc>
              <a:buNone/>
            </a:pPr>
            <a:r>
              <a:rPr lang="en-US" sz="1400" b="1" dirty="0">
                <a:solidFill>
                  <a:srgbClr val="238B7B"/>
                </a:solidFill>
                <a:latin typeface="DejaVu Sans" pitchFamily="34" charset="0"/>
                <a:ea typeface="DejaVu Sans" pitchFamily="34" charset="-122"/>
                <a:cs typeface="DejaVu Sans" pitchFamily="34" charset="-120"/>
              </a:rPr>
              <a:t>Data</a:t>
            </a:r>
            <a:endParaRPr lang="en-US" sz="1400" dirty="0"/>
          </a:p>
        </p:txBody>
      </p:sp>
      <p:sp>
        <p:nvSpPr>
          <p:cNvPr id="55" name="panel_2_ellipsis"/>
          <p:cNvSpPr txBox="1"/>
          <p:nvPr/>
        </p:nvSpPr>
        <p:spPr>
          <a:xfrm>
            <a:off x="8775954" y="3933845"/>
            <a:ext cx="268224" cy="268407"/>
          </a:xfrm>
          <a:prstGeom prst="rect">
            <a:avLst/>
          </a:prstGeom>
          <a:noFill/>
          <a:ln/>
        </p:spPr>
        <p:txBody>
          <a:bodyPr wrap="square" lIns="0" tIns="0" rIns="0" bIns="0" rtlCol="0" anchor="ctr"/>
          <a:lstStyle/>
          <a:p>
            <a:pPr algn="ctr" indent="0" marL="0">
              <a:lnSpc>
                <a:spcPct val="100000"/>
              </a:lnSpc>
              <a:buNone/>
            </a:pPr>
            <a:r>
              <a:rPr lang="en-US" sz="1400" dirty="0">
                <a:solidFill>
                  <a:srgbClr val="238B7B"/>
                </a:solidFill>
                <a:latin typeface="DejaVu Sans" pitchFamily="34" charset="0"/>
                <a:ea typeface="DejaVu Sans" pitchFamily="34" charset="-122"/>
                <a:cs typeface="DejaVu Sans" pitchFamily="34" charset="-120"/>
              </a:rPr>
              <a:t>...</a:t>
            </a:r>
            <a:endParaRPr lang="en-US" sz="1400" dirty="0"/>
          </a:p>
        </p:txBody>
      </p:sp>
      <p:sp>
        <p:nvSpPr>
          <p:cNvPr id="56" name="panel_2_model_down"/>
          <p:cNvSpPr/>
          <p:nvPr/>
        </p:nvSpPr>
        <p:spPr>
          <a:xfrm>
            <a:off x="7778496" y="2231136"/>
            <a:ext cx="0" cy="369060"/>
          </a:xfrm>
          <a:prstGeom prst="line">
            <a:avLst/>
          </a:prstGeom>
          <a:noFill/>
          <a:ln w="16510">
            <a:solidFill>
              <a:srgbClr val="356FA3"/>
            </a:solidFill>
            <a:prstDash val="solid"/>
            <a:headEnd type="none"/>
            <a:tailEnd type="triangle"/>
          </a:ln>
        </p:spPr>
      </p:sp>
      <p:sp>
        <p:nvSpPr>
          <p:cNvPr id="57" name="panel_2_model_up"/>
          <p:cNvSpPr/>
          <p:nvPr/>
        </p:nvSpPr>
        <p:spPr>
          <a:xfrm>
            <a:off x="8943594" y="2239524"/>
            <a:ext cx="0" cy="369060"/>
          </a:xfrm>
          <a:prstGeom prst="line">
            <a:avLst/>
          </a:prstGeom>
          <a:noFill/>
          <a:ln w="16510">
            <a:solidFill>
              <a:srgbClr val="C76A28"/>
            </a:solidFill>
            <a:prstDash val="solid"/>
            <a:headEnd type="triangle"/>
            <a:tailEnd type="none"/>
          </a:ln>
        </p:spPr>
      </p:sp>
      <p:sp>
        <p:nvSpPr>
          <p:cNvPr id="58" name="panel_2_local_update_0"/>
          <p:cNvSpPr/>
          <p:nvPr/>
        </p:nvSpPr>
        <p:spPr>
          <a:xfrm flipV="1">
            <a:off x="7288149" y="3178949"/>
            <a:ext cx="356235" cy="595529"/>
          </a:xfrm>
          <a:prstGeom prst="line">
            <a:avLst/>
          </a:prstGeom>
          <a:noFill/>
          <a:ln w="16510">
            <a:solidFill>
              <a:srgbClr val="356FA3"/>
            </a:solidFill>
            <a:prstDash val="solid"/>
            <a:headEnd type="triangle"/>
            <a:tailEnd type="triangle"/>
          </a:ln>
        </p:spPr>
      </p:sp>
      <p:sp>
        <p:nvSpPr>
          <p:cNvPr id="59" name="panel_2_local_update_1"/>
          <p:cNvSpPr/>
          <p:nvPr/>
        </p:nvSpPr>
        <p:spPr>
          <a:xfrm>
            <a:off x="8365236" y="3178949"/>
            <a:ext cx="12573" cy="595529"/>
          </a:xfrm>
          <a:prstGeom prst="line">
            <a:avLst/>
          </a:prstGeom>
          <a:noFill/>
          <a:ln w="16510">
            <a:solidFill>
              <a:srgbClr val="356FA3"/>
            </a:solidFill>
            <a:prstDash val="solid"/>
            <a:headEnd type="triangle"/>
            <a:tailEnd type="triangle"/>
          </a:ln>
        </p:spPr>
      </p:sp>
      <p:sp>
        <p:nvSpPr>
          <p:cNvPr id="60" name="panel_2_local_update_2"/>
          <p:cNvSpPr/>
          <p:nvPr/>
        </p:nvSpPr>
        <p:spPr>
          <a:xfrm>
            <a:off x="9069324" y="3178949"/>
            <a:ext cx="398145" cy="595529"/>
          </a:xfrm>
          <a:prstGeom prst="line">
            <a:avLst/>
          </a:prstGeom>
          <a:noFill/>
          <a:ln w="16510">
            <a:solidFill>
              <a:srgbClr val="356FA3"/>
            </a:solidFill>
            <a:prstDash val="solid"/>
            <a:headEnd type="triangle"/>
            <a:tailEnd type="triangle"/>
          </a:ln>
        </p:spPr>
      </p:sp>
      <p:sp>
        <p:nvSpPr>
          <p:cNvPr id="61" name="panel_2_local_note"/>
          <p:cNvSpPr txBox="1"/>
          <p:nvPr/>
        </p:nvSpPr>
        <p:spPr>
          <a:xfrm>
            <a:off x="6814566" y="4449690"/>
            <a:ext cx="3101340" cy="276795"/>
          </a:xfrm>
          <a:prstGeom prst="rect">
            <a:avLst/>
          </a:prstGeom>
          <a:noFill/>
          <a:ln/>
        </p:spPr>
        <p:txBody>
          <a:bodyPr wrap="square" lIns="0" tIns="0" rIns="0" bIns="0" rtlCol="0" anchor="ctr"/>
          <a:lstStyle/>
          <a:p>
            <a:pPr algn="ctr" indent="0" marL="0">
              <a:lnSpc>
                <a:spcPct val="100000"/>
              </a:lnSpc>
              <a:buNone/>
            </a:pPr>
            <a:r>
              <a:rPr lang="en-US" sz="1340" dirty="0">
                <a:solidFill>
                  <a:srgbClr val="536475"/>
                </a:solidFill>
                <a:latin typeface="DejaVu Sans" pitchFamily="34" charset="0"/>
                <a:ea typeface="DejaVu Sans" pitchFamily="34" charset="-122"/>
                <a:cs typeface="DejaVu Sans" pitchFamily="34" charset="-120"/>
              </a:rPr>
              <a:t>Train locally; share updates</a:t>
            </a:r>
            <a:endParaRPr lang="en-US" sz="1340" dirty="0"/>
          </a:p>
        </p:txBody>
      </p:sp>
      <p:sp>
        <p:nvSpPr>
          <p:cNvPr id="62" name="panel_2_proposal"/>
          <p:cNvSpPr/>
          <p:nvPr/>
        </p:nvSpPr>
        <p:spPr>
          <a:xfrm>
            <a:off x="7912608" y="1367200"/>
            <a:ext cx="0" cy="293571"/>
          </a:xfrm>
          <a:prstGeom prst="line">
            <a:avLst/>
          </a:prstGeom>
          <a:noFill/>
          <a:ln w="16510">
            <a:solidFill>
              <a:srgbClr val="76539A"/>
            </a:solidFill>
            <a:prstDash val="solid"/>
            <a:headEnd type="none"/>
            <a:tailEnd type="triangle"/>
          </a:ln>
        </p:spPr>
      </p:sp>
      <p:sp>
        <p:nvSpPr>
          <p:cNvPr id="63" name="panel_2_feedback_0"/>
          <p:cNvSpPr/>
          <p:nvPr/>
        </p:nvSpPr>
        <p:spPr>
          <a:xfrm>
            <a:off x="9371076" y="2893767"/>
            <a:ext cx="301752" cy="0"/>
          </a:xfrm>
          <a:prstGeom prst="line">
            <a:avLst/>
          </a:prstGeom>
          <a:noFill/>
          <a:ln w="16510">
            <a:solidFill>
              <a:srgbClr val="C76A28"/>
            </a:solidFill>
            <a:prstDash val="solid"/>
            <a:headEnd type="none"/>
            <a:tailEnd type="none"/>
          </a:ln>
        </p:spPr>
      </p:sp>
      <p:sp>
        <p:nvSpPr>
          <p:cNvPr id="64" name="panel_2_feedback_1"/>
          <p:cNvSpPr/>
          <p:nvPr/>
        </p:nvSpPr>
        <p:spPr>
          <a:xfrm>
            <a:off x="9672828" y="1082017"/>
            <a:ext cx="0" cy="1811750"/>
          </a:xfrm>
          <a:prstGeom prst="line">
            <a:avLst/>
          </a:prstGeom>
          <a:noFill/>
          <a:ln w="16510">
            <a:solidFill>
              <a:srgbClr val="C76A28"/>
            </a:solidFill>
            <a:prstDash val="solid"/>
            <a:headEnd type="none"/>
            <a:tailEnd type="none"/>
          </a:ln>
        </p:spPr>
      </p:sp>
      <p:sp>
        <p:nvSpPr>
          <p:cNvPr id="65" name="panel_2_feedback_2"/>
          <p:cNvSpPr/>
          <p:nvPr/>
        </p:nvSpPr>
        <p:spPr>
          <a:xfrm>
            <a:off x="9480042" y="1082017"/>
            <a:ext cx="192786" cy="0"/>
          </a:xfrm>
          <a:prstGeom prst="line">
            <a:avLst/>
          </a:prstGeom>
          <a:noFill/>
          <a:ln w="16510">
            <a:solidFill>
              <a:srgbClr val="C76A28"/>
            </a:solidFill>
            <a:prstDash val="solid"/>
            <a:headEnd type="triangle"/>
            <a:tailEnd type="none"/>
          </a:ln>
        </p:spPr>
      </p:sp>
      <p:sp>
        <p:nvSpPr>
          <p:cNvPr id="66" name="panel_2_feedback_label"/>
          <p:cNvSpPr/>
          <p:nvPr/>
        </p:nvSpPr>
        <p:spPr>
          <a:xfrm>
            <a:off x="9739884" y="1274935"/>
            <a:ext cx="251460" cy="1442689"/>
          </a:xfrm>
          <a:prstGeom prst="rect">
            <a:avLst/>
          </a:prstGeom>
          <a:noFill/>
          <a:ln/>
        </p:spPr>
        <p:txBody>
          <a:bodyPr wrap="square" lIns="0" tIns="0" rIns="0" bIns="0" rtlCol="0" anchor="ctr" vert="vert270"/>
          <a:lstStyle/>
          <a:p>
            <a:pPr algn="ctr" indent="0" marL="0">
              <a:buNone/>
            </a:pPr>
            <a:r>
              <a:rPr lang="en-US" sz="1340" dirty="0">
                <a:solidFill>
                  <a:srgbClr val="C76A28"/>
                </a:solidFill>
                <a:latin typeface="DejaVu Sans" pitchFamily="34" charset="0"/>
                <a:ea typeface="DejaVu Sans" pitchFamily="34" charset="-122"/>
                <a:cs typeface="DejaVu Sans" pitchFamily="34" charset="-120"/>
              </a:rPr>
              <a:t>Evidence</a:t>
            </a:r>
            <a:endParaRPr lang="en-US" sz="1340" dirty="0"/>
          </a:p>
        </p:txBody>
      </p:sp>
      <p:sp>
        <p:nvSpPr>
          <p:cNvPr id="67" name="divider_0"/>
          <p:cNvSpPr/>
          <p:nvPr/>
        </p:nvSpPr>
        <p:spPr>
          <a:xfrm>
            <a:off x="3352800" y="150979"/>
            <a:ext cx="0" cy="4604863"/>
          </a:xfrm>
          <a:prstGeom prst="line">
            <a:avLst/>
          </a:prstGeom>
          <a:noFill/>
          <a:ln w="12700">
            <a:solidFill>
              <a:srgbClr val="D9E0E5"/>
            </a:solidFill>
            <a:prstDash val="solid"/>
            <a:headEnd type="none"/>
            <a:tailEnd type="none"/>
          </a:ln>
        </p:spPr>
      </p:sp>
      <p:sp>
        <p:nvSpPr>
          <p:cNvPr id="68" name="divider_1"/>
          <p:cNvSpPr/>
          <p:nvPr/>
        </p:nvSpPr>
        <p:spPr>
          <a:xfrm>
            <a:off x="6705600" y="150979"/>
            <a:ext cx="0" cy="4604863"/>
          </a:xfrm>
          <a:prstGeom prst="line">
            <a:avLst/>
          </a:prstGeom>
          <a:noFill/>
          <a:ln w="12700">
            <a:solidFill>
              <a:srgbClr val="D9E0E5"/>
            </a:solidFill>
            <a:prstDash val="solid"/>
            <a:headEnd type="none"/>
            <a:tailEnd type="none"/>
          </a:ln>
        </p:spPr>
      </p:sp>
      <p:sp>
        <p:nvSpPr>
          <p:cNvPr id="69" name="legend_chip_0"/>
          <p:cNvSpPr/>
          <p:nvPr/>
        </p:nvSpPr>
        <p:spPr>
          <a:xfrm>
            <a:off x="880110" y="5032638"/>
            <a:ext cx="217932" cy="184530"/>
          </a:xfrm>
          <a:prstGeom prst="roundRect">
            <a:avLst>
              <a:gd name="adj" fmla="val 12388"/>
            </a:avLst>
          </a:prstGeom>
          <a:solidFill>
            <a:srgbClr val="E7F5F2"/>
          </a:solidFill>
          <a:ln w="15240">
            <a:solidFill>
              <a:srgbClr val="238B7B"/>
            </a:solidFill>
            <a:prstDash val="solid"/>
          </a:ln>
        </p:spPr>
      </p:sp>
      <p:sp>
        <p:nvSpPr>
          <p:cNvPr id="70" name="legend_0"/>
          <p:cNvSpPr txBox="1"/>
          <p:nvPr/>
        </p:nvSpPr>
        <p:spPr>
          <a:xfrm>
            <a:off x="1198626" y="4994893"/>
            <a:ext cx="1693164" cy="260020"/>
          </a:xfrm>
          <a:prstGeom prst="rect">
            <a:avLst/>
          </a:prstGeom>
          <a:noFill/>
          <a:ln/>
        </p:spPr>
        <p:txBody>
          <a:bodyPr wrap="square" lIns="0" tIns="0" rIns="0" bIns="0" rtlCol="0" anchor="ctr"/>
          <a:lstStyle/>
          <a:p>
            <a:pPr algn="l" indent="0" marL="0">
              <a:lnSpc>
                <a:spcPct val="100000"/>
              </a:lnSpc>
              <a:buNone/>
            </a:pPr>
            <a:r>
              <a:rPr lang="en-US" sz="1340" dirty="0">
                <a:solidFill>
                  <a:srgbClr val="172B3A"/>
                </a:solidFill>
                <a:latin typeface="DejaVu Sans" pitchFamily="34" charset="0"/>
                <a:ea typeface="DejaVu Sans" pitchFamily="34" charset="-122"/>
                <a:cs typeface="DejaVu Sans" pitchFamily="34" charset="-120"/>
              </a:rPr>
              <a:t>Data</a:t>
            </a:r>
            <a:endParaRPr lang="en-US" sz="1340" dirty="0"/>
          </a:p>
        </p:txBody>
      </p:sp>
      <p:sp>
        <p:nvSpPr>
          <p:cNvPr id="71" name="legend_chip_1"/>
          <p:cNvSpPr/>
          <p:nvPr/>
        </p:nvSpPr>
        <p:spPr>
          <a:xfrm>
            <a:off x="2598420" y="5032638"/>
            <a:ext cx="217932" cy="184530"/>
          </a:xfrm>
          <a:prstGeom prst="roundRect">
            <a:avLst>
              <a:gd name="adj" fmla="val 12388"/>
            </a:avLst>
          </a:prstGeom>
          <a:solidFill>
            <a:srgbClr val="E8F1F8"/>
          </a:solidFill>
          <a:ln w="15240">
            <a:solidFill>
              <a:srgbClr val="356FA3"/>
            </a:solidFill>
            <a:prstDash val="solid"/>
          </a:ln>
        </p:spPr>
      </p:sp>
      <p:sp>
        <p:nvSpPr>
          <p:cNvPr id="72" name="legend_1"/>
          <p:cNvSpPr txBox="1"/>
          <p:nvPr/>
        </p:nvSpPr>
        <p:spPr>
          <a:xfrm>
            <a:off x="2916936" y="4994893"/>
            <a:ext cx="1693164" cy="260020"/>
          </a:xfrm>
          <a:prstGeom prst="rect">
            <a:avLst/>
          </a:prstGeom>
          <a:noFill/>
          <a:ln/>
        </p:spPr>
        <p:txBody>
          <a:bodyPr wrap="square" lIns="0" tIns="0" rIns="0" bIns="0" rtlCol="0" anchor="ctr"/>
          <a:lstStyle/>
          <a:p>
            <a:pPr algn="l" indent="0" marL="0">
              <a:lnSpc>
                <a:spcPct val="100000"/>
              </a:lnSpc>
              <a:buNone/>
            </a:pPr>
            <a:r>
              <a:rPr lang="en-US" sz="1340" dirty="0">
                <a:solidFill>
                  <a:srgbClr val="172B3A"/>
                </a:solidFill>
                <a:latin typeface="DejaVu Sans" pitchFamily="34" charset="0"/>
                <a:ea typeface="DejaVu Sans" pitchFamily="34" charset="-122"/>
                <a:cs typeface="DejaVu Sans" pitchFamily="34" charset="-120"/>
              </a:rPr>
              <a:t>Predictor</a:t>
            </a:r>
            <a:endParaRPr lang="en-US" sz="1340" dirty="0"/>
          </a:p>
        </p:txBody>
      </p:sp>
      <p:sp>
        <p:nvSpPr>
          <p:cNvPr id="73" name="legend_chip_2"/>
          <p:cNvSpPr/>
          <p:nvPr/>
        </p:nvSpPr>
        <p:spPr>
          <a:xfrm>
            <a:off x="4861560" y="5032638"/>
            <a:ext cx="217932" cy="184530"/>
          </a:xfrm>
          <a:prstGeom prst="roundRect">
            <a:avLst>
              <a:gd name="adj" fmla="val 12388"/>
            </a:avLst>
          </a:prstGeom>
          <a:solidFill>
            <a:srgbClr val="F1EAF7"/>
          </a:solidFill>
          <a:ln w="15240">
            <a:solidFill>
              <a:srgbClr val="76539A"/>
            </a:solidFill>
            <a:prstDash val="solid"/>
          </a:ln>
        </p:spPr>
      </p:sp>
      <p:sp>
        <p:nvSpPr>
          <p:cNvPr id="74" name="legend_2"/>
          <p:cNvSpPr txBox="1"/>
          <p:nvPr/>
        </p:nvSpPr>
        <p:spPr>
          <a:xfrm>
            <a:off x="5180076" y="4994893"/>
            <a:ext cx="1693164" cy="260020"/>
          </a:xfrm>
          <a:prstGeom prst="rect">
            <a:avLst/>
          </a:prstGeom>
          <a:noFill/>
          <a:ln/>
        </p:spPr>
        <p:txBody>
          <a:bodyPr wrap="square" lIns="0" tIns="0" rIns="0" bIns="0" rtlCol="0" anchor="ctr"/>
          <a:lstStyle/>
          <a:p>
            <a:pPr algn="l" indent="0" marL="0">
              <a:lnSpc>
                <a:spcPct val="100000"/>
              </a:lnSpc>
              <a:buNone/>
            </a:pPr>
            <a:r>
              <a:rPr lang="en-US" sz="1340" dirty="0">
                <a:solidFill>
                  <a:srgbClr val="172B3A"/>
                </a:solidFill>
                <a:latin typeface="DejaVu Sans" pitchFamily="34" charset="0"/>
                <a:ea typeface="DejaVu Sans" pitchFamily="34" charset="-122"/>
                <a:cs typeface="DejaVu Sans" pitchFamily="34" charset="-120"/>
              </a:rPr>
              <a:t>Research loop</a:t>
            </a:r>
            <a:endParaRPr lang="en-US" sz="1340" dirty="0"/>
          </a:p>
        </p:txBody>
      </p:sp>
      <p:sp>
        <p:nvSpPr>
          <p:cNvPr id="75" name="legend_chip_3"/>
          <p:cNvSpPr/>
          <p:nvPr/>
        </p:nvSpPr>
        <p:spPr>
          <a:xfrm>
            <a:off x="7627620" y="5032638"/>
            <a:ext cx="217932" cy="184530"/>
          </a:xfrm>
          <a:prstGeom prst="roundRect">
            <a:avLst>
              <a:gd name="adj" fmla="val 12388"/>
            </a:avLst>
          </a:prstGeom>
          <a:solidFill>
            <a:srgbClr val="FBEDE3"/>
          </a:solidFill>
          <a:ln w="15240">
            <a:solidFill>
              <a:srgbClr val="C76A28"/>
            </a:solidFill>
            <a:prstDash val="solid"/>
          </a:ln>
        </p:spPr>
      </p:sp>
      <p:sp>
        <p:nvSpPr>
          <p:cNvPr id="76" name="legend_3"/>
          <p:cNvSpPr txBox="1"/>
          <p:nvPr/>
        </p:nvSpPr>
        <p:spPr>
          <a:xfrm>
            <a:off x="7946136" y="4994893"/>
            <a:ext cx="1693164" cy="260020"/>
          </a:xfrm>
          <a:prstGeom prst="rect">
            <a:avLst/>
          </a:prstGeom>
          <a:noFill/>
          <a:ln/>
        </p:spPr>
        <p:txBody>
          <a:bodyPr wrap="square" lIns="0" tIns="0" rIns="0" bIns="0" rtlCol="0" anchor="ctr"/>
          <a:lstStyle/>
          <a:p>
            <a:pPr algn="l" indent="0" marL="0">
              <a:lnSpc>
                <a:spcPct val="100000"/>
              </a:lnSpc>
              <a:buNone/>
            </a:pPr>
            <a:r>
              <a:rPr lang="en-US" sz="1340" dirty="0">
                <a:solidFill>
                  <a:srgbClr val="172B3A"/>
                </a:solidFill>
                <a:latin typeface="DejaVu Sans" pitchFamily="34" charset="0"/>
                <a:ea typeface="DejaVu Sans" pitchFamily="34" charset="-122"/>
                <a:cs typeface="DejaVu Sans" pitchFamily="34" charset="-120"/>
              </a:rPr>
              <a:t>Aggregation</a:t>
            </a:r>
            <a:endParaRPr lang="en-US" sz="1340" dirty="0"/>
          </a:p>
        </p:txBody>
      </p:sp>
      <p:sp>
        <p:nvSpPr>
          <p:cNvPr id="77" name="footer"/>
          <p:cNvSpPr txBox="1"/>
          <p:nvPr/>
        </p:nvSpPr>
        <p:spPr>
          <a:xfrm>
            <a:off x="838200" y="5322014"/>
            <a:ext cx="8382000" cy="243244"/>
          </a:xfrm>
          <a:prstGeom prst="rect">
            <a:avLst/>
          </a:prstGeom>
          <a:noFill/>
          <a:ln/>
        </p:spPr>
        <p:txBody>
          <a:bodyPr wrap="square" lIns="0" tIns="0" rIns="0" bIns="0" rtlCol="0" anchor="ctr"/>
          <a:lstStyle/>
          <a:p>
            <a:pPr algn="ctr" indent="0" marL="0">
              <a:lnSpc>
                <a:spcPct val="100000"/>
              </a:lnSpc>
              <a:buNone/>
            </a:pPr>
            <a:r>
              <a:rPr lang="en-US" sz="1300" dirty="0">
                <a:solidFill>
                  <a:srgbClr val="536475"/>
                </a:solidFill>
                <a:latin typeface="DejaVu Sans" pitchFamily="34" charset="0"/>
                <a:ea typeface="DejaVu Sans" pitchFamily="34" charset="-122"/>
                <a:cs typeface="DejaVu Sans" pitchFamily="34" charset="-120"/>
              </a:rPr>
              <a:t>Dashed gray: inactive harness. K denotes laboratories.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jaVu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ejaVu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BioCoLoop: research paradigms</dc:title>
  <dc:subject>Editable Figure 1; native shapes, text and arrows</dc:subject>
  <dc:creator/>
  <cp:lastModifiedBy/>
  <cp:revision>1</cp:revision>
  <dcterms:created xsi:type="dcterms:W3CDTF">2026-09-24T09:41:36Z</dcterms:created>
  <dcterms:modified xsi:type="dcterms:W3CDTF">2026-09-24T09:41:36Z</dcterms:modified>
</cp:coreProperties>
</file>