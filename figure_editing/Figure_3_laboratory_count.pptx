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4023360"/>
  <p:notesSz cx="402336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More clients + data</c:v>
                </c:pt>
              </c:strCache>
            </c:strRef>
          </c:tx>
          <c:spPr>
            <a:solidFill>
              <a:srgbClr val="2463A5"/>
            </a:solidFill>
            <a:ln w="27940" cap="flat">
              <a:solidFill>
                <a:srgbClr val="2463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noFill/>
              <a:ln w="161290000" cap="flat">
                <a:solidFill>
                  <a:srgbClr val="2463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</c:formatCode>
                <c:ptCount val="4"/>
                <c:pt idx="0">
                  <c:v>83.64568919989436</c:v>
                </c:pt>
                <c:pt idx="1">
                  <c:v>84.42979931344072</c:v>
                </c:pt>
                <c:pt idx="2">
                  <c:v>89.62115130710325</c:v>
                </c:pt>
                <c:pt idx="3">
                  <c:v>93.88382624768946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data pool</c:v>
                </c:pt>
              </c:strCache>
            </c:strRef>
          </c:tx>
          <c:spPr>
            <a:solidFill>
              <a:srgbClr val="B5632E"/>
            </a:solidFill>
            <a:ln w="27940" cap="flat">
              <a:solidFill>
                <a:srgbClr val="B563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B5632E"/>
              </a:solidFill>
              <a:ln w="161290000" cap="flat">
                <a:solidFill>
                  <a:srgbClr val="B563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</c:formatCode>
                <c:ptCount val="4"/>
                <c:pt idx="0">
                  <c:v>85.47193688935833</c:v>
                </c:pt>
                <c:pt idx="1">
                  <c:v>88.962470293108</c:v>
                </c:pt>
                <c:pt idx="2">
                  <c:v>88.0464681806179</c:v>
                </c:pt>
                <c:pt idx="3">
                  <c:v>93.88382624768946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80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1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More clients + data</c:v>
                </c:pt>
              </c:strCache>
            </c:strRef>
          </c:tx>
          <c:spPr>
            <a:solidFill>
              <a:srgbClr val="2463A5"/>
            </a:solidFill>
            <a:ln w="27940" cap="flat">
              <a:solidFill>
                <a:srgbClr val="2463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noFill/>
              <a:ln w="161290000" cap="flat">
                <a:solidFill>
                  <a:srgbClr val="2463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</c:formatCode>
                <c:ptCount val="4"/>
                <c:pt idx="0">
                  <c:v>26.03280113611827</c:v>
                </c:pt>
                <c:pt idx="1">
                  <c:v>37.38280906641675</c:v>
                </c:pt>
                <c:pt idx="2">
                  <c:v>29.63303509812992</c:v>
                </c:pt>
                <c:pt idx="3">
                  <c:v>37.53601560353575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data pool</c:v>
                </c:pt>
              </c:strCache>
            </c:strRef>
          </c:tx>
          <c:spPr>
            <a:solidFill>
              <a:srgbClr val="B5632E"/>
            </a:solidFill>
            <a:ln w="27940" cap="flat">
              <a:solidFill>
                <a:srgbClr val="B563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B5632E"/>
              </a:solidFill>
              <a:ln w="161290000" cap="flat">
                <a:solidFill>
                  <a:srgbClr val="B563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</c:formatCode>
                <c:ptCount val="4"/>
                <c:pt idx="0">
                  <c:v>34.591530565074045</c:v>
                </c:pt>
                <c:pt idx="1">
                  <c:v>37.36410363515711</c:v>
                </c:pt>
                <c:pt idx="2">
                  <c:v>39.19471365571076</c:v>
                </c:pt>
                <c:pt idx="3">
                  <c:v>37.53601560353575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0"/>
        <c:auto val="1"/>
        <c:lblAlgn val="ctr"/>
        <c:noMultiLvlLbl val="1"/>
      </c:catAx>
      <c:valAx>
        <c:axId val="2094734552"/>
        <c:scaling>
          <c:orientation val="minMax"/>
          <c:max val="50"/>
          <c:min val="2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1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More clients + data</c:v>
                </c:pt>
              </c:strCache>
            </c:strRef>
          </c:tx>
          <c:spPr>
            <a:solidFill>
              <a:srgbClr val="2463A5"/>
            </a:solidFill>
            <a:ln w="27940" cap="flat">
              <a:solidFill>
                <a:srgbClr val="2463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noFill/>
              <a:ln w="161290000" cap="flat">
                <a:solidFill>
                  <a:srgbClr val="2463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</c:formatCode>
                <c:ptCount val="4"/>
                <c:pt idx="0">
                  <c:v>30.020133591804996</c:v>
                </c:pt>
                <c:pt idx="1">
                  <c:v>39.563256531670504</c:v>
                </c:pt>
                <c:pt idx="2">
                  <c:v>31.882641027802304</c:v>
                </c:pt>
                <c:pt idx="3">
                  <c:v>31.48141467899532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data pool</c:v>
                </c:pt>
              </c:strCache>
            </c:strRef>
          </c:tx>
          <c:spPr>
            <a:solidFill>
              <a:srgbClr val="B5632E"/>
            </a:solidFill>
            <a:ln w="27940" cap="flat">
              <a:solidFill>
                <a:srgbClr val="B563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B5632E"/>
              </a:solidFill>
              <a:ln w="161290000" cap="flat">
                <a:solidFill>
                  <a:srgbClr val="B563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</c:formatCode>
                <c:ptCount val="4"/>
                <c:pt idx="0">
                  <c:v>29.48528218286283</c:v>
                </c:pt>
                <c:pt idx="1">
                  <c:v>28.799769747350393</c:v>
                </c:pt>
                <c:pt idx="2">
                  <c:v>31.060081195161843</c:v>
                </c:pt>
                <c:pt idx="3">
                  <c:v>31.48141467899532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0"/>
        <c:auto val="1"/>
        <c:lblAlgn val="ctr"/>
        <c:noMultiLvlLbl val="1"/>
      </c:catAx>
      <c:valAx>
        <c:axId val="2094734552"/>
        <c:scaling>
          <c:orientation val="minMax"/>
          <c:max val="50"/>
          <c:min val="2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1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More clients + data</c:v>
                </c:pt>
              </c:strCache>
            </c:strRef>
          </c:tx>
          <c:spPr>
            <a:solidFill>
              <a:srgbClr val="2463A5"/>
            </a:solidFill>
            <a:ln w="27940" cap="flat">
              <a:solidFill>
                <a:srgbClr val="2463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noFill/>
              <a:ln w="161290000" cap="flat">
                <a:solidFill>
                  <a:srgbClr val="2463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</c:formatCode>
                <c:ptCount val="4"/>
                <c:pt idx="0">
                  <c:v>25.55555555555556</c:v>
                </c:pt>
                <c:pt idx="1">
                  <c:v>18.22222222222222</c:v>
                </c:pt>
                <c:pt idx="2">
                  <c:v>19.679012345679013</c:v>
                </c:pt>
                <c:pt idx="3">
                  <c:v>15.48148148148148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data pool</c:v>
                </c:pt>
              </c:strCache>
            </c:strRef>
          </c:tx>
          <c:spPr>
            <a:solidFill>
              <a:srgbClr val="B5632E"/>
            </a:solidFill>
            <a:ln w="27940" cap="flat">
              <a:solidFill>
                <a:srgbClr val="B563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B5632E"/>
              </a:solidFill>
              <a:ln w="161290000" cap="flat">
                <a:solidFill>
                  <a:srgbClr val="B563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</c:formatCode>
                <c:ptCount val="4"/>
                <c:pt idx="0">
                  <c:v>49.62962962962962</c:v>
                </c:pt>
                <c:pt idx="1">
                  <c:v>19.555555555555554</c:v>
                </c:pt>
                <c:pt idx="2">
                  <c:v>26.12345679012346</c:v>
                </c:pt>
                <c:pt idx="3">
                  <c:v>15.48148148148148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1"/>
        <c:crossBetween val="between"/>
        <c:majorUnit val="2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More clients + data</c:v>
                </c:pt>
              </c:strCache>
            </c:strRef>
          </c:tx>
          <c:spPr>
            <a:solidFill>
              <a:srgbClr val="2463A5"/>
            </a:solidFill>
            <a:ln w="27940" cap="flat">
              <a:solidFill>
                <a:srgbClr val="2463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noFill/>
              <a:ln w="161290000" cap="flat">
                <a:solidFill>
                  <a:srgbClr val="2463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</c:formatCode>
                <c:ptCount val="4"/>
                <c:pt idx="0">
                  <c:v>19.402985074626866</c:v>
                </c:pt>
                <c:pt idx="1">
                  <c:v>25.37313432835821</c:v>
                </c:pt>
                <c:pt idx="2">
                  <c:v>20.8955223880597</c:v>
                </c:pt>
                <c:pt idx="3">
                  <c:v>26.3681592039801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data pool</c:v>
                </c:pt>
              </c:strCache>
            </c:strRef>
          </c:tx>
          <c:spPr>
            <a:solidFill>
              <a:srgbClr val="B5632E"/>
            </a:solidFill>
            <a:ln w="27940" cap="flat">
              <a:solidFill>
                <a:srgbClr val="B563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B5632E"/>
              </a:solidFill>
              <a:ln w="161290000" cap="flat">
                <a:solidFill>
                  <a:srgbClr val="B563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</c:formatCode>
                <c:ptCount val="4"/>
                <c:pt idx="0">
                  <c:v>22.388059701492537</c:v>
                </c:pt>
                <c:pt idx="1">
                  <c:v>21.393034825870647</c:v>
                </c:pt>
                <c:pt idx="2">
                  <c:v>20.398009950248753</c:v>
                </c:pt>
                <c:pt idx="3">
                  <c:v>26.3681592039801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15"/>
        <c:auto val="1"/>
        <c:lblAlgn val="ctr"/>
        <c:noMultiLvlLbl val="1"/>
      </c:catAx>
      <c:valAx>
        <c:axId val="2094734552"/>
        <c:scaling>
          <c:orientation val="minMax"/>
          <c:max val="30"/>
          <c:min val="15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1"/>
        <c:crossBetween val="between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13716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DTI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AUROC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28600" y="758952"/>
          <a:ext cx="2642616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554480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502152" y="13716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Proteomics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</a:t>
            </a:r>
            <a:endParaRPr lang="en-US" sz="2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2871216" y="758952"/>
          <a:ext cx="2642616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197096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144768" y="13716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VCC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</a:t>
            </a:r>
            <a:endParaRPr lang="en-US" sz="20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5513832" y="758952"/>
          <a:ext cx="2642616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6839712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787384" y="13716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</a:t>
            </a:r>
            <a:endParaRPr lang="en-US" sz="2000" dirty="0"/>
          </a:p>
        </p:txBody>
      </p:sp>
      <p:graphicFrame>
        <p:nvGraphicFramePr>
          <p:cNvPr id="12" name="Chart 3" descr=""/>
          <p:cNvGraphicFramePr/>
          <p:nvPr/>
        </p:nvGraphicFramePr>
        <p:xfrm>
          <a:off x="8156448" y="758952"/>
          <a:ext cx="2642616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 7"/>
          <p:cNvSpPr/>
          <p:nvPr/>
        </p:nvSpPr>
        <p:spPr>
          <a:xfrm>
            <a:off x="9482328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1430000" y="13716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Tahoe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</a:t>
            </a:r>
            <a:endParaRPr lang="en-US" sz="2000" dirty="0"/>
          </a:p>
        </p:txBody>
      </p:sp>
      <p:graphicFrame>
        <p:nvGraphicFramePr>
          <p:cNvPr id="15" name="Chart 4" descr=""/>
          <p:cNvGraphicFramePr/>
          <p:nvPr/>
        </p:nvGraphicFramePr>
        <p:xfrm>
          <a:off x="10799064" y="758952"/>
          <a:ext cx="2642616" cy="2587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 9"/>
          <p:cNvSpPr/>
          <p:nvPr/>
        </p:nvSpPr>
        <p:spPr>
          <a:xfrm>
            <a:off x="12124944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572" y="123444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Score (%)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3909412" y="3712464"/>
            <a:ext cx="384048" cy="0"/>
          </a:xfrm>
          <a:prstGeom prst="line">
            <a:avLst/>
          </a:prstGeom>
          <a:noFill/>
          <a:ln w="29210">
            <a:solidFill>
              <a:srgbClr val="2463A5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064860" y="3675888"/>
            <a:ext cx="73152" cy="731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63A5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366612" y="3584448"/>
            <a:ext cx="26306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More clients + data</a:t>
            </a:r>
            <a:endParaRPr lang="en-US" sz="1900" dirty="0"/>
          </a:p>
        </p:txBody>
      </p:sp>
      <p:sp>
        <p:nvSpPr>
          <p:cNvPr id="21" name="Shape 14"/>
          <p:cNvSpPr/>
          <p:nvPr/>
        </p:nvSpPr>
        <p:spPr>
          <a:xfrm>
            <a:off x="7253302" y="3712464"/>
            <a:ext cx="384048" cy="0"/>
          </a:xfrm>
          <a:prstGeom prst="line">
            <a:avLst/>
          </a:prstGeom>
          <a:noFill/>
          <a:ln w="29210">
            <a:solidFill>
              <a:srgbClr val="B5632E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7408750" y="3675888"/>
            <a:ext cx="73152" cy="73152"/>
          </a:xfrm>
          <a:prstGeom prst="rect">
            <a:avLst/>
          </a:prstGeom>
          <a:solidFill>
            <a:srgbClr val="B5632E"/>
          </a:solidFill>
          <a:ln w="15240">
            <a:solidFill>
              <a:srgbClr val="B5632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710502" y="3584448"/>
            <a:ext cx="20960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Fixed data pool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BioCoLoop editable result figure</dc:title>
  <dc:subject>Editable publication figure</dc:subject>
  <dc:creator>BioCoLoop authors</dc:creator>
  <cp:lastModifiedBy>BioCoLoop authors</cp:lastModifiedBy>
  <cp:revision>1</cp:revision>
  <dcterms:created xsi:type="dcterms:W3CDTF">2026-09-24T09:43:59Z</dcterms:created>
  <dcterms:modified xsi:type="dcterms:W3CDTF">2026-09-24T09:43:59Z</dcterms:modified>
</cp:coreProperties>
</file>