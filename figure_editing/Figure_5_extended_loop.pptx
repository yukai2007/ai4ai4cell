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058400" cy="11887200"/>
  <p:notesSz cx="11887200" cy="10058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29"/>
          <c:y val="0.05"/>
          <c:w val="0.68"/>
          <c:h val="0.77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Qwen loop</c:v>
                </c:pt>
              </c:strCache>
            </c:strRef>
          </c:tx>
          <c:spPr>
            <a:solidFill>
              <a:srgbClr val="2166AC"/>
            </a:solidFill>
            <a:ln w="27940" cap="flat">
              <a:solidFill>
                <a:srgbClr val="2166AC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noFill/>
              <a:ln w="161290000" cap="flat">
                <a:solidFill>
                  <a:srgbClr val="2166AC"/>
                </a:solidFill>
                <a:prstDash val="solid"/>
                <a:round/>
              </a:ln>
              <a:effectLst/>
            </c:spPr>
          </c:marker>
          <c:xVal>
            <c:numRef>
              <c:f>Sheet1!$A$2:$A$26</c:f>
              <c:numCache>
                <c:formatCode>General</c:formatCode>
                <c:ptCount val="2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</c:numCache>
            </c:numRef>
          </c:xVal>
          <c:yVal>
            <c:numRef>
              <c:f>Sheet1!$B$2:$B$26</c:f>
              <c:numCache>
                <c:formatCode>General</c:formatCode>
                <c:ptCount val="25"/>
                <c:pt idx="0">
                  <c:v>66.72222222222223</c:v>
                </c:pt>
                <c:pt idx="1">
                  <c:v>66.72222222222223</c:v>
                </c:pt>
                <c:pt idx="2">
                  <c:v>66.72222222222223</c:v>
                </c:pt>
                <c:pt idx="3">
                  <c:v>66.72222222222223</c:v>
                </c:pt>
                <c:pt idx="4">
                  <c:v>66.72222222222223</c:v>
                </c:pt>
                <c:pt idx="5">
                  <c:v>66.72222222222223</c:v>
                </c:pt>
                <c:pt idx="6">
                  <c:v>66.72222222222223</c:v>
                </c:pt>
                <c:pt idx="7">
                  <c:v>66.72222222222223</c:v>
                </c:pt>
                <c:pt idx="8">
                  <c:v>66.72222222222223</c:v>
                </c:pt>
                <c:pt idx="9">
                  <c:v>66.72222222222223</c:v>
                </c:pt>
                <c:pt idx="10">
                  <c:v>66.72222222222223</c:v>
                </c:pt>
                <c:pt idx="11">
                  <c:v>66.72222222222223</c:v>
                </c:pt>
                <c:pt idx="12">
                  <c:v>66.72222222222223</c:v>
                </c:pt>
                <c:pt idx="13">
                  <c:v>66.72222222222223</c:v>
                </c:pt>
                <c:pt idx="14">
                  <c:v>66.72222222222223</c:v>
                </c:pt>
                <c:pt idx="15">
                  <c:v>66.72222222222223</c:v>
                </c:pt>
                <c:pt idx="16">
                  <c:v>66.72222222222223</c:v>
                </c:pt>
                <c:pt idx="17">
                  <c:v>66.72222222222223</c:v>
                </c:pt>
                <c:pt idx="18">
                  <c:v>66.72222222222223</c:v>
                </c:pt>
                <c:pt idx="19">
                  <c:v>66.72222222222223</c:v>
                </c:pt>
                <c:pt idx="20">
                  <c:v>66.72222222222223</c:v>
                </c:pt>
                <c:pt idx="21">
                  <c:v>66.72222222222223</c:v>
                </c:pt>
                <c:pt idx="22">
                  <c:v>66.72222222222223</c:v>
                </c:pt>
                <c:pt idx="23">
                  <c:v>66.72222222222223</c:v>
                </c:pt>
                <c:pt idx="24">
                  <c:v>66.72222222222223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Qwen direct</c:v>
                </c:pt>
              </c:strCache>
            </c:strRef>
          </c:tx>
          <c:spPr>
            <a:solidFill>
              <a:srgbClr val="2166AC"/>
            </a:solidFill>
            <a:ln w="27940" cap="flat">
              <a:solidFill>
                <a:srgbClr val="2166AC"/>
              </a:solidFill>
              <a:prstDash val="dash"/>
              <a:round/>
            </a:ln>
            <a:effectLst/>
          </c:spPr>
          <c:marker>
            <c:symbol val="x"/>
            <c:size val="5"/>
            <c:spPr>
              <a:noFill/>
              <a:ln w="161290000" cap="flat">
                <a:solidFill>
                  <a:srgbClr val="2166AC"/>
                </a:solidFill>
                <a:prstDash val="solid"/>
                <a:round/>
              </a:ln>
              <a:effectLst/>
            </c:spPr>
          </c:marker>
          <c:xVal>
            <c:numRef>
              <c:f>Sheet1!$A$2:$A$26</c:f>
              <c:numCache>
                <c:formatCode>General</c:formatCode>
                <c:ptCount val="2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</c:numCache>
            </c:numRef>
          </c:xVal>
          <c:yVal>
            <c:numRef>
              <c:f>Sheet1!$C$2:$C$26</c:f>
              <c:numCache>
                <c:formatCode>General</c:formatCode>
                <c:ptCount val="25"/>
                <c:pt idx="0">
                  <c:v>66.72222222222223</c:v>
                </c:pt>
                <c:pt idx="1">
                  <c:v>66.72222222222223</c:v>
                </c:pt>
                <c:pt idx="2">
                  <c:v>66.72222222222223</c:v>
                </c:pt>
                <c:pt idx="3">
                  <c:v>66.72222222222223</c:v>
                </c:pt>
                <c:pt idx="4">
                  <c:v>66.72222222222223</c:v>
                </c:pt>
                <c:pt idx="5">
                  <c:v>66.72222222222223</c:v>
                </c:pt>
                <c:pt idx="6">
                  <c:v>66.72222222222223</c:v>
                </c:pt>
                <c:pt idx="7">
                  <c:v>66.72222222222223</c:v>
                </c:pt>
                <c:pt idx="8">
                  <c:v>66.72222222222223</c:v>
                </c:pt>
                <c:pt idx="9">
                  <c:v>66.72222222222223</c:v>
                </c:pt>
                <c:pt idx="10">
                  <c:v>66.72222222222223</c:v>
                </c:pt>
                <c:pt idx="11">
                  <c:v>66.72222222222223</c:v>
                </c:pt>
                <c:pt idx="12">
                  <c:v>66.72222222222223</c:v>
                </c:pt>
                <c:pt idx="13">
                  <c:v>66.72222222222223</c:v>
                </c:pt>
                <c:pt idx="14">
                  <c:v>66.72222222222223</c:v>
                </c:pt>
                <c:pt idx="15">
                  <c:v>66.72222222222223</c:v>
                </c:pt>
                <c:pt idx="16">
                  <c:v>66.72222222222223</c:v>
                </c:pt>
                <c:pt idx="17">
                  <c:v>66.72222222222223</c:v>
                </c:pt>
                <c:pt idx="18">
                  <c:v>66.72222222222223</c:v>
                </c:pt>
                <c:pt idx="19">
                  <c:v>66.72222222222223</c:v>
                </c:pt>
                <c:pt idx="20">
                  <c:v>66.72222222222223</c:v>
                </c:pt>
                <c:pt idx="21">
                  <c:v>66.72222222222223</c:v>
                </c:pt>
                <c:pt idx="22">
                  <c:v>66.72222222222223</c:v>
                </c:pt>
                <c:pt idx="23">
                  <c:v>66.72222222222223</c:v>
                </c:pt>
                <c:pt idx="24">
                  <c:v>66.72222222222223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Luna loop</c:v>
                </c:pt>
              </c:strCache>
            </c:strRef>
          </c:tx>
          <c:spPr>
            <a:solidFill>
              <a:srgbClr val="B35806"/>
            </a:solidFill>
            <a:ln w="27940" cap="flat">
              <a:solidFill>
                <a:srgbClr val="B35806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noFill/>
              <a:ln w="161290000" cap="flat">
                <a:solidFill>
                  <a:srgbClr val="B35806"/>
                </a:solidFill>
                <a:prstDash val="solid"/>
                <a:round/>
              </a:ln>
              <a:effectLst/>
            </c:spPr>
          </c:marker>
          <c:xVal>
            <c:numRef>
              <c:f>Sheet1!$A$2:$A$26</c:f>
              <c:numCache>
                <c:formatCode>General</c:formatCode>
                <c:ptCount val="2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</c:numCache>
            </c:numRef>
          </c:xVal>
          <c:yVal>
            <c:numRef>
              <c:f>Sheet1!$D$2:$D$26</c:f>
              <c:numCache>
                <c:formatCode>General</c:formatCode>
                <c:ptCount val="25"/>
                <c:pt idx="0">
                  <c:v>66.72222222222223</c:v>
                </c:pt>
                <c:pt idx="1">
                  <c:v>66.72222222222223</c:v>
                </c:pt>
                <c:pt idx="2">
                  <c:v>66.72222222222223</c:v>
                </c:pt>
                <c:pt idx="3">
                  <c:v>66.72222222222223</c:v>
                </c:pt>
                <c:pt idx="4">
                  <c:v>66.72222222222223</c:v>
                </c:pt>
                <c:pt idx="5">
                  <c:v>66.72222222222223</c:v>
                </c:pt>
                <c:pt idx="6">
                  <c:v>66.72222222222223</c:v>
                </c:pt>
                <c:pt idx="7">
                  <c:v>66.72222222222223</c:v>
                </c:pt>
                <c:pt idx="8">
                  <c:v>66.72222222222223</c:v>
                </c:pt>
                <c:pt idx="9">
                  <c:v>66.72222222222223</c:v>
                </c:pt>
                <c:pt idx="10">
                  <c:v>66.72222222222223</c:v>
                </c:pt>
                <c:pt idx="11">
                  <c:v>66.72222222222223</c:v>
                </c:pt>
                <c:pt idx="12">
                  <c:v>66.72222222222223</c:v>
                </c:pt>
                <c:pt idx="13">
                  <c:v>66.72222222222223</c:v>
                </c:pt>
                <c:pt idx="14">
                  <c:v>66.72222222222223</c:v>
                </c:pt>
                <c:pt idx="15">
                  <c:v>66.72222222222223</c:v>
                </c:pt>
                <c:pt idx="16">
                  <c:v>66.72222222222223</c:v>
                </c:pt>
                <c:pt idx="17">
                  <c:v>66.72222222222223</c:v>
                </c:pt>
                <c:pt idx="18">
                  <c:v>66.72222222222223</c:v>
                </c:pt>
                <c:pt idx="19">
                  <c:v>66.72222222222223</c:v>
                </c:pt>
                <c:pt idx="20">
                  <c:v>66.72222222222223</c:v>
                </c:pt>
                <c:pt idx="21">
                  <c:v>66.72222222222223</c:v>
                </c:pt>
                <c:pt idx="22">
                  <c:v>66.72222222222223</c:v>
                </c:pt>
                <c:pt idx="23">
                  <c:v>66.72222222222223</c:v>
                </c:pt>
                <c:pt idx="24">
                  <c:v>66.72222222222223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Luna direct</c:v>
                </c:pt>
              </c:strCache>
            </c:strRef>
          </c:tx>
          <c:spPr>
            <a:solidFill>
              <a:srgbClr val="B35806"/>
            </a:solidFill>
            <a:ln w="27940" cap="flat">
              <a:solidFill>
                <a:srgbClr val="B35806"/>
              </a:solidFill>
              <a:prstDash val="dash"/>
              <a:round/>
            </a:ln>
            <a:effectLst/>
          </c:spPr>
          <c:marker>
            <c:symbol val="x"/>
            <c:size val="5"/>
            <c:spPr>
              <a:noFill/>
              <a:ln w="161290000" cap="flat">
                <a:solidFill>
                  <a:srgbClr val="B35806"/>
                </a:solidFill>
                <a:prstDash val="solid"/>
                <a:round/>
              </a:ln>
              <a:effectLst/>
            </c:spPr>
          </c:marker>
          <c:xVal>
            <c:numRef>
              <c:f>Sheet1!$A$2:$A$26</c:f>
              <c:numCache>
                <c:formatCode>General</c:formatCode>
                <c:ptCount val="2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</c:numCache>
            </c:numRef>
          </c:xVal>
          <c:yVal>
            <c:numRef>
              <c:f>Sheet1!$E$2:$E$26</c:f>
              <c:numCache>
                <c:formatCode>General</c:formatCode>
                <c:ptCount val="25"/>
                <c:pt idx="0">
                  <c:v>66.72222222222223</c:v>
                </c:pt>
                <c:pt idx="1">
                  <c:v>66.72222222222223</c:v>
                </c:pt>
                <c:pt idx="2">
                  <c:v>66.72222222222223</c:v>
                </c:pt>
                <c:pt idx="3">
                  <c:v>66.72222222222223</c:v>
                </c:pt>
                <c:pt idx="4">
                  <c:v>66.72222222222223</c:v>
                </c:pt>
                <c:pt idx="5">
                  <c:v>66.72222222222223</c:v>
                </c:pt>
                <c:pt idx="6">
                  <c:v>66.72222222222223</c:v>
                </c:pt>
                <c:pt idx="7">
                  <c:v>66.72222222222223</c:v>
                </c:pt>
                <c:pt idx="8">
                  <c:v>66.72222222222223</c:v>
                </c:pt>
                <c:pt idx="9">
                  <c:v>66.72222222222223</c:v>
                </c:pt>
                <c:pt idx="10">
                  <c:v>66.72222222222223</c:v>
                </c:pt>
                <c:pt idx="11">
                  <c:v>66.72222222222223</c:v>
                </c:pt>
                <c:pt idx="12">
                  <c:v>66.72222222222223</c:v>
                </c:pt>
                <c:pt idx="13">
                  <c:v>66.72222222222223</c:v>
                </c:pt>
                <c:pt idx="14">
                  <c:v>66.72222222222223</c:v>
                </c:pt>
                <c:pt idx="15">
                  <c:v>66.72222222222223</c:v>
                </c:pt>
                <c:pt idx="16">
                  <c:v>66.72222222222223</c:v>
                </c:pt>
                <c:pt idx="17">
                  <c:v>66.72222222222223</c:v>
                </c:pt>
                <c:pt idx="18">
                  <c:v>66.72222222222223</c:v>
                </c:pt>
                <c:pt idx="19">
                  <c:v>66.72222222222223</c:v>
                </c:pt>
                <c:pt idx="20">
                  <c:v>66.72222222222223</c:v>
                </c:pt>
                <c:pt idx="21">
                  <c:v>66.72222222222223</c:v>
                </c:pt>
                <c:pt idx="22">
                  <c:v>66.72222222222223</c:v>
                </c:pt>
                <c:pt idx="23">
                  <c:v>66.72222222222223</c:v>
                </c:pt>
                <c:pt idx="24">
                  <c:v>66.72222222222223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24"/>
          <c:min val="0"/>
        </c:scaling>
        <c:delete val="0"/>
        <c:axPos val="b"/>
        <c:majorGridlines>
          <c:spPr>
            <a:ln w="12700" cap="flat">
              <a:solidFill>
                <a:srgbClr val="D9DEE5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low"/>
        <c:spPr>
          <a:ln w="12700" cap="flat">
            <a:solidFill>
              <a:srgbClr val="111111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11111"/>
                </a:solidFill>
                <a:latin typeface="DejaVu Sans"/>
              </a:defRPr>
            </a:pPr>
            <a:endParaRPr lang="en-US"/>
          </a:p>
        </c:txPr>
        <c:crossAx val="2094734552"/>
        <c:crossesAt val="66"/>
        <c:auto val="1"/>
        <c:lblAlgn val="ctr"/>
        <c:noMultiLvlLbl val="1"/>
        <c:majorUnit val="6"/>
      </c:valAx>
      <c:valAx>
        <c:axId val="2094734552"/>
        <c:scaling>
          <c:orientation val="minMax"/>
          <c:max val="68"/>
          <c:min val="66"/>
        </c:scaling>
        <c:delete val="0"/>
        <c:axPos val="l"/>
        <c:majorGridlines>
          <c:spPr>
            <a:ln w="12700" cap="flat">
              <a:solidFill>
                <a:srgbClr val="D9DEE5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low"/>
        <c:spPr>
          <a:ln w="12700" cap="flat">
            <a:solidFill>
              <a:srgbClr val="111111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11111"/>
                </a:solidFill>
                <a:latin typeface="DejaVu Sans"/>
              </a:defRPr>
            </a:pPr>
            <a:endParaRPr lang="en-US"/>
          </a:p>
        </c:txPr>
        <c:crossAx val="2094734554"/>
        <c:crossesAt val="0"/>
        <c:crossBetween val="midCat"/>
        <c:majorUnit val="2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29"/>
          <c:y val="0.05"/>
          <c:w val="0.68"/>
          <c:h val="0.77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Qwen loop</c:v>
                </c:pt>
              </c:strCache>
            </c:strRef>
          </c:tx>
          <c:spPr>
            <a:solidFill>
              <a:srgbClr val="2166AC"/>
            </a:solidFill>
            <a:ln w="27940" cap="flat">
              <a:solidFill>
                <a:srgbClr val="2166AC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noFill/>
              <a:ln w="161290000" cap="flat">
                <a:solidFill>
                  <a:srgbClr val="2166AC"/>
                </a:solidFill>
                <a:prstDash val="solid"/>
                <a:round/>
              </a:ln>
              <a:effectLst/>
            </c:spPr>
          </c:marker>
          <c:xVal>
            <c:numRef>
              <c:f>Sheet1!$A$2:$A$26</c:f>
              <c:numCache>
                <c:formatCode>General</c:formatCode>
                <c:ptCount val="2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</c:numCache>
            </c:numRef>
          </c:xVal>
          <c:yVal>
            <c:numRef>
              <c:f>Sheet1!$B$2:$B$26</c:f>
              <c:numCache>
                <c:formatCode>General</c:formatCode>
                <c:ptCount val="25"/>
                <c:pt idx="0">
                  <c:v>23.651867296834332</c:v>
                </c:pt>
                <c:pt idx="1">
                  <c:v>23.651867296834332</c:v>
                </c:pt>
                <c:pt idx="2">
                  <c:v>23.651867296834332</c:v>
                </c:pt>
                <c:pt idx="3">
                  <c:v>23.651867296834332</c:v>
                </c:pt>
                <c:pt idx="4">
                  <c:v>23.651867296834332</c:v>
                </c:pt>
                <c:pt idx="5">
                  <c:v>23.651867296834332</c:v>
                </c:pt>
                <c:pt idx="6">
                  <c:v>23.651867296834332</c:v>
                </c:pt>
                <c:pt idx="7">
                  <c:v>23.651867296834332</c:v>
                </c:pt>
                <c:pt idx="8">
                  <c:v>23.651867296834332</c:v>
                </c:pt>
                <c:pt idx="9">
                  <c:v>23.651867296834332</c:v>
                </c:pt>
                <c:pt idx="10">
                  <c:v>23.651867296834332</c:v>
                </c:pt>
                <c:pt idx="11">
                  <c:v>23.651867296834332</c:v>
                </c:pt>
                <c:pt idx="12">
                  <c:v>23.651867296834332</c:v>
                </c:pt>
                <c:pt idx="13">
                  <c:v>23.741393464453807</c:v>
                </c:pt>
                <c:pt idx="14">
                  <c:v>23.741393464453807</c:v>
                </c:pt>
                <c:pt idx="15">
                  <c:v>23.741393464453807</c:v>
                </c:pt>
                <c:pt idx="16">
                  <c:v>23.741393464453807</c:v>
                </c:pt>
                <c:pt idx="17">
                  <c:v>23.741393464453807</c:v>
                </c:pt>
                <c:pt idx="18">
                  <c:v>23.741393464453807</c:v>
                </c:pt>
                <c:pt idx="19">
                  <c:v>23.741393464453807</c:v>
                </c:pt>
                <c:pt idx="20">
                  <c:v>23.741393464453807</c:v>
                </c:pt>
                <c:pt idx="21">
                  <c:v>23.741393464453807</c:v>
                </c:pt>
                <c:pt idx="22">
                  <c:v>23.741393464453807</c:v>
                </c:pt>
                <c:pt idx="23">
                  <c:v>24.82557444949687</c:v>
                </c:pt>
                <c:pt idx="24">
                  <c:v>24.82557444949687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Qwen direct</c:v>
                </c:pt>
              </c:strCache>
            </c:strRef>
          </c:tx>
          <c:spPr>
            <a:solidFill>
              <a:srgbClr val="2166AC"/>
            </a:solidFill>
            <a:ln w="27940" cap="flat">
              <a:solidFill>
                <a:srgbClr val="2166AC"/>
              </a:solidFill>
              <a:prstDash val="dash"/>
              <a:round/>
            </a:ln>
            <a:effectLst/>
          </c:spPr>
          <c:marker>
            <c:symbol val="x"/>
            <c:size val="5"/>
            <c:spPr>
              <a:noFill/>
              <a:ln w="161290000" cap="flat">
                <a:solidFill>
                  <a:srgbClr val="2166AC"/>
                </a:solidFill>
                <a:prstDash val="solid"/>
                <a:round/>
              </a:ln>
              <a:effectLst/>
            </c:spPr>
          </c:marker>
          <c:xVal>
            <c:numRef>
              <c:f>Sheet1!$A$2:$A$26</c:f>
              <c:numCache>
                <c:formatCode>General</c:formatCode>
                <c:ptCount val="2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</c:numCache>
            </c:numRef>
          </c:xVal>
          <c:yVal>
            <c:numRef>
              <c:f>Sheet1!$C$2:$C$26</c:f>
              <c:numCache>
                <c:formatCode>General</c:formatCode>
                <c:ptCount val="25"/>
                <c:pt idx="0">
                  <c:v>23.651867296834332</c:v>
                </c:pt>
                <c:pt idx="1">
                  <c:v>23.651867296834332</c:v>
                </c:pt>
                <c:pt idx="2">
                  <c:v>23.651867296834332</c:v>
                </c:pt>
                <c:pt idx="3">
                  <c:v>23.651867296834332</c:v>
                </c:pt>
                <c:pt idx="4">
                  <c:v>23.651867296834332</c:v>
                </c:pt>
                <c:pt idx="5">
                  <c:v>23.651867296834332</c:v>
                </c:pt>
                <c:pt idx="6">
                  <c:v>23.651867296834332</c:v>
                </c:pt>
                <c:pt idx="7">
                  <c:v>23.651867296834332</c:v>
                </c:pt>
                <c:pt idx="8">
                  <c:v>23.651867296834332</c:v>
                </c:pt>
                <c:pt idx="9">
                  <c:v>23.651867296834332</c:v>
                </c:pt>
                <c:pt idx="10">
                  <c:v>23.651867296834332</c:v>
                </c:pt>
                <c:pt idx="11">
                  <c:v>23.651867296834332</c:v>
                </c:pt>
                <c:pt idx="12">
                  <c:v>23.651867296834332</c:v>
                </c:pt>
                <c:pt idx="13">
                  <c:v>23.651867296834332</c:v>
                </c:pt>
                <c:pt idx="14">
                  <c:v>23.651867296834332</c:v>
                </c:pt>
                <c:pt idx="15">
                  <c:v>23.651867296834332</c:v>
                </c:pt>
                <c:pt idx="16">
                  <c:v>23.651867296834332</c:v>
                </c:pt>
                <c:pt idx="17">
                  <c:v>23.651867296834332</c:v>
                </c:pt>
                <c:pt idx="18">
                  <c:v>24.82557444949687</c:v>
                </c:pt>
                <c:pt idx="19">
                  <c:v>24.82557444949687</c:v>
                </c:pt>
                <c:pt idx="20">
                  <c:v>24.82557444949687</c:v>
                </c:pt>
                <c:pt idx="21">
                  <c:v>24.82557444949687</c:v>
                </c:pt>
                <c:pt idx="22">
                  <c:v>24.82557444949687</c:v>
                </c:pt>
                <c:pt idx="23">
                  <c:v>24.82557444949687</c:v>
                </c:pt>
                <c:pt idx="24">
                  <c:v>24.82557444949687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Luna loop</c:v>
                </c:pt>
              </c:strCache>
            </c:strRef>
          </c:tx>
          <c:spPr>
            <a:solidFill>
              <a:srgbClr val="B35806"/>
            </a:solidFill>
            <a:ln w="27940" cap="flat">
              <a:solidFill>
                <a:srgbClr val="B35806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noFill/>
              <a:ln w="161290000" cap="flat">
                <a:solidFill>
                  <a:srgbClr val="B35806"/>
                </a:solidFill>
                <a:prstDash val="solid"/>
                <a:round/>
              </a:ln>
              <a:effectLst/>
            </c:spPr>
          </c:marker>
          <c:xVal>
            <c:numRef>
              <c:f>Sheet1!$A$2:$A$26</c:f>
              <c:numCache>
                <c:formatCode>General</c:formatCode>
                <c:ptCount val="2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</c:numCache>
            </c:numRef>
          </c:xVal>
          <c:yVal>
            <c:numRef>
              <c:f>Sheet1!$D$2:$D$26</c:f>
              <c:numCache>
                <c:formatCode>General</c:formatCode>
                <c:ptCount val="25"/>
                <c:pt idx="0">
                  <c:v>23.651867296834332</c:v>
                </c:pt>
                <c:pt idx="1">
                  <c:v>23.651867296834332</c:v>
                </c:pt>
                <c:pt idx="2">
                  <c:v>23.651867296834332</c:v>
                </c:pt>
                <c:pt idx="3">
                  <c:v>23.741393464453807</c:v>
                </c:pt>
                <c:pt idx="4">
                  <c:v>23.741393464453807</c:v>
                </c:pt>
                <c:pt idx="5">
                  <c:v>23.741393464453807</c:v>
                </c:pt>
                <c:pt idx="6">
                  <c:v>23.741393464453807</c:v>
                </c:pt>
                <c:pt idx="7">
                  <c:v>23.741393464453807</c:v>
                </c:pt>
                <c:pt idx="8">
                  <c:v>23.741393464453807</c:v>
                </c:pt>
                <c:pt idx="9">
                  <c:v>27.679073241573242</c:v>
                </c:pt>
                <c:pt idx="10">
                  <c:v>30.932023994523995</c:v>
                </c:pt>
                <c:pt idx="11">
                  <c:v>30.932023994523995</c:v>
                </c:pt>
                <c:pt idx="12">
                  <c:v>30.932023994523995</c:v>
                </c:pt>
                <c:pt idx="13">
                  <c:v>30.932023994523995</c:v>
                </c:pt>
                <c:pt idx="14">
                  <c:v>30.932023994523995</c:v>
                </c:pt>
                <c:pt idx="15">
                  <c:v>30.932023994523995</c:v>
                </c:pt>
                <c:pt idx="16">
                  <c:v>30.932023994523995</c:v>
                </c:pt>
                <c:pt idx="17">
                  <c:v>30.932023994523995</c:v>
                </c:pt>
                <c:pt idx="18">
                  <c:v>30.932023994523995</c:v>
                </c:pt>
                <c:pt idx="19">
                  <c:v>30.932023994523995</c:v>
                </c:pt>
                <c:pt idx="20">
                  <c:v>30.932023994523995</c:v>
                </c:pt>
                <c:pt idx="21">
                  <c:v>30.932023994523995</c:v>
                </c:pt>
                <c:pt idx="22">
                  <c:v>30.932023994523995</c:v>
                </c:pt>
                <c:pt idx="23">
                  <c:v>30.932023994523995</c:v>
                </c:pt>
                <c:pt idx="24">
                  <c:v>30.932023994523995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Luna direct</c:v>
                </c:pt>
              </c:strCache>
            </c:strRef>
          </c:tx>
          <c:spPr>
            <a:solidFill>
              <a:srgbClr val="B35806"/>
            </a:solidFill>
            <a:ln w="27940" cap="flat">
              <a:solidFill>
                <a:srgbClr val="B35806"/>
              </a:solidFill>
              <a:prstDash val="dash"/>
              <a:round/>
            </a:ln>
            <a:effectLst/>
          </c:spPr>
          <c:marker>
            <c:symbol val="x"/>
            <c:size val="5"/>
            <c:spPr>
              <a:noFill/>
              <a:ln w="161290000" cap="flat">
                <a:solidFill>
                  <a:srgbClr val="B35806"/>
                </a:solidFill>
                <a:prstDash val="solid"/>
                <a:round/>
              </a:ln>
              <a:effectLst/>
            </c:spPr>
          </c:marker>
          <c:xVal>
            <c:numRef>
              <c:f>Sheet1!$A$2:$A$26</c:f>
              <c:numCache>
                <c:formatCode>General</c:formatCode>
                <c:ptCount val="2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</c:numCache>
            </c:numRef>
          </c:xVal>
          <c:yVal>
            <c:numRef>
              <c:f>Sheet1!$E$2:$E$26</c:f>
              <c:numCache>
                <c:formatCode>General</c:formatCode>
                <c:ptCount val="25"/>
                <c:pt idx="0">
                  <c:v>23.651867296834332</c:v>
                </c:pt>
                <c:pt idx="1">
                  <c:v>23.651867296834332</c:v>
                </c:pt>
                <c:pt idx="2">
                  <c:v>23.741393464453807</c:v>
                </c:pt>
                <c:pt idx="3">
                  <c:v>23.741393464453807</c:v>
                </c:pt>
                <c:pt idx="4">
                  <c:v>23.741393464453807</c:v>
                </c:pt>
                <c:pt idx="5">
                  <c:v>23.741393464453807</c:v>
                </c:pt>
                <c:pt idx="6">
                  <c:v>23.741393464453807</c:v>
                </c:pt>
                <c:pt idx="7">
                  <c:v>23.741393464453807</c:v>
                </c:pt>
                <c:pt idx="8">
                  <c:v>23.741393464453807</c:v>
                </c:pt>
                <c:pt idx="9">
                  <c:v>24.035009059286445</c:v>
                </c:pt>
                <c:pt idx="10">
                  <c:v>24.035009059286445</c:v>
                </c:pt>
                <c:pt idx="11">
                  <c:v>24.035009059286445</c:v>
                </c:pt>
                <c:pt idx="12">
                  <c:v>24.035009059286445</c:v>
                </c:pt>
                <c:pt idx="13">
                  <c:v>24.035009059286445</c:v>
                </c:pt>
                <c:pt idx="14">
                  <c:v>24.035009059286445</c:v>
                </c:pt>
                <c:pt idx="15">
                  <c:v>24.035009059286445</c:v>
                </c:pt>
                <c:pt idx="16">
                  <c:v>27.679073241573242</c:v>
                </c:pt>
                <c:pt idx="17">
                  <c:v>27.679073241573242</c:v>
                </c:pt>
                <c:pt idx="18">
                  <c:v>27.679073241573242</c:v>
                </c:pt>
                <c:pt idx="19">
                  <c:v>27.679073241573242</c:v>
                </c:pt>
                <c:pt idx="20">
                  <c:v>27.679073241573242</c:v>
                </c:pt>
                <c:pt idx="21">
                  <c:v>27.679073241573242</c:v>
                </c:pt>
                <c:pt idx="22">
                  <c:v>27.679073241573242</c:v>
                </c:pt>
                <c:pt idx="23">
                  <c:v>27.679073241573242</c:v>
                </c:pt>
                <c:pt idx="24">
                  <c:v>27.679073241573242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24"/>
          <c:min val="0"/>
        </c:scaling>
        <c:delete val="0"/>
        <c:axPos val="b"/>
        <c:majorGridlines>
          <c:spPr>
            <a:ln w="12700" cap="flat">
              <a:solidFill>
                <a:srgbClr val="D9DEE5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low"/>
        <c:spPr>
          <a:ln w="12700" cap="flat">
            <a:solidFill>
              <a:srgbClr val="111111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11111"/>
                </a:solidFill>
                <a:latin typeface="DejaVu Sans"/>
              </a:defRPr>
            </a:pPr>
            <a:endParaRPr lang="en-US"/>
          </a:p>
        </c:txPr>
        <c:crossAx val="2094734552"/>
        <c:crossesAt val="22.5"/>
        <c:auto val="1"/>
        <c:lblAlgn val="ctr"/>
        <c:noMultiLvlLbl val="1"/>
        <c:majorUnit val="6"/>
      </c:valAx>
      <c:valAx>
        <c:axId val="2094734552"/>
        <c:scaling>
          <c:orientation val="minMax"/>
          <c:max val="32.5"/>
          <c:min val="22.5"/>
        </c:scaling>
        <c:delete val="0"/>
        <c:axPos val="l"/>
        <c:majorGridlines>
          <c:spPr>
            <a:ln w="12700" cap="flat">
              <a:solidFill>
                <a:srgbClr val="D9DEE5"/>
              </a:solidFill>
              <a:prstDash val="solid"/>
              <a:round/>
            </a:ln>
          </c:spPr>
        </c:majorGridlines>
        <c:numFmt formatCode="0.0" sourceLinked="0"/>
        <c:majorTickMark val="none"/>
        <c:minorTickMark val="none"/>
        <c:tickLblPos val="low"/>
        <c:spPr>
          <a:ln w="12700" cap="flat">
            <a:solidFill>
              <a:srgbClr val="111111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11111"/>
                </a:solidFill>
                <a:latin typeface="DejaVu Sans"/>
              </a:defRPr>
            </a:pPr>
            <a:endParaRPr lang="en-US"/>
          </a:p>
        </c:txPr>
        <c:crossAx val="2094734554"/>
        <c:crossesAt val="0"/>
        <c:crossBetween val="midCat"/>
        <c:majorUnit val="2.5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29"/>
          <c:y val="0.05"/>
          <c:w val="0.68"/>
          <c:h val="0.77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Qwen loop</c:v>
                </c:pt>
              </c:strCache>
            </c:strRef>
          </c:tx>
          <c:spPr>
            <a:solidFill>
              <a:srgbClr val="2166AC"/>
            </a:solidFill>
            <a:ln w="27940" cap="flat">
              <a:solidFill>
                <a:srgbClr val="2166AC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noFill/>
              <a:ln w="161290000" cap="flat">
                <a:solidFill>
                  <a:srgbClr val="2166AC"/>
                </a:solidFill>
                <a:prstDash val="solid"/>
                <a:round/>
              </a:ln>
              <a:effectLst/>
            </c:spPr>
          </c:marker>
          <c:xVal>
            <c:numRef>
              <c:f>Sheet1!$A$2:$A$26</c:f>
              <c:numCache>
                <c:formatCode>General</c:formatCode>
                <c:ptCount val="2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</c:numCache>
            </c:numRef>
          </c:xVal>
          <c:yVal>
            <c:numRef>
              <c:f>Sheet1!$B$2:$B$26</c:f>
              <c:numCache>
                <c:formatCode>General</c:formatCode>
                <c:ptCount val="25"/>
                <c:pt idx="0">
                  <c:v>40</c:v>
                </c:pt>
                <c:pt idx="1">
                  <c:v>40</c:v>
                </c:pt>
                <c:pt idx="2">
                  <c:v>40</c:v>
                </c:pt>
                <c:pt idx="3">
                  <c:v>40</c:v>
                </c:pt>
                <c:pt idx="4">
                  <c:v>40</c:v>
                </c:pt>
                <c:pt idx="5">
                  <c:v>51.7</c:v>
                </c:pt>
                <c:pt idx="6">
                  <c:v>51.7</c:v>
                </c:pt>
                <c:pt idx="7">
                  <c:v>51.7</c:v>
                </c:pt>
                <c:pt idx="8">
                  <c:v>51.7</c:v>
                </c:pt>
                <c:pt idx="9">
                  <c:v>51.7</c:v>
                </c:pt>
                <c:pt idx="10">
                  <c:v>51.7</c:v>
                </c:pt>
                <c:pt idx="11">
                  <c:v>51.7</c:v>
                </c:pt>
                <c:pt idx="12">
                  <c:v>51.7</c:v>
                </c:pt>
                <c:pt idx="13">
                  <c:v>51.7</c:v>
                </c:pt>
                <c:pt idx="14">
                  <c:v>51.7</c:v>
                </c:pt>
                <c:pt idx="15">
                  <c:v>51.7</c:v>
                </c:pt>
                <c:pt idx="16">
                  <c:v>51.7</c:v>
                </c:pt>
                <c:pt idx="17">
                  <c:v>51.7</c:v>
                </c:pt>
                <c:pt idx="18">
                  <c:v>51.7</c:v>
                </c:pt>
                <c:pt idx="19">
                  <c:v>51.7</c:v>
                </c:pt>
                <c:pt idx="20">
                  <c:v>51.7</c:v>
                </c:pt>
                <c:pt idx="21">
                  <c:v>51.7</c:v>
                </c:pt>
                <c:pt idx="22">
                  <c:v>51.7</c:v>
                </c:pt>
                <c:pt idx="23">
                  <c:v>51.7</c:v>
                </c:pt>
                <c:pt idx="24">
                  <c:v>51.7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Qwen direct</c:v>
                </c:pt>
              </c:strCache>
            </c:strRef>
          </c:tx>
          <c:spPr>
            <a:solidFill>
              <a:srgbClr val="2166AC"/>
            </a:solidFill>
            <a:ln w="27940" cap="flat">
              <a:solidFill>
                <a:srgbClr val="2166AC"/>
              </a:solidFill>
              <a:prstDash val="dash"/>
              <a:round/>
            </a:ln>
            <a:effectLst/>
          </c:spPr>
          <c:marker>
            <c:symbol val="x"/>
            <c:size val="5"/>
            <c:spPr>
              <a:noFill/>
              <a:ln w="161290000" cap="flat">
                <a:solidFill>
                  <a:srgbClr val="2166AC"/>
                </a:solidFill>
                <a:prstDash val="solid"/>
                <a:round/>
              </a:ln>
              <a:effectLst/>
            </c:spPr>
          </c:marker>
          <c:xVal>
            <c:numRef>
              <c:f>Sheet1!$A$2:$A$26</c:f>
              <c:numCache>
                <c:formatCode>General</c:formatCode>
                <c:ptCount val="2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</c:numCache>
            </c:numRef>
          </c:xVal>
          <c:yVal>
            <c:numRef>
              <c:f>Sheet1!$C$2:$C$26</c:f>
              <c:numCache>
                <c:formatCode>General</c:formatCode>
                <c:ptCount val="25"/>
                <c:pt idx="0">
                  <c:v>40</c:v>
                </c:pt>
                <c:pt idx="1">
                  <c:v>40</c:v>
                </c:pt>
                <c:pt idx="2">
                  <c:v>51.7</c:v>
                </c:pt>
                <c:pt idx="3">
                  <c:v>51.7</c:v>
                </c:pt>
                <c:pt idx="4">
                  <c:v>51.7</c:v>
                </c:pt>
                <c:pt idx="5">
                  <c:v>51.7</c:v>
                </c:pt>
                <c:pt idx="6">
                  <c:v>51.7</c:v>
                </c:pt>
                <c:pt idx="7">
                  <c:v>51.7</c:v>
                </c:pt>
                <c:pt idx="8">
                  <c:v>51.7</c:v>
                </c:pt>
                <c:pt idx="9">
                  <c:v>51.7</c:v>
                </c:pt>
                <c:pt idx="10">
                  <c:v>51.7</c:v>
                </c:pt>
                <c:pt idx="11">
                  <c:v>51.7</c:v>
                </c:pt>
                <c:pt idx="12">
                  <c:v>51.7</c:v>
                </c:pt>
                <c:pt idx="13">
                  <c:v>51.7</c:v>
                </c:pt>
                <c:pt idx="14">
                  <c:v>51.7</c:v>
                </c:pt>
                <c:pt idx="15">
                  <c:v>51.7</c:v>
                </c:pt>
                <c:pt idx="16">
                  <c:v>51.7</c:v>
                </c:pt>
                <c:pt idx="17">
                  <c:v>51.7</c:v>
                </c:pt>
                <c:pt idx="18">
                  <c:v>51.7</c:v>
                </c:pt>
                <c:pt idx="19">
                  <c:v>51.7</c:v>
                </c:pt>
                <c:pt idx="20">
                  <c:v>51.7</c:v>
                </c:pt>
                <c:pt idx="21">
                  <c:v>51.7</c:v>
                </c:pt>
                <c:pt idx="22">
                  <c:v>51.7</c:v>
                </c:pt>
                <c:pt idx="23">
                  <c:v>51.7</c:v>
                </c:pt>
                <c:pt idx="24">
                  <c:v>51.7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Luna loop</c:v>
                </c:pt>
              </c:strCache>
            </c:strRef>
          </c:tx>
          <c:spPr>
            <a:solidFill>
              <a:srgbClr val="B35806"/>
            </a:solidFill>
            <a:ln w="27940" cap="flat">
              <a:solidFill>
                <a:srgbClr val="B35806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noFill/>
              <a:ln w="161290000" cap="flat">
                <a:solidFill>
                  <a:srgbClr val="B35806"/>
                </a:solidFill>
                <a:prstDash val="solid"/>
                <a:round/>
              </a:ln>
              <a:effectLst/>
            </c:spPr>
          </c:marker>
          <c:xVal>
            <c:numRef>
              <c:f>Sheet1!$A$2:$A$26</c:f>
              <c:numCache>
                <c:formatCode>General</c:formatCode>
                <c:ptCount val="2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</c:numCache>
            </c:numRef>
          </c:xVal>
          <c:yVal>
            <c:numRef>
              <c:f>Sheet1!$D$2:$D$26</c:f>
              <c:numCache>
                <c:formatCode>General</c:formatCode>
                <c:ptCount val="25"/>
                <c:pt idx="0">
                  <c:v>40</c:v>
                </c:pt>
                <c:pt idx="1">
                  <c:v>40</c:v>
                </c:pt>
                <c:pt idx="2">
                  <c:v>51.7</c:v>
                </c:pt>
                <c:pt idx="3">
                  <c:v>51.7</c:v>
                </c:pt>
                <c:pt idx="4">
                  <c:v>52.1</c:v>
                </c:pt>
                <c:pt idx="5">
                  <c:v>52.1</c:v>
                </c:pt>
                <c:pt idx="6">
                  <c:v>52.1</c:v>
                </c:pt>
                <c:pt idx="7">
                  <c:v>52.1</c:v>
                </c:pt>
                <c:pt idx="8">
                  <c:v>52.1</c:v>
                </c:pt>
                <c:pt idx="9">
                  <c:v>52.1</c:v>
                </c:pt>
                <c:pt idx="10">
                  <c:v>52.1</c:v>
                </c:pt>
                <c:pt idx="11">
                  <c:v>52.1</c:v>
                </c:pt>
                <c:pt idx="12">
                  <c:v>52.1</c:v>
                </c:pt>
                <c:pt idx="13">
                  <c:v>52.1</c:v>
                </c:pt>
                <c:pt idx="14">
                  <c:v>52.1</c:v>
                </c:pt>
                <c:pt idx="15">
                  <c:v>52.1</c:v>
                </c:pt>
                <c:pt idx="16">
                  <c:v>52.1</c:v>
                </c:pt>
                <c:pt idx="17">
                  <c:v>52.1</c:v>
                </c:pt>
                <c:pt idx="18">
                  <c:v>52.1</c:v>
                </c:pt>
                <c:pt idx="19">
                  <c:v>52.1</c:v>
                </c:pt>
                <c:pt idx="20">
                  <c:v>52.1</c:v>
                </c:pt>
                <c:pt idx="21">
                  <c:v>52.1</c:v>
                </c:pt>
                <c:pt idx="22">
                  <c:v>52.1</c:v>
                </c:pt>
                <c:pt idx="23">
                  <c:v>52.1</c:v>
                </c:pt>
                <c:pt idx="24">
                  <c:v>52.1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Luna direct</c:v>
                </c:pt>
              </c:strCache>
            </c:strRef>
          </c:tx>
          <c:spPr>
            <a:solidFill>
              <a:srgbClr val="B35806"/>
            </a:solidFill>
            <a:ln w="27940" cap="flat">
              <a:solidFill>
                <a:srgbClr val="B35806"/>
              </a:solidFill>
              <a:prstDash val="dash"/>
              <a:round/>
            </a:ln>
            <a:effectLst/>
          </c:spPr>
          <c:marker>
            <c:symbol val="x"/>
            <c:size val="5"/>
            <c:spPr>
              <a:noFill/>
              <a:ln w="161290000" cap="flat">
                <a:solidFill>
                  <a:srgbClr val="B35806"/>
                </a:solidFill>
                <a:prstDash val="solid"/>
                <a:round/>
              </a:ln>
              <a:effectLst/>
            </c:spPr>
          </c:marker>
          <c:xVal>
            <c:numRef>
              <c:f>Sheet1!$A$2:$A$26</c:f>
              <c:numCache>
                <c:formatCode>General</c:formatCode>
                <c:ptCount val="2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</c:numCache>
            </c:numRef>
          </c:xVal>
          <c:yVal>
            <c:numRef>
              <c:f>Sheet1!$E$2:$E$26</c:f>
              <c:numCache>
                <c:formatCode>General</c:formatCode>
                <c:ptCount val="25"/>
                <c:pt idx="0">
                  <c:v>40</c:v>
                </c:pt>
                <c:pt idx="1">
                  <c:v>40</c:v>
                </c:pt>
                <c:pt idx="2">
                  <c:v>42.00000000000001</c:v>
                </c:pt>
                <c:pt idx="3">
                  <c:v>42.00000000000001</c:v>
                </c:pt>
                <c:pt idx="4">
                  <c:v>42.00000000000001</c:v>
                </c:pt>
                <c:pt idx="5">
                  <c:v>42.00000000000001</c:v>
                </c:pt>
                <c:pt idx="6">
                  <c:v>42.00000000000001</c:v>
                </c:pt>
                <c:pt idx="7">
                  <c:v>44.6</c:v>
                </c:pt>
                <c:pt idx="8">
                  <c:v>44.6</c:v>
                </c:pt>
                <c:pt idx="9">
                  <c:v>44.6</c:v>
                </c:pt>
                <c:pt idx="10">
                  <c:v>51.7</c:v>
                </c:pt>
                <c:pt idx="11">
                  <c:v>51.7</c:v>
                </c:pt>
                <c:pt idx="12">
                  <c:v>51.7</c:v>
                </c:pt>
                <c:pt idx="13">
                  <c:v>51.7</c:v>
                </c:pt>
                <c:pt idx="14">
                  <c:v>51.7</c:v>
                </c:pt>
                <c:pt idx="15">
                  <c:v>51.7</c:v>
                </c:pt>
                <c:pt idx="16">
                  <c:v>51.7</c:v>
                </c:pt>
                <c:pt idx="17">
                  <c:v>51.7</c:v>
                </c:pt>
                <c:pt idx="18">
                  <c:v>51.7</c:v>
                </c:pt>
                <c:pt idx="19">
                  <c:v>51.7</c:v>
                </c:pt>
                <c:pt idx="20">
                  <c:v>51.7</c:v>
                </c:pt>
                <c:pt idx="21">
                  <c:v>51.7</c:v>
                </c:pt>
                <c:pt idx="22">
                  <c:v>52.1</c:v>
                </c:pt>
                <c:pt idx="23">
                  <c:v>52.1</c:v>
                </c:pt>
                <c:pt idx="24">
                  <c:v>52.1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24"/>
          <c:min val="0"/>
        </c:scaling>
        <c:delete val="0"/>
        <c:axPos val="b"/>
        <c:majorGridlines>
          <c:spPr>
            <a:ln w="12700" cap="flat">
              <a:solidFill>
                <a:srgbClr val="D9DEE5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low"/>
        <c:spPr>
          <a:ln w="12700" cap="flat">
            <a:solidFill>
              <a:srgbClr val="111111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11111"/>
                </a:solidFill>
                <a:latin typeface="DejaVu Sans"/>
              </a:defRPr>
            </a:pPr>
            <a:endParaRPr lang="en-US"/>
          </a:p>
        </c:txPr>
        <c:crossAx val="2094734552"/>
        <c:crossesAt val="35"/>
        <c:auto val="1"/>
        <c:lblAlgn val="ctr"/>
        <c:noMultiLvlLbl val="1"/>
        <c:majorUnit val="6"/>
      </c:valAx>
      <c:valAx>
        <c:axId val="2094734552"/>
        <c:scaling>
          <c:orientation val="minMax"/>
          <c:max val="55"/>
          <c:min val="35"/>
        </c:scaling>
        <c:delete val="0"/>
        <c:axPos val="l"/>
        <c:majorGridlines>
          <c:spPr>
            <a:ln w="12700" cap="flat">
              <a:solidFill>
                <a:srgbClr val="D9DEE5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low"/>
        <c:spPr>
          <a:ln w="12700" cap="flat">
            <a:solidFill>
              <a:srgbClr val="111111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11111"/>
                </a:solidFill>
                <a:latin typeface="DejaVu Sans"/>
              </a:defRPr>
            </a:pPr>
            <a:endParaRPr lang="en-US"/>
          </a:p>
        </c:txPr>
        <c:crossAx val="2094734554"/>
        <c:crossesAt val="0"/>
        <c:crossBetween val="midCat"/>
        <c:majorUnit val="5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29"/>
          <c:y val="0.05"/>
          <c:w val="0.68"/>
          <c:h val="0.77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Qwen loop</c:v>
                </c:pt>
              </c:strCache>
            </c:strRef>
          </c:tx>
          <c:spPr>
            <a:solidFill>
              <a:srgbClr val="2166AC"/>
            </a:solidFill>
            <a:ln w="27940" cap="flat">
              <a:solidFill>
                <a:srgbClr val="2166AC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noFill/>
              <a:ln w="161290000" cap="flat">
                <a:solidFill>
                  <a:srgbClr val="2166AC"/>
                </a:solidFill>
                <a:prstDash val="solid"/>
                <a:round/>
              </a:ln>
              <a:effectLst/>
            </c:spPr>
          </c:marker>
          <c:xVal>
            <c:numRef>
              <c:f>Sheet1!$A$2:$A$26</c:f>
              <c:numCache>
                <c:formatCode>General</c:formatCode>
                <c:ptCount val="2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</c:numCache>
            </c:numRef>
          </c:xVal>
          <c:yVal>
            <c:numRef>
              <c:f>Sheet1!$B$2:$B$26</c:f>
              <c:numCache>
                <c:formatCode>General</c:formatCode>
                <c:ptCount val="25"/>
                <c:pt idx="0">
                  <c:v>30</c:v>
                </c:pt>
                <c:pt idx="1">
                  <c:v>30</c:v>
                </c:pt>
                <c:pt idx="2">
                  <c:v>30</c:v>
                </c:pt>
                <c:pt idx="3">
                  <c:v>30</c:v>
                </c:pt>
                <c:pt idx="4">
                  <c:v>30</c:v>
                </c:pt>
                <c:pt idx="5">
                  <c:v>30</c:v>
                </c:pt>
                <c:pt idx="6">
                  <c:v>30</c:v>
                </c:pt>
                <c:pt idx="7">
                  <c:v>30</c:v>
                </c:pt>
                <c:pt idx="8">
                  <c:v>31.666666666666664</c:v>
                </c:pt>
                <c:pt idx="9">
                  <c:v>31.666666666666664</c:v>
                </c:pt>
                <c:pt idx="10">
                  <c:v>31.666666666666664</c:v>
                </c:pt>
                <c:pt idx="11">
                  <c:v>31.666666666666664</c:v>
                </c:pt>
                <c:pt idx="12">
                  <c:v>31.666666666666664</c:v>
                </c:pt>
                <c:pt idx="13">
                  <c:v>31.666666666666664</c:v>
                </c:pt>
                <c:pt idx="14">
                  <c:v>35</c:v>
                </c:pt>
                <c:pt idx="15">
                  <c:v>35</c:v>
                </c:pt>
                <c:pt idx="16">
                  <c:v>35</c:v>
                </c:pt>
                <c:pt idx="17">
                  <c:v>35</c:v>
                </c:pt>
                <c:pt idx="18">
                  <c:v>35</c:v>
                </c:pt>
                <c:pt idx="19">
                  <c:v>35</c:v>
                </c:pt>
                <c:pt idx="20">
                  <c:v>35</c:v>
                </c:pt>
                <c:pt idx="21">
                  <c:v>35</c:v>
                </c:pt>
                <c:pt idx="22">
                  <c:v>35</c:v>
                </c:pt>
                <c:pt idx="23">
                  <c:v>35</c:v>
                </c:pt>
                <c:pt idx="24">
                  <c:v>35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Qwen direct</c:v>
                </c:pt>
              </c:strCache>
            </c:strRef>
          </c:tx>
          <c:spPr>
            <a:solidFill>
              <a:srgbClr val="2166AC"/>
            </a:solidFill>
            <a:ln w="27940" cap="flat">
              <a:solidFill>
                <a:srgbClr val="2166AC"/>
              </a:solidFill>
              <a:prstDash val="dash"/>
              <a:round/>
            </a:ln>
            <a:effectLst/>
          </c:spPr>
          <c:marker>
            <c:symbol val="x"/>
            <c:size val="5"/>
            <c:spPr>
              <a:noFill/>
              <a:ln w="161290000" cap="flat">
                <a:solidFill>
                  <a:srgbClr val="2166AC"/>
                </a:solidFill>
                <a:prstDash val="solid"/>
                <a:round/>
              </a:ln>
              <a:effectLst/>
            </c:spPr>
          </c:marker>
          <c:xVal>
            <c:numRef>
              <c:f>Sheet1!$A$2:$A$26</c:f>
              <c:numCache>
                <c:formatCode>General</c:formatCode>
                <c:ptCount val="2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</c:numCache>
            </c:numRef>
          </c:xVal>
          <c:yVal>
            <c:numRef>
              <c:f>Sheet1!$C$2:$C$26</c:f>
              <c:numCache>
                <c:formatCode>General</c:formatCode>
                <c:ptCount val="25"/>
                <c:pt idx="0">
                  <c:v>30</c:v>
                </c:pt>
                <c:pt idx="1">
                  <c:v>30</c:v>
                </c:pt>
                <c:pt idx="2">
                  <c:v>30</c:v>
                </c:pt>
                <c:pt idx="3">
                  <c:v>30</c:v>
                </c:pt>
                <c:pt idx="4">
                  <c:v>30</c:v>
                </c:pt>
                <c:pt idx="5">
                  <c:v>30</c:v>
                </c:pt>
                <c:pt idx="6">
                  <c:v>30</c:v>
                </c:pt>
                <c:pt idx="7">
                  <c:v>30</c:v>
                </c:pt>
                <c:pt idx="8">
                  <c:v>30</c:v>
                </c:pt>
                <c:pt idx="9">
                  <c:v>31.666666666666664</c:v>
                </c:pt>
                <c:pt idx="10">
                  <c:v>31.666666666666664</c:v>
                </c:pt>
                <c:pt idx="11">
                  <c:v>31.666666666666664</c:v>
                </c:pt>
                <c:pt idx="12">
                  <c:v>31.666666666666664</c:v>
                </c:pt>
                <c:pt idx="13">
                  <c:v>31.666666666666664</c:v>
                </c:pt>
                <c:pt idx="14">
                  <c:v>31.666666666666664</c:v>
                </c:pt>
                <c:pt idx="15">
                  <c:v>31.666666666666664</c:v>
                </c:pt>
                <c:pt idx="16">
                  <c:v>31.666666666666664</c:v>
                </c:pt>
                <c:pt idx="17">
                  <c:v>31.666666666666664</c:v>
                </c:pt>
                <c:pt idx="18">
                  <c:v>35</c:v>
                </c:pt>
                <c:pt idx="19">
                  <c:v>35</c:v>
                </c:pt>
                <c:pt idx="20">
                  <c:v>35</c:v>
                </c:pt>
                <c:pt idx="21">
                  <c:v>35</c:v>
                </c:pt>
                <c:pt idx="22">
                  <c:v>35</c:v>
                </c:pt>
                <c:pt idx="23">
                  <c:v>35</c:v>
                </c:pt>
                <c:pt idx="24">
                  <c:v>35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Luna loop</c:v>
                </c:pt>
              </c:strCache>
            </c:strRef>
          </c:tx>
          <c:spPr>
            <a:solidFill>
              <a:srgbClr val="B35806"/>
            </a:solidFill>
            <a:ln w="27940" cap="flat">
              <a:solidFill>
                <a:srgbClr val="B35806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noFill/>
              <a:ln w="161290000" cap="flat">
                <a:solidFill>
                  <a:srgbClr val="B35806"/>
                </a:solidFill>
                <a:prstDash val="solid"/>
                <a:round/>
              </a:ln>
              <a:effectLst/>
            </c:spPr>
          </c:marker>
          <c:xVal>
            <c:numRef>
              <c:f>Sheet1!$A$2:$A$26</c:f>
              <c:numCache>
                <c:formatCode>General</c:formatCode>
                <c:ptCount val="2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</c:numCache>
            </c:numRef>
          </c:xVal>
          <c:yVal>
            <c:numRef>
              <c:f>Sheet1!$D$2:$D$26</c:f>
              <c:numCache>
                <c:formatCode>General</c:formatCode>
                <c:ptCount val="25"/>
                <c:pt idx="0">
                  <c:v>30</c:v>
                </c:pt>
                <c:pt idx="1">
                  <c:v>30</c:v>
                </c:pt>
                <c:pt idx="2">
                  <c:v>30</c:v>
                </c:pt>
                <c:pt idx="3">
                  <c:v>30</c:v>
                </c:pt>
                <c:pt idx="4">
                  <c:v>30</c:v>
                </c:pt>
                <c:pt idx="5">
                  <c:v>30</c:v>
                </c:pt>
                <c:pt idx="6">
                  <c:v>30</c:v>
                </c:pt>
                <c:pt idx="7">
                  <c:v>30</c:v>
                </c:pt>
                <c:pt idx="8">
                  <c:v>30</c:v>
                </c:pt>
                <c:pt idx="9">
                  <c:v>30</c:v>
                </c:pt>
                <c:pt idx="10">
                  <c:v>33.33333333333333</c:v>
                </c:pt>
                <c:pt idx="11">
                  <c:v>33.33333333333333</c:v>
                </c:pt>
                <c:pt idx="12">
                  <c:v>33.33333333333333</c:v>
                </c:pt>
                <c:pt idx="13">
                  <c:v>35</c:v>
                </c:pt>
                <c:pt idx="14">
                  <c:v>35</c:v>
                </c:pt>
                <c:pt idx="15">
                  <c:v>35</c:v>
                </c:pt>
                <c:pt idx="16">
                  <c:v>35</c:v>
                </c:pt>
                <c:pt idx="17">
                  <c:v>35</c:v>
                </c:pt>
                <c:pt idx="18">
                  <c:v>35</c:v>
                </c:pt>
                <c:pt idx="19">
                  <c:v>35</c:v>
                </c:pt>
                <c:pt idx="20">
                  <c:v>35</c:v>
                </c:pt>
                <c:pt idx="21">
                  <c:v>35</c:v>
                </c:pt>
                <c:pt idx="22">
                  <c:v>35</c:v>
                </c:pt>
                <c:pt idx="23">
                  <c:v>35</c:v>
                </c:pt>
                <c:pt idx="24">
                  <c:v>35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Luna direct</c:v>
                </c:pt>
              </c:strCache>
            </c:strRef>
          </c:tx>
          <c:spPr>
            <a:solidFill>
              <a:srgbClr val="B35806"/>
            </a:solidFill>
            <a:ln w="27940" cap="flat">
              <a:solidFill>
                <a:srgbClr val="B35806"/>
              </a:solidFill>
              <a:prstDash val="dash"/>
              <a:round/>
            </a:ln>
            <a:effectLst/>
          </c:spPr>
          <c:marker>
            <c:symbol val="x"/>
            <c:size val="5"/>
            <c:spPr>
              <a:noFill/>
              <a:ln w="161290000" cap="flat">
                <a:solidFill>
                  <a:srgbClr val="B35806"/>
                </a:solidFill>
                <a:prstDash val="solid"/>
                <a:round/>
              </a:ln>
              <a:effectLst/>
            </c:spPr>
          </c:marker>
          <c:xVal>
            <c:numRef>
              <c:f>Sheet1!$A$2:$A$26</c:f>
              <c:numCache>
                <c:formatCode>General</c:formatCode>
                <c:ptCount val="2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</c:numCache>
            </c:numRef>
          </c:xVal>
          <c:yVal>
            <c:numRef>
              <c:f>Sheet1!$E$2:$E$26</c:f>
              <c:numCache>
                <c:formatCode>General</c:formatCode>
                <c:ptCount val="25"/>
                <c:pt idx="0">
                  <c:v>30</c:v>
                </c:pt>
                <c:pt idx="1">
                  <c:v>30</c:v>
                </c:pt>
                <c:pt idx="2">
                  <c:v>30</c:v>
                </c:pt>
                <c:pt idx="3">
                  <c:v>30</c:v>
                </c:pt>
                <c:pt idx="4">
                  <c:v>30</c:v>
                </c:pt>
                <c:pt idx="5">
                  <c:v>35</c:v>
                </c:pt>
                <c:pt idx="6">
                  <c:v>35</c:v>
                </c:pt>
                <c:pt idx="7">
                  <c:v>35</c:v>
                </c:pt>
                <c:pt idx="8">
                  <c:v>35</c:v>
                </c:pt>
                <c:pt idx="9">
                  <c:v>35</c:v>
                </c:pt>
                <c:pt idx="10">
                  <c:v>35</c:v>
                </c:pt>
                <c:pt idx="11">
                  <c:v>35</c:v>
                </c:pt>
                <c:pt idx="12">
                  <c:v>35</c:v>
                </c:pt>
                <c:pt idx="13">
                  <c:v>35</c:v>
                </c:pt>
                <c:pt idx="14">
                  <c:v>35</c:v>
                </c:pt>
                <c:pt idx="15">
                  <c:v>35</c:v>
                </c:pt>
                <c:pt idx="16">
                  <c:v>35</c:v>
                </c:pt>
                <c:pt idx="17">
                  <c:v>35</c:v>
                </c:pt>
                <c:pt idx="18">
                  <c:v>35</c:v>
                </c:pt>
                <c:pt idx="19">
                  <c:v>35</c:v>
                </c:pt>
                <c:pt idx="20">
                  <c:v>35</c:v>
                </c:pt>
                <c:pt idx="21">
                  <c:v>35</c:v>
                </c:pt>
                <c:pt idx="22">
                  <c:v>35</c:v>
                </c:pt>
                <c:pt idx="23">
                  <c:v>35</c:v>
                </c:pt>
                <c:pt idx="24">
                  <c:v>35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24"/>
          <c:min val="0"/>
        </c:scaling>
        <c:delete val="0"/>
        <c:axPos val="b"/>
        <c:majorGridlines>
          <c:spPr>
            <a:ln w="12700" cap="flat">
              <a:solidFill>
                <a:srgbClr val="D9DEE5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low"/>
        <c:spPr>
          <a:ln w="12700" cap="flat">
            <a:solidFill>
              <a:srgbClr val="111111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11111"/>
                </a:solidFill>
                <a:latin typeface="DejaVu Sans"/>
              </a:defRPr>
            </a:pPr>
            <a:endParaRPr lang="en-US"/>
          </a:p>
        </c:txPr>
        <c:crossAx val="2094734552"/>
        <c:crossesAt val="28"/>
        <c:auto val="1"/>
        <c:lblAlgn val="ctr"/>
        <c:noMultiLvlLbl val="1"/>
        <c:majorUnit val="6"/>
      </c:valAx>
      <c:valAx>
        <c:axId val="2094734552"/>
        <c:scaling>
          <c:orientation val="minMax"/>
          <c:max val="36"/>
          <c:min val="28"/>
        </c:scaling>
        <c:delete val="0"/>
        <c:axPos val="l"/>
        <c:majorGridlines>
          <c:spPr>
            <a:ln w="12700" cap="flat">
              <a:solidFill>
                <a:srgbClr val="D9DEE5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low"/>
        <c:spPr>
          <a:ln w="12700" cap="flat">
            <a:solidFill>
              <a:srgbClr val="111111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11111"/>
                </a:solidFill>
                <a:latin typeface="DejaVu Sans"/>
              </a:defRPr>
            </a:pPr>
            <a:endParaRPr lang="en-US"/>
          </a:p>
        </c:txPr>
        <c:crossAx val="2094734554"/>
        <c:crossesAt val="0"/>
        <c:crossBetween val="midCat"/>
        <c:majorUnit val="2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29"/>
          <c:y val="0.05"/>
          <c:w val="0.68"/>
          <c:h val="0.77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Qwen loop</c:v>
                </c:pt>
              </c:strCache>
            </c:strRef>
          </c:tx>
          <c:spPr>
            <a:solidFill>
              <a:srgbClr val="2166AC"/>
            </a:solidFill>
            <a:ln w="27940" cap="flat">
              <a:solidFill>
                <a:srgbClr val="2166AC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noFill/>
              <a:ln w="161290000" cap="flat">
                <a:solidFill>
                  <a:srgbClr val="2166AC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4</c:v>
                </c:pt>
                <c:pt idx="4">
                  <c:v>6</c:v>
                </c:pt>
                <c:pt idx="5">
                  <c:v>8</c:v>
                </c:pt>
                <c:pt idx="6">
                  <c:v>12</c:v>
                </c:pt>
                <c:pt idx="7">
                  <c:v>16</c:v>
                </c:pt>
                <c:pt idx="8">
                  <c:v>20</c:v>
                </c:pt>
                <c:pt idx="9">
                  <c:v>24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37.274108803093334</c:v>
                </c:pt>
                <c:pt idx="1">
                  <c:v>37.274108803093334</c:v>
                </c:pt>
                <c:pt idx="2">
                  <c:v>37.274108803093334</c:v>
                </c:pt>
                <c:pt idx="3">
                  <c:v>37.274108803093334</c:v>
                </c:pt>
                <c:pt idx="4">
                  <c:v>37.274108803093334</c:v>
                </c:pt>
                <c:pt idx="5">
                  <c:v>37.274108803093334</c:v>
                </c:pt>
                <c:pt idx="6">
                  <c:v>37.274108803093334</c:v>
                </c:pt>
                <c:pt idx="7">
                  <c:v>37.274108803093334</c:v>
                </c:pt>
                <c:pt idx="8">
                  <c:v>37.274108803093334</c:v>
                </c:pt>
                <c:pt idx="9">
                  <c:v>37.274108803093334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Qwen direct</c:v>
                </c:pt>
              </c:strCache>
            </c:strRef>
          </c:tx>
          <c:spPr>
            <a:solidFill>
              <a:srgbClr val="2166AC"/>
            </a:solidFill>
            <a:ln w="27940" cap="flat">
              <a:solidFill>
                <a:srgbClr val="2166AC"/>
              </a:solidFill>
              <a:prstDash val="dash"/>
              <a:round/>
            </a:ln>
            <a:effectLst/>
          </c:spPr>
          <c:marker>
            <c:symbol val="x"/>
            <c:size val="5"/>
            <c:spPr>
              <a:noFill/>
              <a:ln w="161290000" cap="flat">
                <a:solidFill>
                  <a:srgbClr val="2166AC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4</c:v>
                </c:pt>
                <c:pt idx="4">
                  <c:v>6</c:v>
                </c:pt>
                <c:pt idx="5">
                  <c:v>8</c:v>
                </c:pt>
                <c:pt idx="6">
                  <c:v>12</c:v>
                </c:pt>
                <c:pt idx="7">
                  <c:v>16</c:v>
                </c:pt>
                <c:pt idx="8">
                  <c:v>20</c:v>
                </c:pt>
                <c:pt idx="9">
                  <c:v>24</c:v>
                </c:pt>
              </c:numCache>
            </c:numRef>
          </c:xVal>
          <c:yVal>
            <c:numRef>
              <c:f>Sheet1!$C$2:$C$11</c:f>
              <c:numCache>
                <c:formatCode>General</c:formatCode>
                <c:ptCount val="10"/>
                <c:pt idx="0">
                  <c:v>37.274108803093334</c:v>
                </c:pt>
                <c:pt idx="1">
                  <c:v>37.274108803093334</c:v>
                </c:pt>
                <c:pt idx="2">
                  <c:v>37.274108803093334</c:v>
                </c:pt>
                <c:pt idx="3">
                  <c:v>37.274108803093334</c:v>
                </c:pt>
                <c:pt idx="4">
                  <c:v>37.274108803093334</c:v>
                </c:pt>
                <c:pt idx="5">
                  <c:v>37.274108803093334</c:v>
                </c:pt>
                <c:pt idx="6">
                  <c:v>37.274108803093334</c:v>
                </c:pt>
                <c:pt idx="7">
                  <c:v>37.274108803093334</c:v>
                </c:pt>
                <c:pt idx="8">
                  <c:v>37.274108803093334</c:v>
                </c:pt>
                <c:pt idx="9">
                  <c:v>37.274108803093334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Luna loop</c:v>
                </c:pt>
              </c:strCache>
            </c:strRef>
          </c:tx>
          <c:spPr>
            <a:solidFill>
              <a:srgbClr val="B35806"/>
            </a:solidFill>
            <a:ln w="27940" cap="flat">
              <a:solidFill>
                <a:srgbClr val="B35806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noFill/>
              <a:ln w="161290000" cap="flat">
                <a:solidFill>
                  <a:srgbClr val="B35806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4</c:v>
                </c:pt>
                <c:pt idx="4">
                  <c:v>6</c:v>
                </c:pt>
                <c:pt idx="5">
                  <c:v>8</c:v>
                </c:pt>
                <c:pt idx="6">
                  <c:v>12</c:v>
                </c:pt>
                <c:pt idx="7">
                  <c:v>16</c:v>
                </c:pt>
                <c:pt idx="8">
                  <c:v>20</c:v>
                </c:pt>
                <c:pt idx="9">
                  <c:v>24</c:v>
                </c:pt>
              </c:numCache>
            </c:numRef>
          </c:xVal>
          <c:yVal>
            <c:numRef>
              <c:f>Sheet1!$D$2:$D$11</c:f>
              <c:numCache>
                <c:formatCode>General</c:formatCode>
                <c:ptCount val="10"/>
                <c:pt idx="0">
                  <c:v>37.274108803093334</c:v>
                </c:pt>
                <c:pt idx="1">
                  <c:v>37.274108803093334</c:v>
                </c:pt>
                <c:pt idx="2">
                  <c:v>37.274108803093334</c:v>
                </c:pt>
                <c:pt idx="3">
                  <c:v>37.274108803093334</c:v>
                </c:pt>
                <c:pt idx="4">
                  <c:v>37.274108803093334</c:v>
                </c:pt>
                <c:pt idx="5">
                  <c:v>37.274108803093334</c:v>
                </c:pt>
                <c:pt idx="6">
                  <c:v>37.274108803093334</c:v>
                </c:pt>
                <c:pt idx="7">
                  <c:v>37.274108803093334</c:v>
                </c:pt>
                <c:pt idx="8">
                  <c:v>37.274108803093334</c:v>
                </c:pt>
                <c:pt idx="9">
                  <c:v>37.274108803093334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Luna direct</c:v>
                </c:pt>
              </c:strCache>
            </c:strRef>
          </c:tx>
          <c:spPr>
            <a:solidFill>
              <a:srgbClr val="B35806"/>
            </a:solidFill>
            <a:ln w="27940" cap="flat">
              <a:solidFill>
                <a:srgbClr val="B35806"/>
              </a:solidFill>
              <a:prstDash val="dash"/>
              <a:round/>
            </a:ln>
            <a:effectLst/>
          </c:spPr>
          <c:marker>
            <c:symbol val="x"/>
            <c:size val="5"/>
            <c:spPr>
              <a:noFill/>
              <a:ln w="161290000" cap="flat">
                <a:solidFill>
                  <a:srgbClr val="B35806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4</c:v>
                </c:pt>
                <c:pt idx="4">
                  <c:v>6</c:v>
                </c:pt>
                <c:pt idx="5">
                  <c:v>8</c:v>
                </c:pt>
                <c:pt idx="6">
                  <c:v>12</c:v>
                </c:pt>
                <c:pt idx="7">
                  <c:v>16</c:v>
                </c:pt>
                <c:pt idx="8">
                  <c:v>20</c:v>
                </c:pt>
                <c:pt idx="9">
                  <c:v>24</c:v>
                </c:pt>
              </c:numCache>
            </c:numRef>
          </c:xVal>
          <c:yVal>
            <c:numRef>
              <c:f>Sheet1!$E$2:$E$11</c:f>
              <c:numCache>
                <c:formatCode>General</c:formatCode>
                <c:ptCount val="10"/>
                <c:pt idx="0">
                  <c:v>37.274108803093334</c:v>
                </c:pt>
                <c:pt idx="1">
                  <c:v>37.274108803093334</c:v>
                </c:pt>
                <c:pt idx="2">
                  <c:v>37.274108803093334</c:v>
                </c:pt>
                <c:pt idx="3">
                  <c:v>37.274108803093334</c:v>
                </c:pt>
                <c:pt idx="4">
                  <c:v>37.274108803093334</c:v>
                </c:pt>
                <c:pt idx="5">
                  <c:v>37.274108803093334</c:v>
                </c:pt>
                <c:pt idx="6">
                  <c:v>37.274108803093334</c:v>
                </c:pt>
                <c:pt idx="7">
                  <c:v>37.274108803093334</c:v>
                </c:pt>
                <c:pt idx="8">
                  <c:v>37.274108803093334</c:v>
                </c:pt>
                <c:pt idx="9">
                  <c:v>37.274108803093334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24"/>
          <c:min val="0"/>
        </c:scaling>
        <c:delete val="0"/>
        <c:axPos val="b"/>
        <c:majorGridlines>
          <c:spPr>
            <a:ln w="12700" cap="flat">
              <a:solidFill>
                <a:srgbClr val="D9DEE5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low"/>
        <c:spPr>
          <a:ln w="12700" cap="flat">
            <a:solidFill>
              <a:srgbClr val="111111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11111"/>
                </a:solidFill>
                <a:latin typeface="DejaVu Sans"/>
              </a:defRPr>
            </a:pPr>
            <a:endParaRPr lang="en-US"/>
          </a:p>
        </c:txPr>
        <c:crossAx val="2094734552"/>
        <c:crossesAt val="37"/>
        <c:auto val="1"/>
        <c:lblAlgn val="ctr"/>
        <c:noMultiLvlLbl val="1"/>
        <c:majorUnit val="6"/>
      </c:valAx>
      <c:valAx>
        <c:axId val="2094734552"/>
        <c:scaling>
          <c:orientation val="minMax"/>
          <c:max val="38"/>
          <c:min val="37"/>
        </c:scaling>
        <c:delete val="0"/>
        <c:axPos val="l"/>
        <c:majorGridlines>
          <c:spPr>
            <a:ln w="12700" cap="flat">
              <a:solidFill>
                <a:srgbClr val="D9DEE5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low"/>
        <c:spPr>
          <a:ln w="12700" cap="flat">
            <a:solidFill>
              <a:srgbClr val="111111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11111"/>
                </a:solidFill>
                <a:latin typeface="DejaVu Sans"/>
              </a:defRPr>
            </a:pPr>
            <a:endParaRPr lang="en-US"/>
          </a:p>
        </c:txPr>
        <c:crossAx val="2094734554"/>
        <c:crossesAt val="0"/>
        <c:crossBetween val="midCat"/>
        <c:majorUnit val="1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29"/>
          <c:y val="0.05"/>
          <c:w val="0.68"/>
          <c:h val="0.77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Qwen loop</c:v>
                </c:pt>
              </c:strCache>
            </c:strRef>
          </c:tx>
          <c:spPr>
            <a:solidFill>
              <a:srgbClr val="2166AC"/>
            </a:solidFill>
            <a:ln w="27940" cap="flat">
              <a:solidFill>
                <a:srgbClr val="2166AC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noFill/>
              <a:ln w="161290000" cap="flat">
                <a:solidFill>
                  <a:srgbClr val="2166AC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4</c:v>
                </c:pt>
                <c:pt idx="4">
                  <c:v>6</c:v>
                </c:pt>
                <c:pt idx="5">
                  <c:v>8</c:v>
                </c:pt>
                <c:pt idx="6">
                  <c:v>12</c:v>
                </c:pt>
                <c:pt idx="7">
                  <c:v>16</c:v>
                </c:pt>
                <c:pt idx="8">
                  <c:v>20</c:v>
                </c:pt>
                <c:pt idx="9">
                  <c:v>24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31.4954912555719</c:v>
                </c:pt>
                <c:pt idx="1">
                  <c:v>31.4954912555719</c:v>
                </c:pt>
                <c:pt idx="2">
                  <c:v>31.4954912555719</c:v>
                </c:pt>
                <c:pt idx="3">
                  <c:v>31.4954912555719</c:v>
                </c:pt>
                <c:pt idx="4">
                  <c:v>31.4954912555719</c:v>
                </c:pt>
                <c:pt idx="5">
                  <c:v>31.4954912555719</c:v>
                </c:pt>
                <c:pt idx="6">
                  <c:v>31.4954912555719</c:v>
                </c:pt>
                <c:pt idx="7">
                  <c:v>16.94232512982513</c:v>
                </c:pt>
                <c:pt idx="8">
                  <c:v>16.94232512982513</c:v>
                </c:pt>
                <c:pt idx="9">
                  <c:v>19.60658234045331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Qwen direct</c:v>
                </c:pt>
              </c:strCache>
            </c:strRef>
          </c:tx>
          <c:spPr>
            <a:solidFill>
              <a:srgbClr val="2166AC"/>
            </a:solidFill>
            <a:ln w="27940" cap="flat">
              <a:solidFill>
                <a:srgbClr val="2166AC"/>
              </a:solidFill>
              <a:prstDash val="dash"/>
              <a:round/>
            </a:ln>
            <a:effectLst/>
          </c:spPr>
          <c:marker>
            <c:symbol val="x"/>
            <c:size val="5"/>
            <c:spPr>
              <a:noFill/>
              <a:ln w="161290000" cap="flat">
                <a:solidFill>
                  <a:srgbClr val="2166AC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4</c:v>
                </c:pt>
                <c:pt idx="4">
                  <c:v>6</c:v>
                </c:pt>
                <c:pt idx="5">
                  <c:v>8</c:v>
                </c:pt>
                <c:pt idx="6">
                  <c:v>12</c:v>
                </c:pt>
                <c:pt idx="7">
                  <c:v>16</c:v>
                </c:pt>
                <c:pt idx="8">
                  <c:v>20</c:v>
                </c:pt>
                <c:pt idx="9">
                  <c:v>24</c:v>
                </c:pt>
              </c:numCache>
            </c:numRef>
          </c:xVal>
          <c:yVal>
            <c:numRef>
              <c:f>Sheet1!$C$2:$C$11</c:f>
              <c:numCache>
                <c:formatCode>General</c:formatCode>
                <c:ptCount val="10"/>
                <c:pt idx="0">
                  <c:v>31.4954912555719</c:v>
                </c:pt>
                <c:pt idx="1">
                  <c:v>31.4954912555719</c:v>
                </c:pt>
                <c:pt idx="2">
                  <c:v>31.4954912555719</c:v>
                </c:pt>
                <c:pt idx="3">
                  <c:v>31.4954912555719</c:v>
                </c:pt>
                <c:pt idx="4">
                  <c:v>31.4954912555719</c:v>
                </c:pt>
                <c:pt idx="5">
                  <c:v>31.4954912555719</c:v>
                </c:pt>
                <c:pt idx="6">
                  <c:v>31.4954912555719</c:v>
                </c:pt>
                <c:pt idx="7">
                  <c:v>31.4954912555719</c:v>
                </c:pt>
                <c:pt idx="8">
                  <c:v>19.60658234045331</c:v>
                </c:pt>
                <c:pt idx="9">
                  <c:v>19.60658234045331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Luna loop</c:v>
                </c:pt>
              </c:strCache>
            </c:strRef>
          </c:tx>
          <c:spPr>
            <a:solidFill>
              <a:srgbClr val="B35806"/>
            </a:solidFill>
            <a:ln w="27940" cap="flat">
              <a:solidFill>
                <a:srgbClr val="B35806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noFill/>
              <a:ln w="161290000" cap="flat">
                <a:solidFill>
                  <a:srgbClr val="B35806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4</c:v>
                </c:pt>
                <c:pt idx="4">
                  <c:v>6</c:v>
                </c:pt>
                <c:pt idx="5">
                  <c:v>8</c:v>
                </c:pt>
                <c:pt idx="6">
                  <c:v>12</c:v>
                </c:pt>
                <c:pt idx="7">
                  <c:v>16</c:v>
                </c:pt>
                <c:pt idx="8">
                  <c:v>20</c:v>
                </c:pt>
                <c:pt idx="9">
                  <c:v>24</c:v>
                </c:pt>
              </c:numCache>
            </c:numRef>
          </c:xVal>
          <c:yVal>
            <c:numRef>
              <c:f>Sheet1!$D$2:$D$11</c:f>
              <c:numCache>
                <c:formatCode>General</c:formatCode>
                <c:ptCount val="10"/>
                <c:pt idx="0">
                  <c:v>31.4954912555719</c:v>
                </c:pt>
                <c:pt idx="1">
                  <c:v>31.4954912555719</c:v>
                </c:pt>
                <c:pt idx="2">
                  <c:v>31.4954912555719</c:v>
                </c:pt>
                <c:pt idx="3">
                  <c:v>16.94232512982513</c:v>
                </c:pt>
                <c:pt idx="4">
                  <c:v>16.94232512982513</c:v>
                </c:pt>
                <c:pt idx="5">
                  <c:v>16.94232512982513</c:v>
                </c:pt>
                <c:pt idx="6">
                  <c:v>20.007014007014007</c:v>
                </c:pt>
                <c:pt idx="7">
                  <c:v>20.007014007014007</c:v>
                </c:pt>
                <c:pt idx="8">
                  <c:v>20.007014007014007</c:v>
                </c:pt>
                <c:pt idx="9">
                  <c:v>20.007014007014007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Luna direct</c:v>
                </c:pt>
              </c:strCache>
            </c:strRef>
          </c:tx>
          <c:spPr>
            <a:solidFill>
              <a:srgbClr val="B35806"/>
            </a:solidFill>
            <a:ln w="27940" cap="flat">
              <a:solidFill>
                <a:srgbClr val="B35806"/>
              </a:solidFill>
              <a:prstDash val="dash"/>
              <a:round/>
            </a:ln>
            <a:effectLst/>
          </c:spPr>
          <c:marker>
            <c:symbol val="x"/>
            <c:size val="5"/>
            <c:spPr>
              <a:noFill/>
              <a:ln w="161290000" cap="flat">
                <a:solidFill>
                  <a:srgbClr val="B35806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4</c:v>
                </c:pt>
                <c:pt idx="4">
                  <c:v>6</c:v>
                </c:pt>
                <c:pt idx="5">
                  <c:v>8</c:v>
                </c:pt>
                <c:pt idx="6">
                  <c:v>12</c:v>
                </c:pt>
                <c:pt idx="7">
                  <c:v>16</c:v>
                </c:pt>
                <c:pt idx="8">
                  <c:v>20</c:v>
                </c:pt>
                <c:pt idx="9">
                  <c:v>24</c:v>
                </c:pt>
              </c:numCache>
            </c:numRef>
          </c:xVal>
          <c:yVal>
            <c:numRef>
              <c:f>Sheet1!$E$2:$E$11</c:f>
              <c:numCache>
                <c:formatCode>General</c:formatCode>
                <c:ptCount val="10"/>
                <c:pt idx="0">
                  <c:v>31.4954912555719</c:v>
                </c:pt>
                <c:pt idx="1">
                  <c:v>31.4954912555719</c:v>
                </c:pt>
                <c:pt idx="2">
                  <c:v>16.94232512982513</c:v>
                </c:pt>
                <c:pt idx="3">
                  <c:v>16.94232512982513</c:v>
                </c:pt>
                <c:pt idx="4">
                  <c:v>16.94232512982513</c:v>
                </c:pt>
                <c:pt idx="5">
                  <c:v>16.94232512982513</c:v>
                </c:pt>
                <c:pt idx="6">
                  <c:v>31.4954912555719</c:v>
                </c:pt>
                <c:pt idx="7">
                  <c:v>20.22985479235479</c:v>
                </c:pt>
                <c:pt idx="8">
                  <c:v>20.22985479235479</c:v>
                </c:pt>
                <c:pt idx="9">
                  <c:v>20.22985479235479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24"/>
          <c:min val="0"/>
        </c:scaling>
        <c:delete val="0"/>
        <c:axPos val="b"/>
        <c:majorGridlines>
          <c:spPr>
            <a:ln w="12700" cap="flat">
              <a:solidFill>
                <a:srgbClr val="D9DEE5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low"/>
        <c:spPr>
          <a:ln w="12700" cap="flat">
            <a:solidFill>
              <a:srgbClr val="111111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11111"/>
                </a:solidFill>
                <a:latin typeface="DejaVu Sans"/>
              </a:defRPr>
            </a:pPr>
            <a:endParaRPr lang="en-US"/>
          </a:p>
        </c:txPr>
        <c:crossAx val="2094734552"/>
        <c:crossesAt val="15"/>
        <c:auto val="1"/>
        <c:lblAlgn val="ctr"/>
        <c:noMultiLvlLbl val="1"/>
        <c:majorUnit val="6"/>
      </c:valAx>
      <c:valAx>
        <c:axId val="2094734552"/>
        <c:scaling>
          <c:orientation val="minMax"/>
          <c:max val="35"/>
          <c:min val="15"/>
        </c:scaling>
        <c:delete val="0"/>
        <c:axPos val="l"/>
        <c:majorGridlines>
          <c:spPr>
            <a:ln w="12700" cap="flat">
              <a:solidFill>
                <a:srgbClr val="D9DEE5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low"/>
        <c:spPr>
          <a:ln w="12700" cap="flat">
            <a:solidFill>
              <a:srgbClr val="111111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11111"/>
                </a:solidFill>
                <a:latin typeface="DejaVu Sans"/>
              </a:defRPr>
            </a:pPr>
            <a:endParaRPr lang="en-US"/>
          </a:p>
        </c:txPr>
        <c:crossAx val="2094734554"/>
        <c:crossesAt val="0"/>
        <c:crossBetween val="midCat"/>
        <c:majorUnit val="5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29"/>
          <c:y val="0.05"/>
          <c:w val="0.68"/>
          <c:h val="0.77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Qwen loop</c:v>
                </c:pt>
              </c:strCache>
            </c:strRef>
          </c:tx>
          <c:spPr>
            <a:solidFill>
              <a:srgbClr val="2166AC"/>
            </a:solidFill>
            <a:ln w="27940" cap="flat">
              <a:solidFill>
                <a:srgbClr val="2166AC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noFill/>
              <a:ln w="161290000" cap="flat">
                <a:solidFill>
                  <a:srgbClr val="2166AC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4</c:v>
                </c:pt>
                <c:pt idx="4">
                  <c:v>6</c:v>
                </c:pt>
                <c:pt idx="5">
                  <c:v>8</c:v>
                </c:pt>
                <c:pt idx="6">
                  <c:v>12</c:v>
                </c:pt>
                <c:pt idx="7">
                  <c:v>16</c:v>
                </c:pt>
                <c:pt idx="8">
                  <c:v>20</c:v>
                </c:pt>
                <c:pt idx="9">
                  <c:v>24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15.48148148148148</c:v>
                </c:pt>
                <c:pt idx="1">
                  <c:v>14.962962962962964</c:v>
                </c:pt>
                <c:pt idx="2">
                  <c:v>14.962962962962964</c:v>
                </c:pt>
                <c:pt idx="3">
                  <c:v>14.962962962962964</c:v>
                </c:pt>
                <c:pt idx="4">
                  <c:v>22.296296296296294</c:v>
                </c:pt>
                <c:pt idx="5">
                  <c:v>22.296296296296294</c:v>
                </c:pt>
                <c:pt idx="6">
                  <c:v>22.296296296296294</c:v>
                </c:pt>
                <c:pt idx="7">
                  <c:v>22.296296296296294</c:v>
                </c:pt>
                <c:pt idx="8">
                  <c:v>22.296296296296294</c:v>
                </c:pt>
                <c:pt idx="9">
                  <c:v>22.296296296296294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Qwen direct</c:v>
                </c:pt>
              </c:strCache>
            </c:strRef>
          </c:tx>
          <c:spPr>
            <a:solidFill>
              <a:srgbClr val="2166AC"/>
            </a:solidFill>
            <a:ln w="27940" cap="flat">
              <a:solidFill>
                <a:srgbClr val="2166AC"/>
              </a:solidFill>
              <a:prstDash val="dash"/>
              <a:round/>
            </a:ln>
            <a:effectLst/>
          </c:spPr>
          <c:marker>
            <c:symbol val="x"/>
            <c:size val="5"/>
            <c:spPr>
              <a:noFill/>
              <a:ln w="161290000" cap="flat">
                <a:solidFill>
                  <a:srgbClr val="2166AC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4</c:v>
                </c:pt>
                <c:pt idx="4">
                  <c:v>6</c:v>
                </c:pt>
                <c:pt idx="5">
                  <c:v>8</c:v>
                </c:pt>
                <c:pt idx="6">
                  <c:v>12</c:v>
                </c:pt>
                <c:pt idx="7">
                  <c:v>16</c:v>
                </c:pt>
                <c:pt idx="8">
                  <c:v>20</c:v>
                </c:pt>
                <c:pt idx="9">
                  <c:v>24</c:v>
                </c:pt>
              </c:numCache>
            </c:numRef>
          </c:xVal>
          <c:yVal>
            <c:numRef>
              <c:f>Sheet1!$C$2:$C$11</c:f>
              <c:numCache>
                <c:formatCode>General</c:formatCode>
                <c:ptCount val="10"/>
                <c:pt idx="0">
                  <c:v>15.48148148148148</c:v>
                </c:pt>
                <c:pt idx="1">
                  <c:v>14.962962962962964</c:v>
                </c:pt>
                <c:pt idx="2">
                  <c:v>22.296296296296294</c:v>
                </c:pt>
                <c:pt idx="3">
                  <c:v>22.296296296296294</c:v>
                </c:pt>
                <c:pt idx="4">
                  <c:v>22.296296296296294</c:v>
                </c:pt>
                <c:pt idx="5">
                  <c:v>22.296296296296294</c:v>
                </c:pt>
                <c:pt idx="6">
                  <c:v>22.296296296296294</c:v>
                </c:pt>
                <c:pt idx="7">
                  <c:v>22.296296296296294</c:v>
                </c:pt>
                <c:pt idx="8">
                  <c:v>22.296296296296294</c:v>
                </c:pt>
                <c:pt idx="9">
                  <c:v>22.296296296296294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Luna loop</c:v>
                </c:pt>
              </c:strCache>
            </c:strRef>
          </c:tx>
          <c:spPr>
            <a:solidFill>
              <a:srgbClr val="B35806"/>
            </a:solidFill>
            <a:ln w="27940" cap="flat">
              <a:solidFill>
                <a:srgbClr val="B35806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noFill/>
              <a:ln w="161290000" cap="flat">
                <a:solidFill>
                  <a:srgbClr val="B35806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4</c:v>
                </c:pt>
                <c:pt idx="4">
                  <c:v>6</c:v>
                </c:pt>
                <c:pt idx="5">
                  <c:v>8</c:v>
                </c:pt>
                <c:pt idx="6">
                  <c:v>12</c:v>
                </c:pt>
                <c:pt idx="7">
                  <c:v>16</c:v>
                </c:pt>
                <c:pt idx="8">
                  <c:v>20</c:v>
                </c:pt>
                <c:pt idx="9">
                  <c:v>24</c:v>
                </c:pt>
              </c:numCache>
            </c:numRef>
          </c:xVal>
          <c:yVal>
            <c:numRef>
              <c:f>Sheet1!$D$2:$D$11</c:f>
              <c:numCache>
                <c:formatCode>General</c:formatCode>
                <c:ptCount val="10"/>
                <c:pt idx="0">
                  <c:v>15.48148148148148</c:v>
                </c:pt>
                <c:pt idx="1">
                  <c:v>14.962962962962964</c:v>
                </c:pt>
                <c:pt idx="2">
                  <c:v>22.296296296296294</c:v>
                </c:pt>
                <c:pt idx="3">
                  <c:v>23.111111111111114</c:v>
                </c:pt>
                <c:pt idx="4">
                  <c:v>23.111111111111114</c:v>
                </c:pt>
                <c:pt idx="5">
                  <c:v>23.111111111111114</c:v>
                </c:pt>
                <c:pt idx="6">
                  <c:v>23.111111111111114</c:v>
                </c:pt>
                <c:pt idx="7">
                  <c:v>23.111111111111114</c:v>
                </c:pt>
                <c:pt idx="8">
                  <c:v>23.111111111111114</c:v>
                </c:pt>
                <c:pt idx="9">
                  <c:v>23.111111111111114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Luna direct</c:v>
                </c:pt>
              </c:strCache>
            </c:strRef>
          </c:tx>
          <c:spPr>
            <a:solidFill>
              <a:srgbClr val="B35806"/>
            </a:solidFill>
            <a:ln w="27940" cap="flat">
              <a:solidFill>
                <a:srgbClr val="B35806"/>
              </a:solidFill>
              <a:prstDash val="dash"/>
              <a:round/>
            </a:ln>
            <a:effectLst/>
          </c:spPr>
          <c:marker>
            <c:symbol val="x"/>
            <c:size val="5"/>
            <c:spPr>
              <a:noFill/>
              <a:ln w="161290000" cap="flat">
                <a:solidFill>
                  <a:srgbClr val="B35806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4</c:v>
                </c:pt>
                <c:pt idx="4">
                  <c:v>6</c:v>
                </c:pt>
                <c:pt idx="5">
                  <c:v>8</c:v>
                </c:pt>
                <c:pt idx="6">
                  <c:v>12</c:v>
                </c:pt>
                <c:pt idx="7">
                  <c:v>16</c:v>
                </c:pt>
                <c:pt idx="8">
                  <c:v>20</c:v>
                </c:pt>
                <c:pt idx="9">
                  <c:v>24</c:v>
                </c:pt>
              </c:numCache>
            </c:numRef>
          </c:xVal>
          <c:yVal>
            <c:numRef>
              <c:f>Sheet1!$E$2:$E$11</c:f>
              <c:numCache>
                <c:formatCode>General</c:formatCode>
                <c:ptCount val="10"/>
                <c:pt idx="0">
                  <c:v>15.48148148148148</c:v>
                </c:pt>
                <c:pt idx="1">
                  <c:v>14.962962962962964</c:v>
                </c:pt>
                <c:pt idx="2">
                  <c:v>35.48148148148148</c:v>
                </c:pt>
                <c:pt idx="3">
                  <c:v>35.48148148148148</c:v>
                </c:pt>
                <c:pt idx="4">
                  <c:v>35.48148148148148</c:v>
                </c:pt>
                <c:pt idx="5">
                  <c:v>34.370370370370374</c:v>
                </c:pt>
                <c:pt idx="6">
                  <c:v>22.296296296296294</c:v>
                </c:pt>
                <c:pt idx="7">
                  <c:v>22.296296296296294</c:v>
                </c:pt>
                <c:pt idx="8">
                  <c:v>22.296296296296294</c:v>
                </c:pt>
                <c:pt idx="9">
                  <c:v>23.111111111111114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24"/>
          <c:min val="0"/>
        </c:scaling>
        <c:delete val="0"/>
        <c:axPos val="b"/>
        <c:majorGridlines>
          <c:spPr>
            <a:ln w="12700" cap="flat">
              <a:solidFill>
                <a:srgbClr val="D9DEE5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low"/>
        <c:spPr>
          <a:ln w="12700" cap="flat">
            <a:solidFill>
              <a:srgbClr val="111111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11111"/>
                </a:solidFill>
                <a:latin typeface="DejaVu Sans"/>
              </a:defRPr>
            </a:pPr>
            <a:endParaRPr lang="en-US"/>
          </a:p>
        </c:txPr>
        <c:crossAx val="2094734552"/>
        <c:crossesAt val="10"/>
        <c:auto val="1"/>
        <c:lblAlgn val="ctr"/>
        <c:noMultiLvlLbl val="1"/>
        <c:majorUnit val="6"/>
      </c:valAx>
      <c:valAx>
        <c:axId val="2094734552"/>
        <c:scaling>
          <c:orientation val="minMax"/>
          <c:max val="40"/>
          <c:min val="10"/>
        </c:scaling>
        <c:delete val="0"/>
        <c:axPos val="l"/>
        <c:majorGridlines>
          <c:spPr>
            <a:ln w="12700" cap="flat">
              <a:solidFill>
                <a:srgbClr val="D9DEE5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low"/>
        <c:spPr>
          <a:ln w="12700" cap="flat">
            <a:solidFill>
              <a:srgbClr val="111111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11111"/>
                </a:solidFill>
                <a:latin typeface="DejaVu Sans"/>
              </a:defRPr>
            </a:pPr>
            <a:endParaRPr lang="en-US"/>
          </a:p>
        </c:txPr>
        <c:crossAx val="2094734554"/>
        <c:crossesAt val="0"/>
        <c:crossBetween val="midCat"/>
        <c:majorUnit val="10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29"/>
          <c:y val="0.05"/>
          <c:w val="0.68"/>
          <c:h val="0.77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Qwen loop</c:v>
                </c:pt>
              </c:strCache>
            </c:strRef>
          </c:tx>
          <c:spPr>
            <a:solidFill>
              <a:srgbClr val="2166AC"/>
            </a:solidFill>
            <a:ln w="27940" cap="flat">
              <a:solidFill>
                <a:srgbClr val="2166AC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noFill/>
              <a:ln w="161290000" cap="flat">
                <a:solidFill>
                  <a:srgbClr val="2166AC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4</c:v>
                </c:pt>
                <c:pt idx="4">
                  <c:v>6</c:v>
                </c:pt>
                <c:pt idx="5">
                  <c:v>8</c:v>
                </c:pt>
                <c:pt idx="6">
                  <c:v>12</c:v>
                </c:pt>
                <c:pt idx="7">
                  <c:v>16</c:v>
                </c:pt>
                <c:pt idx="8">
                  <c:v>20</c:v>
                </c:pt>
                <c:pt idx="9">
                  <c:v>24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25.37313432835821</c:v>
                </c:pt>
                <c:pt idx="1">
                  <c:v>26.865671641791046</c:v>
                </c:pt>
                <c:pt idx="2">
                  <c:v>26.865671641791046</c:v>
                </c:pt>
                <c:pt idx="3">
                  <c:v>26.865671641791046</c:v>
                </c:pt>
                <c:pt idx="4">
                  <c:v>26.865671641791046</c:v>
                </c:pt>
                <c:pt idx="5">
                  <c:v>29.850746268656714</c:v>
                </c:pt>
                <c:pt idx="6">
                  <c:v>29.850746268656714</c:v>
                </c:pt>
                <c:pt idx="7">
                  <c:v>13.432835820895523</c:v>
                </c:pt>
                <c:pt idx="8">
                  <c:v>13.432835820895523</c:v>
                </c:pt>
                <c:pt idx="9">
                  <c:v>13.432835820895523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Qwen direct</c:v>
                </c:pt>
              </c:strCache>
            </c:strRef>
          </c:tx>
          <c:spPr>
            <a:solidFill>
              <a:srgbClr val="2166AC"/>
            </a:solidFill>
            <a:ln w="27940" cap="flat">
              <a:solidFill>
                <a:srgbClr val="2166AC"/>
              </a:solidFill>
              <a:prstDash val="dash"/>
              <a:round/>
            </a:ln>
            <a:effectLst/>
          </c:spPr>
          <c:marker>
            <c:symbol val="x"/>
            <c:size val="5"/>
            <c:spPr>
              <a:noFill/>
              <a:ln w="161290000" cap="flat">
                <a:solidFill>
                  <a:srgbClr val="2166AC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4</c:v>
                </c:pt>
                <c:pt idx="4">
                  <c:v>6</c:v>
                </c:pt>
                <c:pt idx="5">
                  <c:v>8</c:v>
                </c:pt>
                <c:pt idx="6">
                  <c:v>12</c:v>
                </c:pt>
                <c:pt idx="7">
                  <c:v>16</c:v>
                </c:pt>
                <c:pt idx="8">
                  <c:v>20</c:v>
                </c:pt>
                <c:pt idx="9">
                  <c:v>24</c:v>
                </c:pt>
              </c:numCache>
            </c:numRef>
          </c:xVal>
          <c:yVal>
            <c:numRef>
              <c:f>Sheet1!$C$2:$C$11</c:f>
              <c:numCache>
                <c:formatCode>General</c:formatCode>
                <c:ptCount val="10"/>
                <c:pt idx="0">
                  <c:v>25.37313432835821</c:v>
                </c:pt>
                <c:pt idx="1">
                  <c:v>26.865671641791046</c:v>
                </c:pt>
                <c:pt idx="2">
                  <c:v>26.865671641791046</c:v>
                </c:pt>
                <c:pt idx="3">
                  <c:v>26.865671641791046</c:v>
                </c:pt>
                <c:pt idx="4">
                  <c:v>26.865671641791046</c:v>
                </c:pt>
                <c:pt idx="5">
                  <c:v>26.865671641791046</c:v>
                </c:pt>
                <c:pt idx="6">
                  <c:v>22.388059701492537</c:v>
                </c:pt>
                <c:pt idx="7">
                  <c:v>22.388059701492537</c:v>
                </c:pt>
                <c:pt idx="8">
                  <c:v>13.432835820895523</c:v>
                </c:pt>
                <c:pt idx="9">
                  <c:v>13.432835820895523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Luna loop</c:v>
                </c:pt>
              </c:strCache>
            </c:strRef>
          </c:tx>
          <c:spPr>
            <a:solidFill>
              <a:srgbClr val="B35806"/>
            </a:solidFill>
            <a:ln w="27940" cap="flat">
              <a:solidFill>
                <a:srgbClr val="B35806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noFill/>
              <a:ln w="161290000" cap="flat">
                <a:solidFill>
                  <a:srgbClr val="B35806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4</c:v>
                </c:pt>
                <c:pt idx="4">
                  <c:v>6</c:v>
                </c:pt>
                <c:pt idx="5">
                  <c:v>8</c:v>
                </c:pt>
                <c:pt idx="6">
                  <c:v>12</c:v>
                </c:pt>
                <c:pt idx="7">
                  <c:v>16</c:v>
                </c:pt>
                <c:pt idx="8">
                  <c:v>20</c:v>
                </c:pt>
                <c:pt idx="9">
                  <c:v>24</c:v>
                </c:pt>
              </c:numCache>
            </c:numRef>
          </c:xVal>
          <c:yVal>
            <c:numRef>
              <c:f>Sheet1!$D$2:$D$11</c:f>
              <c:numCache>
                <c:formatCode>General</c:formatCode>
                <c:ptCount val="10"/>
                <c:pt idx="0">
                  <c:v>25.37313432835821</c:v>
                </c:pt>
                <c:pt idx="1">
                  <c:v>25.37313432835821</c:v>
                </c:pt>
                <c:pt idx="2">
                  <c:v>25.37313432835821</c:v>
                </c:pt>
                <c:pt idx="3">
                  <c:v>26.865671641791046</c:v>
                </c:pt>
                <c:pt idx="4">
                  <c:v>26.865671641791046</c:v>
                </c:pt>
                <c:pt idx="5">
                  <c:v>26.865671641791046</c:v>
                </c:pt>
                <c:pt idx="6">
                  <c:v>19.402985074626866</c:v>
                </c:pt>
                <c:pt idx="7">
                  <c:v>13.432835820895523</c:v>
                </c:pt>
                <c:pt idx="8">
                  <c:v>13.432835820895523</c:v>
                </c:pt>
                <c:pt idx="9">
                  <c:v>13.432835820895523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Luna direct</c:v>
                </c:pt>
              </c:strCache>
            </c:strRef>
          </c:tx>
          <c:spPr>
            <a:solidFill>
              <a:srgbClr val="B35806"/>
            </a:solidFill>
            <a:ln w="27940" cap="flat">
              <a:solidFill>
                <a:srgbClr val="B35806"/>
              </a:solidFill>
              <a:prstDash val="dash"/>
              <a:round/>
            </a:ln>
            <a:effectLst/>
          </c:spPr>
          <c:marker>
            <c:symbol val="x"/>
            <c:size val="5"/>
            <c:spPr>
              <a:noFill/>
              <a:ln w="161290000" cap="flat">
                <a:solidFill>
                  <a:srgbClr val="B35806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4</c:v>
                </c:pt>
                <c:pt idx="4">
                  <c:v>6</c:v>
                </c:pt>
                <c:pt idx="5">
                  <c:v>8</c:v>
                </c:pt>
                <c:pt idx="6">
                  <c:v>12</c:v>
                </c:pt>
                <c:pt idx="7">
                  <c:v>16</c:v>
                </c:pt>
                <c:pt idx="8">
                  <c:v>20</c:v>
                </c:pt>
                <c:pt idx="9">
                  <c:v>24</c:v>
                </c:pt>
              </c:numCache>
            </c:numRef>
          </c:xVal>
          <c:yVal>
            <c:numRef>
              <c:f>Sheet1!$E$2:$E$11</c:f>
              <c:numCache>
                <c:formatCode>General</c:formatCode>
                <c:ptCount val="10"/>
                <c:pt idx="0">
                  <c:v>25.37313432835821</c:v>
                </c:pt>
                <c:pt idx="1">
                  <c:v>25.37313432835821</c:v>
                </c:pt>
                <c:pt idx="2">
                  <c:v>25.37313432835821</c:v>
                </c:pt>
                <c:pt idx="3">
                  <c:v>26.865671641791046</c:v>
                </c:pt>
                <c:pt idx="4">
                  <c:v>13.432835820895523</c:v>
                </c:pt>
                <c:pt idx="5">
                  <c:v>13.432835820895523</c:v>
                </c:pt>
                <c:pt idx="6">
                  <c:v>13.432835820895523</c:v>
                </c:pt>
                <c:pt idx="7">
                  <c:v>13.432835820895523</c:v>
                </c:pt>
                <c:pt idx="8">
                  <c:v>13.432835820895523</c:v>
                </c:pt>
                <c:pt idx="9">
                  <c:v>13.432835820895523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24"/>
          <c:min val="0"/>
        </c:scaling>
        <c:delete val="0"/>
        <c:axPos val="b"/>
        <c:majorGridlines>
          <c:spPr>
            <a:ln w="12700" cap="flat">
              <a:solidFill>
                <a:srgbClr val="D9DEE5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low"/>
        <c:spPr>
          <a:ln w="12700" cap="flat">
            <a:solidFill>
              <a:srgbClr val="111111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11111"/>
                </a:solidFill>
                <a:latin typeface="DejaVu Sans"/>
              </a:defRPr>
            </a:pPr>
            <a:endParaRPr lang="en-US"/>
          </a:p>
        </c:txPr>
        <c:crossAx val="2094734552"/>
        <c:crossesAt val="10"/>
        <c:auto val="1"/>
        <c:lblAlgn val="ctr"/>
        <c:noMultiLvlLbl val="1"/>
        <c:majorUnit val="6"/>
      </c:valAx>
      <c:valAx>
        <c:axId val="2094734552"/>
        <c:scaling>
          <c:orientation val="minMax"/>
          <c:max val="40"/>
          <c:min val="10"/>
        </c:scaling>
        <c:delete val="0"/>
        <c:axPos val="l"/>
        <c:majorGridlines>
          <c:spPr>
            <a:ln w="12700" cap="flat">
              <a:solidFill>
                <a:srgbClr val="D9DEE5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low"/>
        <c:spPr>
          <a:ln w="12700" cap="flat">
            <a:solidFill>
              <a:srgbClr val="111111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11111"/>
                </a:solidFill>
                <a:latin typeface="DejaVu Sans"/>
              </a:defRPr>
            </a:pPr>
            <a:endParaRPr lang="en-US"/>
          </a:p>
        </c:txPr>
        <c:crossAx val="2094734554"/>
        <c:crossesAt val="0"/>
        <c:crossBetween val="midCat"/>
        <c:majorUnit val="10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6.xml"/><Relationship Id="rId2" Type="http://schemas.openxmlformats.org/officeDocument/2006/relationships/chart" Target="/ppt/charts/chart17.xml"/><Relationship Id="rId3" Type="http://schemas.openxmlformats.org/officeDocument/2006/relationships/chart" Target="/ppt/charts/chart18.xml"/><Relationship Id="rId4" Type="http://schemas.openxmlformats.org/officeDocument/2006/relationships/chart" Target="/ppt/charts/chart19.xml"/><Relationship Id="rId5" Type="http://schemas.openxmlformats.org/officeDocument/2006/relationships/chart" Target="/ppt/charts/chart20.xml"/><Relationship Id="rId6" Type="http://schemas.openxmlformats.org/officeDocument/2006/relationships/chart" Target="/ppt/charts/chart21.xml"/><Relationship Id="rId7" Type="http://schemas.openxmlformats.org/officeDocument/2006/relationships/chart" Target="/ppt/charts/chart22.xml"/><Relationship Id="rId8" Type="http://schemas.openxmlformats.org/officeDocument/2006/relationships/chart" Target="/ppt/charts/chart23.xml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75488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PTPC / dev.</a:t>
            </a:r>
            <a:endParaRPr lang="en-US" sz="17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292608" y="758952"/>
          <a:ext cx="3163824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1069848" y="2990088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Proposal slots</a:t>
            </a:r>
            <a:endParaRPr lang="en-US" sz="1540" dirty="0"/>
          </a:p>
        </p:txBody>
      </p:sp>
      <p:sp>
        <p:nvSpPr>
          <p:cNvPr id="5" name="Text 2"/>
          <p:cNvSpPr/>
          <p:nvPr/>
        </p:nvSpPr>
        <p:spPr>
          <a:xfrm>
            <a:off x="306324" y="1051560"/>
            <a:ext cx="26517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AP ×100</a:t>
            </a:r>
            <a:endParaRPr lang="en-US" sz="1540" dirty="0"/>
          </a:p>
        </p:txBody>
      </p:sp>
      <p:sp>
        <p:nvSpPr>
          <p:cNvPr id="6" name="Text 3"/>
          <p:cNvSpPr/>
          <p:nvPr/>
        </p:nvSpPr>
        <p:spPr>
          <a:xfrm>
            <a:off x="3895344" y="475488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VCC / dev.</a:t>
            </a:r>
            <a:endParaRPr lang="en-US" sz="17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3456432" y="758952"/>
          <a:ext cx="3163824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4233672" y="2990088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Proposal slots</a:t>
            </a:r>
            <a:endParaRPr lang="en-US" sz="1540" dirty="0"/>
          </a:p>
        </p:txBody>
      </p:sp>
      <p:sp>
        <p:nvSpPr>
          <p:cNvPr id="9" name="Text 5"/>
          <p:cNvSpPr/>
          <p:nvPr/>
        </p:nvSpPr>
        <p:spPr>
          <a:xfrm>
            <a:off x="3470148" y="1051560"/>
            <a:ext cx="26517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Macro Top-1 ×100</a:t>
            </a:r>
            <a:endParaRPr lang="en-US" sz="1540" dirty="0"/>
          </a:p>
        </p:txBody>
      </p:sp>
      <p:sp>
        <p:nvSpPr>
          <p:cNvPr id="10" name="Text 6"/>
          <p:cNvSpPr/>
          <p:nvPr/>
        </p:nvSpPr>
        <p:spPr>
          <a:xfrm>
            <a:off x="7059168" y="475488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Norman / dev.</a:t>
            </a:r>
            <a:endParaRPr lang="en-US" sz="1700" dirty="0"/>
          </a:p>
        </p:txBody>
      </p:sp>
      <p:graphicFrame>
        <p:nvGraphicFramePr>
          <p:cNvPr id="11" name="Chart 2" descr=""/>
          <p:cNvGraphicFramePr/>
          <p:nvPr/>
        </p:nvGraphicFramePr>
        <p:xfrm>
          <a:off x="6620256" y="758952"/>
          <a:ext cx="3163824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 7"/>
          <p:cNvSpPr/>
          <p:nvPr/>
        </p:nvSpPr>
        <p:spPr>
          <a:xfrm>
            <a:off x="7397496" y="2990088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Proposal slots</a:t>
            </a:r>
            <a:endParaRPr lang="en-US" sz="1540" dirty="0"/>
          </a:p>
        </p:txBody>
      </p:sp>
      <p:sp>
        <p:nvSpPr>
          <p:cNvPr id="13" name="Text 8"/>
          <p:cNvSpPr/>
          <p:nvPr/>
        </p:nvSpPr>
        <p:spPr>
          <a:xfrm>
            <a:off x="6633972" y="1051560"/>
            <a:ext cx="26517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Macro Top-1 ×100</a:t>
            </a:r>
            <a:endParaRPr lang="en-US" sz="1540" dirty="0"/>
          </a:p>
        </p:txBody>
      </p:sp>
      <p:sp>
        <p:nvSpPr>
          <p:cNvPr id="14" name="Text 9"/>
          <p:cNvSpPr/>
          <p:nvPr/>
        </p:nvSpPr>
        <p:spPr>
          <a:xfrm>
            <a:off x="731520" y="3310128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Tahoe / dev.</a:t>
            </a:r>
            <a:endParaRPr lang="en-US" sz="1700" dirty="0"/>
          </a:p>
        </p:txBody>
      </p:sp>
      <p:graphicFrame>
        <p:nvGraphicFramePr>
          <p:cNvPr id="15" name="Chart 3" descr=""/>
          <p:cNvGraphicFramePr/>
          <p:nvPr/>
        </p:nvGraphicFramePr>
        <p:xfrm>
          <a:off x="292608" y="3593592"/>
          <a:ext cx="3163824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6" name="Text 10"/>
          <p:cNvSpPr/>
          <p:nvPr/>
        </p:nvSpPr>
        <p:spPr>
          <a:xfrm>
            <a:off x="1069848" y="5824728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Proposal slots</a:t>
            </a:r>
            <a:endParaRPr lang="en-US" sz="1540" dirty="0"/>
          </a:p>
        </p:txBody>
      </p:sp>
      <p:sp>
        <p:nvSpPr>
          <p:cNvPr id="17" name="Text 11"/>
          <p:cNvSpPr/>
          <p:nvPr/>
        </p:nvSpPr>
        <p:spPr>
          <a:xfrm>
            <a:off x="306324" y="3886200"/>
            <a:ext cx="26517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Macro Top-1 ×100</a:t>
            </a:r>
            <a:endParaRPr lang="en-US" sz="1540" dirty="0"/>
          </a:p>
        </p:txBody>
      </p:sp>
      <p:sp>
        <p:nvSpPr>
          <p:cNvPr id="18" name="Text 12"/>
          <p:cNvSpPr/>
          <p:nvPr/>
        </p:nvSpPr>
        <p:spPr>
          <a:xfrm>
            <a:off x="731520" y="6144768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PTPC / heldout</a:t>
            </a:r>
            <a:endParaRPr lang="en-US" sz="1700" dirty="0"/>
          </a:p>
        </p:txBody>
      </p:sp>
      <p:graphicFrame>
        <p:nvGraphicFramePr>
          <p:cNvPr id="19" name="Chart 4" descr=""/>
          <p:cNvGraphicFramePr/>
          <p:nvPr/>
        </p:nvGraphicFramePr>
        <p:xfrm>
          <a:off x="292608" y="6428232"/>
          <a:ext cx="3163824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0" name="Text 13"/>
          <p:cNvSpPr/>
          <p:nvPr/>
        </p:nvSpPr>
        <p:spPr>
          <a:xfrm>
            <a:off x="1069848" y="8659368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Proposal slots</a:t>
            </a:r>
            <a:endParaRPr lang="en-US" sz="1540" dirty="0"/>
          </a:p>
        </p:txBody>
      </p:sp>
      <p:sp>
        <p:nvSpPr>
          <p:cNvPr id="21" name="Text 14"/>
          <p:cNvSpPr/>
          <p:nvPr/>
        </p:nvSpPr>
        <p:spPr>
          <a:xfrm>
            <a:off x="306324" y="6720840"/>
            <a:ext cx="26517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AP ×100</a:t>
            </a:r>
            <a:endParaRPr lang="en-US" sz="1540" dirty="0"/>
          </a:p>
        </p:txBody>
      </p:sp>
      <p:sp>
        <p:nvSpPr>
          <p:cNvPr id="22" name="Text 15"/>
          <p:cNvSpPr/>
          <p:nvPr/>
        </p:nvSpPr>
        <p:spPr>
          <a:xfrm>
            <a:off x="3895344" y="6144768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VCC / heldout</a:t>
            </a:r>
            <a:endParaRPr lang="en-US" sz="1700" dirty="0"/>
          </a:p>
        </p:txBody>
      </p:sp>
      <p:graphicFrame>
        <p:nvGraphicFramePr>
          <p:cNvPr id="23" name="Chart 5" descr=""/>
          <p:cNvGraphicFramePr/>
          <p:nvPr/>
        </p:nvGraphicFramePr>
        <p:xfrm>
          <a:off x="3456432" y="6428232"/>
          <a:ext cx="3163824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4" name="Text 16"/>
          <p:cNvSpPr/>
          <p:nvPr/>
        </p:nvSpPr>
        <p:spPr>
          <a:xfrm>
            <a:off x="4233672" y="8659368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Proposal slots</a:t>
            </a:r>
            <a:endParaRPr lang="en-US" sz="1540" dirty="0"/>
          </a:p>
        </p:txBody>
      </p:sp>
      <p:sp>
        <p:nvSpPr>
          <p:cNvPr id="25" name="Text 17"/>
          <p:cNvSpPr/>
          <p:nvPr/>
        </p:nvSpPr>
        <p:spPr>
          <a:xfrm>
            <a:off x="3470148" y="6720840"/>
            <a:ext cx="26517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Macro Top-1 ×100</a:t>
            </a:r>
            <a:endParaRPr lang="en-US" sz="1540" dirty="0"/>
          </a:p>
        </p:txBody>
      </p:sp>
      <p:sp>
        <p:nvSpPr>
          <p:cNvPr id="26" name="Text 18"/>
          <p:cNvSpPr/>
          <p:nvPr/>
        </p:nvSpPr>
        <p:spPr>
          <a:xfrm>
            <a:off x="7059168" y="6144768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Norman / heldout</a:t>
            </a:r>
            <a:endParaRPr lang="en-US" sz="1700" dirty="0"/>
          </a:p>
        </p:txBody>
      </p:sp>
      <p:graphicFrame>
        <p:nvGraphicFramePr>
          <p:cNvPr id="27" name="Chart 6" descr=""/>
          <p:cNvGraphicFramePr/>
          <p:nvPr/>
        </p:nvGraphicFramePr>
        <p:xfrm>
          <a:off x="6620256" y="6428232"/>
          <a:ext cx="3163824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28" name="Text 19"/>
          <p:cNvSpPr/>
          <p:nvPr/>
        </p:nvSpPr>
        <p:spPr>
          <a:xfrm>
            <a:off x="7397496" y="8659368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Proposal slots</a:t>
            </a:r>
            <a:endParaRPr lang="en-US" sz="1540" dirty="0"/>
          </a:p>
        </p:txBody>
      </p:sp>
      <p:sp>
        <p:nvSpPr>
          <p:cNvPr id="29" name="Text 20"/>
          <p:cNvSpPr/>
          <p:nvPr/>
        </p:nvSpPr>
        <p:spPr>
          <a:xfrm>
            <a:off x="6633972" y="6720840"/>
            <a:ext cx="26517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Macro Top-1 ×100</a:t>
            </a:r>
            <a:endParaRPr lang="en-US" sz="1540" dirty="0"/>
          </a:p>
        </p:txBody>
      </p:sp>
      <p:sp>
        <p:nvSpPr>
          <p:cNvPr id="30" name="Text 21"/>
          <p:cNvSpPr/>
          <p:nvPr/>
        </p:nvSpPr>
        <p:spPr>
          <a:xfrm>
            <a:off x="731520" y="8979408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Tahoe / heldout</a:t>
            </a:r>
            <a:endParaRPr lang="en-US" sz="1700" dirty="0"/>
          </a:p>
        </p:txBody>
      </p:sp>
      <p:graphicFrame>
        <p:nvGraphicFramePr>
          <p:cNvPr id="31" name="Chart 7" descr=""/>
          <p:cNvGraphicFramePr/>
          <p:nvPr/>
        </p:nvGraphicFramePr>
        <p:xfrm>
          <a:off x="292608" y="9262872"/>
          <a:ext cx="3163824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32" name="Text 22"/>
          <p:cNvSpPr/>
          <p:nvPr/>
        </p:nvSpPr>
        <p:spPr>
          <a:xfrm>
            <a:off x="1069848" y="11494008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Proposal slots</a:t>
            </a:r>
            <a:endParaRPr lang="en-US" sz="1540" dirty="0"/>
          </a:p>
        </p:txBody>
      </p:sp>
      <p:sp>
        <p:nvSpPr>
          <p:cNvPr id="33" name="Text 23"/>
          <p:cNvSpPr/>
          <p:nvPr/>
        </p:nvSpPr>
        <p:spPr>
          <a:xfrm>
            <a:off x="306324" y="9555480"/>
            <a:ext cx="26517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Macro Top-1 ×100</a:t>
            </a:r>
            <a:endParaRPr lang="en-US" sz="1540" dirty="0"/>
          </a:p>
        </p:txBody>
      </p:sp>
      <p:sp>
        <p:nvSpPr>
          <p:cNvPr id="34" name="Shape 24"/>
          <p:cNvSpPr/>
          <p:nvPr/>
        </p:nvSpPr>
        <p:spPr>
          <a:xfrm>
            <a:off x="1690937" y="173736"/>
            <a:ext cx="384048" cy="0"/>
          </a:xfrm>
          <a:prstGeom prst="line">
            <a:avLst/>
          </a:prstGeom>
          <a:noFill/>
          <a:ln w="29210">
            <a:solidFill>
              <a:srgbClr val="2166AC"/>
            </a:solidFill>
            <a:prstDash val="dash"/>
          </a:ln>
        </p:spPr>
      </p:sp>
      <p:sp>
        <p:nvSpPr>
          <p:cNvPr id="35" name="Shape 25"/>
          <p:cNvSpPr/>
          <p:nvPr/>
        </p:nvSpPr>
        <p:spPr>
          <a:xfrm>
            <a:off x="1855529" y="132588"/>
            <a:ext cx="82296" cy="82296"/>
          </a:xfrm>
          <a:prstGeom prst="line">
            <a:avLst/>
          </a:prstGeom>
          <a:noFill/>
          <a:ln w="19050">
            <a:solidFill>
              <a:srgbClr val="2166AC"/>
            </a:solidFill>
            <a:prstDash val="solid"/>
          </a:ln>
        </p:spPr>
      </p:sp>
      <p:sp>
        <p:nvSpPr>
          <p:cNvPr id="36" name="Shape 26"/>
          <p:cNvSpPr/>
          <p:nvPr/>
        </p:nvSpPr>
        <p:spPr>
          <a:xfrm>
            <a:off x="1855529" y="214884"/>
            <a:ext cx="82296" cy="-82296"/>
          </a:xfrm>
          <a:prstGeom prst="line">
            <a:avLst/>
          </a:prstGeom>
          <a:noFill/>
          <a:ln w="19050">
            <a:solidFill>
              <a:srgbClr val="2166AC"/>
            </a:solidFill>
            <a:prstDash val="solid"/>
          </a:ln>
        </p:spPr>
      </p:sp>
      <p:sp>
        <p:nvSpPr>
          <p:cNvPr id="37" name="Text 27"/>
          <p:cNvSpPr/>
          <p:nvPr/>
        </p:nvSpPr>
        <p:spPr>
          <a:xfrm>
            <a:off x="2148137" y="45720"/>
            <a:ext cx="111275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Qwen direct</a:t>
            </a:r>
            <a:endParaRPr lang="en-US" sz="1320" dirty="0"/>
          </a:p>
        </p:txBody>
      </p:sp>
      <p:sp>
        <p:nvSpPr>
          <p:cNvPr id="38" name="Shape 28"/>
          <p:cNvSpPr/>
          <p:nvPr/>
        </p:nvSpPr>
        <p:spPr>
          <a:xfrm>
            <a:off x="3516923" y="173736"/>
            <a:ext cx="384048" cy="0"/>
          </a:xfrm>
          <a:prstGeom prst="line">
            <a:avLst/>
          </a:prstGeom>
          <a:noFill/>
          <a:ln w="29210">
            <a:solidFill>
              <a:srgbClr val="2166AC"/>
            </a:solidFill>
            <a:prstDash val="solid"/>
          </a:ln>
        </p:spPr>
      </p:sp>
      <p:sp>
        <p:nvSpPr>
          <p:cNvPr id="39" name="Shape 29"/>
          <p:cNvSpPr/>
          <p:nvPr/>
        </p:nvSpPr>
        <p:spPr>
          <a:xfrm>
            <a:off x="3672371" y="137160"/>
            <a:ext cx="73152" cy="7315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166AC"/>
            </a:solidFill>
            <a:prstDash val="solid"/>
          </a:ln>
        </p:spPr>
      </p:sp>
      <p:sp>
        <p:nvSpPr>
          <p:cNvPr id="40" name="Text 30"/>
          <p:cNvSpPr/>
          <p:nvPr/>
        </p:nvSpPr>
        <p:spPr>
          <a:xfrm>
            <a:off x="3974123" y="45720"/>
            <a:ext cx="927061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Qwen loop</a:t>
            </a:r>
            <a:endParaRPr lang="en-US" sz="1320" dirty="0"/>
          </a:p>
        </p:txBody>
      </p:sp>
      <p:sp>
        <p:nvSpPr>
          <p:cNvPr id="41" name="Shape 31"/>
          <p:cNvSpPr/>
          <p:nvPr/>
        </p:nvSpPr>
        <p:spPr>
          <a:xfrm>
            <a:off x="5157216" y="173736"/>
            <a:ext cx="384048" cy="0"/>
          </a:xfrm>
          <a:prstGeom prst="line">
            <a:avLst/>
          </a:prstGeom>
          <a:noFill/>
          <a:ln w="29210">
            <a:solidFill>
              <a:srgbClr val="B35806"/>
            </a:solidFill>
            <a:prstDash val="dash"/>
          </a:ln>
        </p:spPr>
      </p:sp>
      <p:sp>
        <p:nvSpPr>
          <p:cNvPr id="42" name="Shape 32"/>
          <p:cNvSpPr/>
          <p:nvPr/>
        </p:nvSpPr>
        <p:spPr>
          <a:xfrm>
            <a:off x="5321808" y="132588"/>
            <a:ext cx="82296" cy="82296"/>
          </a:xfrm>
          <a:prstGeom prst="line">
            <a:avLst/>
          </a:prstGeom>
          <a:noFill/>
          <a:ln w="19050">
            <a:solidFill>
              <a:srgbClr val="B35806"/>
            </a:solidFill>
            <a:prstDash val="solid"/>
          </a:ln>
        </p:spPr>
      </p:sp>
      <p:sp>
        <p:nvSpPr>
          <p:cNvPr id="43" name="Shape 33"/>
          <p:cNvSpPr/>
          <p:nvPr/>
        </p:nvSpPr>
        <p:spPr>
          <a:xfrm>
            <a:off x="5321808" y="214884"/>
            <a:ext cx="82296" cy="-82296"/>
          </a:xfrm>
          <a:prstGeom prst="line">
            <a:avLst/>
          </a:prstGeom>
          <a:noFill/>
          <a:ln w="19050">
            <a:solidFill>
              <a:srgbClr val="B35806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5614416" y="45720"/>
            <a:ext cx="111275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Luna direct</a:t>
            </a:r>
            <a:endParaRPr lang="en-US" sz="1320" dirty="0"/>
          </a:p>
        </p:txBody>
      </p:sp>
      <p:sp>
        <p:nvSpPr>
          <p:cNvPr id="45" name="Shape 35"/>
          <p:cNvSpPr/>
          <p:nvPr/>
        </p:nvSpPr>
        <p:spPr>
          <a:xfrm>
            <a:off x="6983202" y="173736"/>
            <a:ext cx="384048" cy="0"/>
          </a:xfrm>
          <a:prstGeom prst="line">
            <a:avLst/>
          </a:prstGeom>
          <a:noFill/>
          <a:ln w="29210">
            <a:solidFill>
              <a:srgbClr val="B35806"/>
            </a:solidFill>
            <a:prstDash val="solid"/>
          </a:ln>
        </p:spPr>
      </p:sp>
      <p:sp>
        <p:nvSpPr>
          <p:cNvPr id="46" name="Shape 36"/>
          <p:cNvSpPr/>
          <p:nvPr/>
        </p:nvSpPr>
        <p:spPr>
          <a:xfrm>
            <a:off x="7138650" y="137160"/>
            <a:ext cx="73152" cy="7315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B35806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7440402" y="45720"/>
            <a:ext cx="927061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Luna loop</a:t>
            </a:r>
            <a:endParaRPr lang="en-US" sz="13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jaVu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ejaVu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BioCoLoop editable result figure</dc:title>
  <dc:subject>Editable publication figure</dc:subject>
  <dc:creator>BioCoLoop authors</dc:creator>
  <cp:lastModifiedBy>BioCoLoop authors</cp:lastModifiedBy>
  <cp:revision>1</cp:revision>
  <dcterms:created xsi:type="dcterms:W3CDTF">2026-09-24T09:43:59Z</dcterms:created>
  <dcterms:modified xsi:type="dcterms:W3CDTF">2026-09-24T09:43:59Z</dcterms:modified>
</cp:coreProperties>
</file>