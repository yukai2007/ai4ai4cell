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8229600"/>
  <p:notesSz cx="82296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87552"/>
            <a:ext cx="10515600" cy="2002536"/>
          </a:xfrm>
          <a:prstGeom prst="roundRect">
            <a:avLst>
              <a:gd name="adj" fmla="val 6849"/>
            </a:avLst>
          </a:prstGeom>
          <a:solidFill>
            <a:srgbClr val="F4EFFA"/>
          </a:solidFill>
          <a:ln w="17145">
            <a:solidFill>
              <a:srgbClr val="D7C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3566160"/>
            <a:ext cx="8439912" cy="3063240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7145">
            <a:solidFill>
              <a:srgbClr val="D3DD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3931920"/>
            <a:ext cx="1874520" cy="269748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7145">
            <a:solidFill>
              <a:srgbClr val="D3DD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128016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BioCoLoop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450592" y="182880"/>
            <a:ext cx="8220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40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Collaborative biological model improvement</a:t>
            </a:r>
            <a:endParaRPr lang="en-US" sz="1940" dirty="0"/>
          </a:p>
        </p:txBody>
      </p:sp>
      <p:sp>
        <p:nvSpPr>
          <p:cNvPr id="7" name="Shape 5"/>
          <p:cNvSpPr/>
          <p:nvPr/>
        </p:nvSpPr>
        <p:spPr>
          <a:xfrm>
            <a:off x="521208" y="68580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F4ED"/>
          </a:solidFill>
          <a:ln w="13970">
            <a:solidFill>
              <a:srgbClr val="2D7F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6492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61488" y="68580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3970">
            <a:solidFill>
              <a:srgbClr val="276C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6492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39512" y="68580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F4EFFA"/>
          </a:solidFill>
          <a:ln w="13970">
            <a:solidFill>
              <a:srgbClr val="7652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22976" y="6492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loop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11312" y="68580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FFF4DC"/>
          </a:solidFill>
          <a:ln w="13970">
            <a:solidFill>
              <a:srgbClr val="AE73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94776" y="6492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" y="108813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0" b="1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OUTER RESEARCH LOOP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108813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1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language model: fixed weights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457200" y="1755648"/>
            <a:ext cx="2148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7652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1879092"/>
            <a:ext cx="265176" cy="265176"/>
          </a:xfrm>
          <a:prstGeom prst="ellipse">
            <a:avLst/>
          </a:prstGeom>
          <a:solidFill>
            <a:srgbClr val="F4EFFA"/>
          </a:solidFill>
          <a:ln w="12700">
            <a:solidFill>
              <a:srgbClr val="76529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" y="187909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905256" y="18379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Propose</a:t>
            </a:r>
            <a:endParaRPr lang="en-US" sz="171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2267712"/>
            <a:ext cx="1911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Hypothesis +</a:t>
            </a:r>
            <a:endParaRPr lang="en-US" sz="15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identifier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606040" y="2313432"/>
            <a:ext cx="374904" cy="0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80944" y="1755648"/>
            <a:ext cx="2148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7652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9816" y="1879092"/>
            <a:ext cx="265176" cy="265176"/>
          </a:xfrm>
          <a:prstGeom prst="ellipse">
            <a:avLst/>
          </a:prstGeom>
          <a:solidFill>
            <a:srgbClr val="F4EFFA"/>
          </a:solidFill>
          <a:ln w="12700">
            <a:solidFill>
              <a:srgbClr val="76529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99816" y="187909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18379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Instantiate</a:t>
            </a:r>
            <a:endParaRPr lang="en-US" sz="1710" dirty="0"/>
          </a:p>
        </p:txBody>
      </p:sp>
      <p:sp>
        <p:nvSpPr>
          <p:cNvPr id="27" name="Text 25"/>
          <p:cNvSpPr txBox="1"/>
          <p:nvPr/>
        </p:nvSpPr>
        <p:spPr>
          <a:xfrm>
            <a:off x="3099816" y="2267712"/>
            <a:ext cx="1911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 head +</a:t>
            </a:r>
            <a:endParaRPr lang="en-US" sz="15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settings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5129784" y="2313432"/>
            <a:ext cx="374904" cy="0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04688" y="1755648"/>
            <a:ext cx="2148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7652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1879092"/>
            <a:ext cx="265176" cy="265176"/>
          </a:xfrm>
          <a:prstGeom prst="ellipse">
            <a:avLst/>
          </a:prstGeom>
          <a:solidFill>
            <a:srgbClr val="F4EFFA"/>
          </a:solidFill>
          <a:ln w="12700">
            <a:solidFill>
              <a:srgbClr val="7652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23560" y="187909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320" dirty="0"/>
          </a:p>
        </p:txBody>
      </p:sp>
      <p:sp>
        <p:nvSpPr>
          <p:cNvPr id="32" name="Text 30"/>
          <p:cNvSpPr txBox="1"/>
          <p:nvPr/>
        </p:nvSpPr>
        <p:spPr>
          <a:xfrm>
            <a:off x="5952744" y="18379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evaluate</a:t>
            </a:r>
            <a:endParaRPr lang="en-US" sz="1710" dirty="0"/>
          </a:p>
        </p:txBody>
      </p:sp>
      <p:sp>
        <p:nvSpPr>
          <p:cNvPr id="33" name="Text 31"/>
          <p:cNvSpPr txBox="1"/>
          <p:nvPr/>
        </p:nvSpPr>
        <p:spPr>
          <a:xfrm>
            <a:off x="5623560" y="2267712"/>
            <a:ext cx="1911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candidate;</a:t>
            </a:r>
            <a:endParaRPr lang="en-US" sz="15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collect diagnostics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7653528" y="2313432"/>
            <a:ext cx="374904" cy="0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28432" y="1755648"/>
            <a:ext cx="2148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76529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47304" y="1879092"/>
            <a:ext cx="265176" cy="265176"/>
          </a:xfrm>
          <a:prstGeom prst="ellipse">
            <a:avLst/>
          </a:prstGeom>
          <a:solidFill>
            <a:srgbClr val="F4EFFA"/>
          </a:solidFill>
          <a:ln w="12700">
            <a:solidFill>
              <a:srgbClr val="76529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47304" y="187909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320" dirty="0"/>
          </a:p>
        </p:txBody>
      </p:sp>
      <p:sp>
        <p:nvSpPr>
          <p:cNvPr id="38" name="Text 36"/>
          <p:cNvSpPr txBox="1"/>
          <p:nvPr/>
        </p:nvSpPr>
        <p:spPr>
          <a:xfrm>
            <a:off x="8476488" y="18379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Retain / revise</a:t>
            </a:r>
            <a:endParaRPr lang="en-US" sz="1710" dirty="0"/>
          </a:p>
        </p:txBody>
      </p:sp>
      <p:sp>
        <p:nvSpPr>
          <p:cNvPr id="39" name="Text 37"/>
          <p:cNvSpPr txBox="1"/>
          <p:nvPr/>
        </p:nvSpPr>
        <p:spPr>
          <a:xfrm>
            <a:off x="8147304" y="2267712"/>
            <a:ext cx="1911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development;</a:t>
            </a:r>
            <a:endParaRPr lang="en-US" sz="15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 trial outcome</a:t>
            </a:r>
            <a:endParaRPr lang="en-US" sz="1520" dirty="0"/>
          </a:p>
        </p:txBody>
      </p:sp>
      <p:sp>
        <p:nvSpPr>
          <p:cNvPr id="40" name="Shape 38"/>
          <p:cNvSpPr/>
          <p:nvPr/>
        </p:nvSpPr>
        <p:spPr>
          <a:xfrm>
            <a:off x="9098280" y="1618488"/>
            <a:ext cx="0" cy="137160"/>
          </a:xfrm>
          <a:prstGeom prst="line">
            <a:avLst/>
          </a:prstGeom>
          <a:noFill/>
          <a:ln w="19050">
            <a:solidFill>
              <a:srgbClr val="76529C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531620" y="1618488"/>
            <a:ext cx="7566660" cy="0"/>
          </a:xfrm>
          <a:prstGeom prst="line">
            <a:avLst/>
          </a:prstGeom>
          <a:noFill/>
          <a:ln w="19050">
            <a:solidFill>
              <a:srgbClr val="76529C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531620" y="1618488"/>
            <a:ext cx="0" cy="137160"/>
          </a:xfrm>
          <a:prstGeom prst="line">
            <a:avLst/>
          </a:prstGeom>
          <a:noFill/>
          <a:ln w="1905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3483864" y="13533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cards + previous trials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6804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INNER COLLABORATIVE TRAINING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457200" y="4050792"/>
            <a:ext cx="7973568" cy="658368"/>
          </a:xfrm>
          <a:prstGeom prst="roundRect">
            <a:avLst>
              <a:gd name="adj" fmla="val 15278"/>
            </a:avLst>
          </a:prstGeom>
          <a:solidFill>
            <a:srgbClr val="FFF4DC"/>
          </a:solidFill>
          <a:ln w="17780">
            <a:solidFill>
              <a:srgbClr val="AE731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114800"/>
            <a:ext cx="7589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Coordinator: aggregate parameters and development scores</a:t>
            </a:r>
            <a:endParaRPr lang="en-US" sz="173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4425696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 shared parameters; receive local updates and evaluation metrics</a:t>
            </a:r>
            <a:endParaRPr lang="en-US" sz="1420" dirty="0"/>
          </a:p>
        </p:txBody>
      </p:sp>
      <p:sp>
        <p:nvSpPr>
          <p:cNvPr id="48" name="Shape 46"/>
          <p:cNvSpPr/>
          <p:nvPr/>
        </p:nvSpPr>
        <p:spPr>
          <a:xfrm>
            <a:off x="6579108" y="2852928"/>
            <a:ext cx="0" cy="1197864"/>
          </a:xfrm>
          <a:prstGeom prst="line">
            <a:avLst/>
          </a:prstGeom>
          <a:noFill/>
          <a:ln w="2540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4663440" y="320040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Candidate design</a:t>
            </a:r>
            <a:endParaRPr lang="en-US" sz="1420" dirty="0"/>
          </a:p>
        </p:txBody>
      </p:sp>
      <p:sp>
        <p:nvSpPr>
          <p:cNvPr id="50" name="Shape 48"/>
          <p:cNvSpPr/>
          <p:nvPr/>
        </p:nvSpPr>
        <p:spPr>
          <a:xfrm>
            <a:off x="8138160" y="3236976"/>
            <a:ext cx="0" cy="813816"/>
          </a:xfrm>
          <a:prstGeom prst="line">
            <a:avLst/>
          </a:prstGeom>
          <a:noFill/>
          <a:ln w="25400">
            <a:solidFill>
              <a:srgbClr val="AE7319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138160" y="3236976"/>
            <a:ext cx="484632" cy="0"/>
          </a:xfrm>
          <a:prstGeom prst="line">
            <a:avLst/>
          </a:prstGeom>
          <a:noFill/>
          <a:ln w="25400">
            <a:solidFill>
              <a:srgbClr val="AE7319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622792" y="2852928"/>
            <a:ext cx="0" cy="384048"/>
          </a:xfrm>
          <a:prstGeom prst="line">
            <a:avLst/>
          </a:prstGeom>
          <a:noFill/>
          <a:ln w="25400">
            <a:solidFill>
              <a:srgbClr val="AE7319"/>
            </a:solidFill>
            <a:prstDash val="solid"/>
            <a:headEnd type="triangl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6821424" y="3108960"/>
            <a:ext cx="1161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70" dirty="0">
                <a:solidFill>
                  <a:srgbClr val="AE73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Development</a:t>
            </a:r>
            <a:endParaRPr lang="en-US" sz="137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70" dirty="0">
                <a:solidFill>
                  <a:srgbClr val="AE73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</a:t>
            </a:r>
            <a:endParaRPr lang="en-US" sz="1370" dirty="0"/>
          </a:p>
        </p:txBody>
      </p:sp>
      <p:sp>
        <p:nvSpPr>
          <p:cNvPr id="54" name="Shape 52"/>
          <p:cNvSpPr/>
          <p:nvPr/>
        </p:nvSpPr>
        <p:spPr>
          <a:xfrm>
            <a:off x="9738360" y="2852928"/>
            <a:ext cx="0" cy="1078992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9884664" y="331012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</a:t>
            </a:r>
            <a:endParaRPr lang="en-US" sz="1360" dirty="0"/>
          </a:p>
        </p:txBody>
      </p:sp>
      <p:sp>
        <p:nvSpPr>
          <p:cNvPr id="56" name="Shape 54"/>
          <p:cNvSpPr/>
          <p:nvPr/>
        </p:nvSpPr>
        <p:spPr>
          <a:xfrm>
            <a:off x="457200" y="5340096"/>
            <a:ext cx="250545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3970">
            <a:solidFill>
              <a:srgbClr val="D3DDE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76072" y="5413248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 1</a:t>
            </a:r>
            <a:endParaRPr lang="en-US" sz="1620" dirty="0"/>
          </a:p>
        </p:txBody>
      </p:sp>
      <p:sp>
        <p:nvSpPr>
          <p:cNvPr id="58" name="Text 56"/>
          <p:cNvSpPr txBox="1"/>
          <p:nvPr/>
        </p:nvSpPr>
        <p:spPr>
          <a:xfrm>
            <a:off x="1453896" y="543153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 A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9F4ED"/>
          </a:solidFill>
          <a:ln w="12700">
            <a:solidFill>
              <a:srgbClr val="2D7F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56232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AF2FB"/>
          </a:solidFill>
          <a:ln w="12700">
            <a:solidFill>
              <a:srgbClr val="276CA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85216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D7F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/ dev</a:t>
            </a:r>
            <a:endParaRPr lang="en-US" sz="1420" dirty="0"/>
          </a:p>
        </p:txBody>
      </p:sp>
      <p:sp>
        <p:nvSpPr>
          <p:cNvPr id="62" name="Text 60"/>
          <p:cNvSpPr txBox="1"/>
          <p:nvPr/>
        </p:nvSpPr>
        <p:spPr>
          <a:xfrm>
            <a:off x="1874520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76C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model</a:t>
            </a:r>
            <a:endParaRPr lang="en-US" sz="1420" dirty="0"/>
          </a:p>
        </p:txBody>
      </p:sp>
      <p:sp>
        <p:nvSpPr>
          <p:cNvPr id="63" name="Shape 61"/>
          <p:cNvSpPr/>
          <p:nvPr/>
        </p:nvSpPr>
        <p:spPr>
          <a:xfrm>
            <a:off x="1572768" y="5971032"/>
            <a:ext cx="283464" cy="0"/>
          </a:xfrm>
          <a:prstGeom prst="line">
            <a:avLst/>
          </a:prstGeom>
          <a:noFill/>
          <a:ln w="17145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554480" y="4709160"/>
            <a:ext cx="0" cy="630936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865376" y="4709160"/>
            <a:ext cx="0" cy="630936"/>
          </a:xfrm>
          <a:prstGeom prst="line">
            <a:avLst/>
          </a:prstGeom>
          <a:noFill/>
          <a:ln w="22860">
            <a:solidFill>
              <a:srgbClr val="AE7319"/>
            </a:solidFill>
            <a:prstDash val="solid"/>
            <a:headEnd type="triangl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3191256" y="5340096"/>
            <a:ext cx="250545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3970">
            <a:solidFill>
              <a:srgbClr val="D3DDE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310128" y="5413248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 2</a:t>
            </a:r>
            <a:endParaRPr lang="en-US" sz="1620" dirty="0"/>
          </a:p>
        </p:txBody>
      </p:sp>
      <p:sp>
        <p:nvSpPr>
          <p:cNvPr id="68" name="Text 66"/>
          <p:cNvSpPr txBox="1"/>
          <p:nvPr/>
        </p:nvSpPr>
        <p:spPr>
          <a:xfrm>
            <a:off x="4187952" y="543153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 B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300984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9F4ED"/>
          </a:solidFill>
          <a:ln w="12700">
            <a:solidFill>
              <a:srgbClr val="2D7F6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90288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AF2FB"/>
          </a:solidFill>
          <a:ln w="12700">
            <a:solidFill>
              <a:srgbClr val="276CA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319272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D7F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/ dev</a:t>
            </a:r>
            <a:endParaRPr lang="en-US" sz="1420" dirty="0"/>
          </a:p>
        </p:txBody>
      </p:sp>
      <p:sp>
        <p:nvSpPr>
          <p:cNvPr id="72" name="Text 70"/>
          <p:cNvSpPr txBox="1"/>
          <p:nvPr/>
        </p:nvSpPr>
        <p:spPr>
          <a:xfrm>
            <a:off x="4608576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76C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model</a:t>
            </a:r>
            <a:endParaRPr lang="en-US" sz="1420" dirty="0"/>
          </a:p>
        </p:txBody>
      </p:sp>
      <p:sp>
        <p:nvSpPr>
          <p:cNvPr id="73" name="Shape 71"/>
          <p:cNvSpPr/>
          <p:nvPr/>
        </p:nvSpPr>
        <p:spPr>
          <a:xfrm>
            <a:off x="4306824" y="5971032"/>
            <a:ext cx="283464" cy="0"/>
          </a:xfrm>
          <a:prstGeom prst="line">
            <a:avLst/>
          </a:prstGeom>
          <a:noFill/>
          <a:ln w="17145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288536" y="4709160"/>
            <a:ext cx="0" cy="630936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599432" y="4709160"/>
            <a:ext cx="0" cy="630936"/>
          </a:xfrm>
          <a:prstGeom prst="line">
            <a:avLst/>
          </a:prstGeom>
          <a:noFill/>
          <a:ln w="22860">
            <a:solidFill>
              <a:srgbClr val="AE7319"/>
            </a:solidFill>
            <a:prstDash val="solid"/>
            <a:headEnd type="triangl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5925312" y="5340096"/>
            <a:ext cx="250545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3970">
            <a:solidFill>
              <a:srgbClr val="D3DDE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044184" y="5413248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 K</a:t>
            </a:r>
            <a:endParaRPr lang="en-US" sz="1620" dirty="0"/>
          </a:p>
        </p:txBody>
      </p:sp>
      <p:sp>
        <p:nvSpPr>
          <p:cNvPr id="78" name="Text 76"/>
          <p:cNvSpPr txBox="1"/>
          <p:nvPr/>
        </p:nvSpPr>
        <p:spPr>
          <a:xfrm>
            <a:off x="6922008" y="543153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 K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035040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9F4ED"/>
          </a:solidFill>
          <a:ln w="12700">
            <a:solidFill>
              <a:srgbClr val="2D7F6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24344" y="5779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AF2FB"/>
          </a:solidFill>
          <a:ln w="12700">
            <a:solidFill>
              <a:srgbClr val="276CA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053328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D7F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/ dev</a:t>
            </a:r>
            <a:endParaRPr lang="en-US" sz="1420" dirty="0"/>
          </a:p>
        </p:txBody>
      </p:sp>
      <p:sp>
        <p:nvSpPr>
          <p:cNvPr id="82" name="Text 80"/>
          <p:cNvSpPr txBox="1"/>
          <p:nvPr/>
        </p:nvSpPr>
        <p:spPr>
          <a:xfrm>
            <a:off x="7342632" y="58384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276C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model</a:t>
            </a:r>
            <a:endParaRPr lang="en-US" sz="1420" dirty="0"/>
          </a:p>
        </p:txBody>
      </p:sp>
      <p:sp>
        <p:nvSpPr>
          <p:cNvPr id="83" name="Shape 81"/>
          <p:cNvSpPr/>
          <p:nvPr/>
        </p:nvSpPr>
        <p:spPr>
          <a:xfrm>
            <a:off x="7040880" y="5971032"/>
            <a:ext cx="283464" cy="0"/>
          </a:xfrm>
          <a:prstGeom prst="line">
            <a:avLst/>
          </a:prstGeom>
          <a:noFill/>
          <a:ln w="17145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7022592" y="4709160"/>
            <a:ext cx="0" cy="630936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7333488" y="4709160"/>
            <a:ext cx="0" cy="630936"/>
          </a:xfrm>
          <a:prstGeom prst="line">
            <a:avLst/>
          </a:prstGeom>
          <a:noFill/>
          <a:ln w="22860">
            <a:solidFill>
              <a:srgbClr val="AE7319"/>
            </a:solidFill>
            <a:prstDash val="solid"/>
            <a:headEnd type="triangle"/>
            <a:tailEnd type="none"/>
          </a:ln>
        </p:spPr>
      </p:sp>
      <p:sp>
        <p:nvSpPr>
          <p:cNvPr id="86" name="Text 84"/>
          <p:cNvSpPr txBox="1"/>
          <p:nvPr/>
        </p:nvSpPr>
        <p:spPr>
          <a:xfrm>
            <a:off x="566928" y="6391656"/>
            <a:ext cx="7744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2D7F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Measurements remain within each laboratory</a:t>
            </a:r>
            <a:endParaRPr lang="en-US" sz="1440" dirty="0"/>
          </a:p>
        </p:txBody>
      </p:sp>
      <p:sp>
        <p:nvSpPr>
          <p:cNvPr id="87" name="Text 85"/>
          <p:cNvSpPr txBox="1"/>
          <p:nvPr/>
        </p:nvSpPr>
        <p:spPr>
          <a:xfrm>
            <a:off x="8979408" y="405993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6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OUTPUTS</a:t>
            </a:r>
            <a:endParaRPr lang="en-US" sz="1660" dirty="0"/>
          </a:p>
        </p:txBody>
      </p:sp>
      <p:sp>
        <p:nvSpPr>
          <p:cNvPr id="88" name="Shape 86"/>
          <p:cNvSpPr/>
          <p:nvPr/>
        </p:nvSpPr>
        <p:spPr>
          <a:xfrm>
            <a:off x="9015984" y="4517136"/>
            <a:ext cx="1581912" cy="804672"/>
          </a:xfrm>
          <a:prstGeom prst="roundRect">
            <a:avLst>
              <a:gd name="adj" fmla="val 9091"/>
            </a:avLst>
          </a:prstGeom>
          <a:solidFill>
            <a:srgbClr val="EAF2FB"/>
          </a:solidFill>
          <a:ln w="12700">
            <a:solidFill>
              <a:srgbClr val="276CA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079992" y="4626864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276C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 design</a:t>
            </a:r>
            <a:endParaRPr lang="en-US" sz="15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276C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fitted predictor</a:t>
            </a:r>
            <a:endParaRPr lang="en-US" sz="1520" dirty="0"/>
          </a:p>
        </p:txBody>
      </p:sp>
      <p:sp>
        <p:nvSpPr>
          <p:cNvPr id="90" name="Shape 88"/>
          <p:cNvSpPr/>
          <p:nvPr/>
        </p:nvSpPr>
        <p:spPr>
          <a:xfrm>
            <a:off x="9015984" y="5550408"/>
            <a:ext cx="1581912" cy="786384"/>
          </a:xfrm>
          <a:prstGeom prst="roundRect">
            <a:avLst>
              <a:gd name="adj" fmla="val 9302"/>
            </a:avLst>
          </a:prstGeom>
          <a:solidFill>
            <a:srgbClr val="F4EFFA"/>
          </a:solidFill>
          <a:ln w="12700">
            <a:solidFill>
              <a:srgbClr val="76529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070848" y="5669280"/>
            <a:ext cx="14721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history</a:t>
            </a:r>
            <a:endParaRPr lang="en-US" sz="147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7652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trial results</a:t>
            </a:r>
            <a:endParaRPr lang="en-US" sz="1470" dirty="0"/>
          </a:p>
        </p:txBody>
      </p:sp>
      <p:sp>
        <p:nvSpPr>
          <p:cNvPr id="92" name="Text 90"/>
          <p:cNvSpPr txBox="1"/>
          <p:nvPr/>
        </p:nvSpPr>
        <p:spPr>
          <a:xfrm>
            <a:off x="384048" y="6839712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TASK-SPECIFIC PREDICTORS AND SCORERS</a:t>
            </a:r>
            <a:endParaRPr lang="en-US" sz="1620" dirty="0"/>
          </a:p>
        </p:txBody>
      </p:sp>
      <p:sp>
        <p:nvSpPr>
          <p:cNvPr id="93" name="Shape 91"/>
          <p:cNvSpPr/>
          <p:nvPr/>
        </p:nvSpPr>
        <p:spPr>
          <a:xfrm>
            <a:off x="274320" y="726033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83464" y="7397496"/>
            <a:ext cx="50292" cy="438912"/>
          </a:xfrm>
          <a:prstGeom prst="rect">
            <a:avLst/>
          </a:prstGeom>
          <a:solidFill>
            <a:srgbClr val="276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38912" y="734720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Drug-target interactions</a:t>
            </a:r>
            <a:endParaRPr lang="en-US" sz="1740" dirty="0"/>
          </a:p>
        </p:txBody>
      </p:sp>
      <p:sp>
        <p:nvSpPr>
          <p:cNvPr id="96" name="Text 94"/>
          <p:cNvSpPr txBox="1"/>
          <p:nvPr/>
        </p:nvSpPr>
        <p:spPr>
          <a:xfrm>
            <a:off x="438912" y="770839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7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Compound + protein to interaction</a:t>
            </a:r>
            <a:endParaRPr lang="en-US" sz="1370" dirty="0"/>
          </a:p>
        </p:txBody>
      </p:sp>
      <p:sp>
        <p:nvSpPr>
          <p:cNvPr id="97" name="Shape 95"/>
          <p:cNvSpPr/>
          <p:nvPr/>
        </p:nvSpPr>
        <p:spPr>
          <a:xfrm>
            <a:off x="3840480" y="726033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49624" y="7397496"/>
            <a:ext cx="50292" cy="438912"/>
          </a:xfrm>
          <a:prstGeom prst="rect">
            <a:avLst/>
          </a:prstGeom>
          <a:solidFill>
            <a:srgbClr val="276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005072" y="734720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Proteomic efficacy</a:t>
            </a:r>
            <a:endParaRPr lang="en-US" sz="1740" dirty="0"/>
          </a:p>
        </p:txBody>
      </p:sp>
      <p:sp>
        <p:nvSpPr>
          <p:cNvPr id="100" name="Text 98"/>
          <p:cNvSpPr txBox="1"/>
          <p:nvPr/>
        </p:nvSpPr>
        <p:spPr>
          <a:xfrm>
            <a:off x="4005072" y="770839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7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Observed proteome + drug to efficacy</a:t>
            </a:r>
            <a:endParaRPr lang="en-US" sz="1370" dirty="0"/>
          </a:p>
        </p:txBody>
      </p:sp>
      <p:sp>
        <p:nvSpPr>
          <p:cNvPr id="101" name="Shape 99"/>
          <p:cNvSpPr/>
          <p:nvPr/>
        </p:nvSpPr>
        <p:spPr>
          <a:xfrm>
            <a:off x="7406640" y="726033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15784" y="7397496"/>
            <a:ext cx="50292" cy="438912"/>
          </a:xfrm>
          <a:prstGeom prst="rect">
            <a:avLst/>
          </a:prstGeom>
          <a:solidFill>
            <a:srgbClr val="276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571232" y="734720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2232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Cell perturbations</a:t>
            </a:r>
            <a:endParaRPr lang="en-US" sz="1740" dirty="0"/>
          </a:p>
        </p:txBody>
      </p:sp>
      <p:sp>
        <p:nvSpPr>
          <p:cNvPr id="104" name="Text 102"/>
          <p:cNvSpPr txBox="1"/>
          <p:nvPr/>
        </p:nvSpPr>
        <p:spPr>
          <a:xfrm>
            <a:off x="7571232" y="770839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70" dirty="0">
                <a:solidFill>
                  <a:srgbClr val="526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gene / double gene / drug</a:t>
            </a:r>
            <a:endParaRPr lang="en-US" sz="13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BioCoLoop framework</dc:title>
  <dc:subject>Editable architecture for collaborative biological model improvement</dc:subject>
  <dc:creator/>
  <cp:lastModifiedBy/>
  <cp:revision>1</cp:revision>
  <dcterms:created xsi:type="dcterms:W3CDTF">2026-09-23T16:10:58Z</dcterms:created>
  <dcterms:modified xsi:type="dcterms:W3CDTF">2026-09-23T16:10:58Z</dcterms:modified>
</cp:coreProperties>
</file>