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972800" cy="8229600"/>
  <p:notesSz cx="8229600" cy="10972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987552"/>
            <a:ext cx="10515600" cy="2002536"/>
          </a:xfrm>
          <a:prstGeom prst="roundRect">
            <a:avLst>
              <a:gd name="adj" fmla="val 6849"/>
            </a:avLst>
          </a:prstGeom>
          <a:solidFill>
            <a:srgbClr val="F4EFFA"/>
          </a:solidFill>
          <a:ln w="17145">
            <a:solidFill>
              <a:srgbClr val="D7C5E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3566160"/>
            <a:ext cx="8439912" cy="3063240"/>
          </a:xfrm>
          <a:prstGeom prst="roundRect">
            <a:avLst>
              <a:gd name="adj" fmla="val 4478"/>
            </a:avLst>
          </a:prstGeom>
          <a:solidFill>
            <a:srgbClr val="F8FAFC"/>
          </a:solidFill>
          <a:ln w="17145">
            <a:solidFill>
              <a:srgbClr val="D3DD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0" y="3931920"/>
            <a:ext cx="1874520" cy="2697480"/>
          </a:xfrm>
          <a:prstGeom prst="roundRect">
            <a:avLst>
              <a:gd name="adj" fmla="val 6341"/>
            </a:avLst>
          </a:prstGeom>
          <a:solidFill>
            <a:srgbClr val="FFFFFF"/>
          </a:solidFill>
          <a:ln w="17145">
            <a:solidFill>
              <a:srgbClr val="D3DD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92608" y="128016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BioCoLoop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2450592" y="182880"/>
            <a:ext cx="8220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40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Collaborative biological model improvement</a:t>
            </a:r>
            <a:endParaRPr lang="en-US" sz="1940" dirty="0"/>
          </a:p>
        </p:txBody>
      </p:sp>
      <p:sp>
        <p:nvSpPr>
          <p:cNvPr id="7" name="Shape 5"/>
          <p:cNvSpPr/>
          <p:nvPr/>
        </p:nvSpPr>
        <p:spPr>
          <a:xfrm>
            <a:off x="521208" y="68580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9F4ED"/>
          </a:solidFill>
          <a:ln w="13970">
            <a:solidFill>
              <a:srgbClr val="2D7F6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649224"/>
            <a:ext cx="200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Local data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61488" y="68580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EAF2FB"/>
          </a:solidFill>
          <a:ln w="13970">
            <a:solidFill>
              <a:srgbClr val="276C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44952" y="649224"/>
            <a:ext cx="200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Predictors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239512" y="68580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F4EFFA"/>
          </a:solidFill>
          <a:ln w="13970">
            <a:solidFill>
              <a:srgbClr val="76529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522976" y="649224"/>
            <a:ext cx="200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Research loop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11312" y="685800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FFF4DC"/>
          </a:solidFill>
          <a:ln w="13970">
            <a:solidFill>
              <a:srgbClr val="AE73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94776" y="649224"/>
            <a:ext cx="2002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Aggregation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" y="1088136"/>
            <a:ext cx="4389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20" b="1" dirty="0">
                <a:solidFill>
                  <a:srgbClr val="76529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OUTER RESEARCH LOOP</a:t>
            </a:r>
            <a:endParaRPr lang="en-US" sz="172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088136"/>
            <a:ext cx="4206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1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Research language model: fixed weights</a:t>
            </a:r>
            <a:endParaRPr lang="en-US" sz="1410" dirty="0"/>
          </a:p>
        </p:txBody>
      </p:sp>
      <p:sp>
        <p:nvSpPr>
          <p:cNvPr id="17" name="Shape 15"/>
          <p:cNvSpPr/>
          <p:nvPr/>
        </p:nvSpPr>
        <p:spPr>
          <a:xfrm>
            <a:off x="457200" y="1755648"/>
            <a:ext cx="21488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76529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" y="1879092"/>
            <a:ext cx="265176" cy="265176"/>
          </a:xfrm>
          <a:prstGeom prst="ellipse">
            <a:avLst/>
          </a:prstGeom>
          <a:solidFill>
            <a:srgbClr val="F4EFFA"/>
          </a:solidFill>
          <a:ln w="12700">
            <a:solidFill>
              <a:srgbClr val="76529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" y="1879092"/>
            <a:ext cx="2651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76529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1</a:t>
            </a:r>
            <a:endParaRPr lang="en-US" sz="1320" dirty="0"/>
          </a:p>
        </p:txBody>
      </p:sp>
      <p:sp>
        <p:nvSpPr>
          <p:cNvPr id="20" name="Text 18"/>
          <p:cNvSpPr txBox="1"/>
          <p:nvPr/>
        </p:nvSpPr>
        <p:spPr>
          <a:xfrm>
            <a:off x="905256" y="1837944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1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Propose</a:t>
            </a:r>
            <a:endParaRPr lang="en-US" sz="1710" dirty="0"/>
          </a:p>
        </p:txBody>
      </p:sp>
      <p:sp>
        <p:nvSpPr>
          <p:cNvPr id="21" name="Text 19"/>
          <p:cNvSpPr txBox="1"/>
          <p:nvPr/>
        </p:nvSpPr>
        <p:spPr>
          <a:xfrm>
            <a:off x="576072" y="2267712"/>
            <a:ext cx="19110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Hypothesis +</a:t>
            </a:r>
            <a:endParaRPr lang="en-US" sz="152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design identifier</a:t>
            </a:r>
            <a:endParaRPr lang="en-US" sz="1520" dirty="0"/>
          </a:p>
        </p:txBody>
      </p:sp>
      <p:sp>
        <p:nvSpPr>
          <p:cNvPr id="22" name="Shape 20"/>
          <p:cNvSpPr/>
          <p:nvPr/>
        </p:nvSpPr>
        <p:spPr>
          <a:xfrm>
            <a:off x="2606040" y="2313432"/>
            <a:ext cx="374904" cy="0"/>
          </a:xfrm>
          <a:prstGeom prst="line">
            <a:avLst/>
          </a:prstGeom>
          <a:noFill/>
          <a:ln w="22860">
            <a:solidFill>
              <a:srgbClr val="76529C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980944" y="1755648"/>
            <a:ext cx="21488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76529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99816" y="1879092"/>
            <a:ext cx="265176" cy="265176"/>
          </a:xfrm>
          <a:prstGeom prst="ellipse">
            <a:avLst/>
          </a:prstGeom>
          <a:solidFill>
            <a:srgbClr val="F4EFFA"/>
          </a:solidFill>
          <a:ln w="12700">
            <a:solidFill>
              <a:srgbClr val="76529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099816" y="1879092"/>
            <a:ext cx="2651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76529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2</a:t>
            </a:r>
            <a:endParaRPr lang="en-US" sz="1320" dirty="0"/>
          </a:p>
        </p:txBody>
      </p:sp>
      <p:sp>
        <p:nvSpPr>
          <p:cNvPr id="26" name="Text 24"/>
          <p:cNvSpPr txBox="1"/>
          <p:nvPr/>
        </p:nvSpPr>
        <p:spPr>
          <a:xfrm>
            <a:off x="3429000" y="1837944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1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Instantiate</a:t>
            </a:r>
            <a:endParaRPr lang="en-US" sz="1710" dirty="0"/>
          </a:p>
        </p:txBody>
      </p:sp>
      <p:sp>
        <p:nvSpPr>
          <p:cNvPr id="27" name="Text 25"/>
          <p:cNvSpPr txBox="1"/>
          <p:nvPr/>
        </p:nvSpPr>
        <p:spPr>
          <a:xfrm>
            <a:off x="3099816" y="2267712"/>
            <a:ext cx="19110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Resolve full recipe;</a:t>
            </a:r>
            <a:endParaRPr lang="en-US" sz="152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build executable candidate</a:t>
            </a:r>
            <a:endParaRPr lang="en-US" sz="1520" dirty="0"/>
          </a:p>
        </p:txBody>
      </p:sp>
      <p:sp>
        <p:nvSpPr>
          <p:cNvPr id="28" name="Shape 26"/>
          <p:cNvSpPr/>
          <p:nvPr/>
        </p:nvSpPr>
        <p:spPr>
          <a:xfrm>
            <a:off x="5129784" y="2313432"/>
            <a:ext cx="374904" cy="0"/>
          </a:xfrm>
          <a:prstGeom prst="line">
            <a:avLst/>
          </a:prstGeom>
          <a:noFill/>
          <a:ln w="22860">
            <a:solidFill>
              <a:srgbClr val="76529C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504688" y="1755648"/>
            <a:ext cx="21488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76529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23560" y="1879092"/>
            <a:ext cx="265176" cy="265176"/>
          </a:xfrm>
          <a:prstGeom prst="ellipse">
            <a:avLst/>
          </a:prstGeom>
          <a:solidFill>
            <a:srgbClr val="F4EFFA"/>
          </a:solidFill>
          <a:ln w="12700">
            <a:solidFill>
              <a:srgbClr val="76529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23560" y="1879092"/>
            <a:ext cx="2651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76529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3</a:t>
            </a:r>
            <a:endParaRPr lang="en-US" sz="1320" dirty="0"/>
          </a:p>
        </p:txBody>
      </p:sp>
      <p:sp>
        <p:nvSpPr>
          <p:cNvPr id="32" name="Text 30"/>
          <p:cNvSpPr txBox="1"/>
          <p:nvPr/>
        </p:nvSpPr>
        <p:spPr>
          <a:xfrm>
            <a:off x="5952744" y="1837944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1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Train + evaluate</a:t>
            </a:r>
            <a:endParaRPr lang="en-US" sz="1710" dirty="0"/>
          </a:p>
        </p:txBody>
      </p:sp>
      <p:sp>
        <p:nvSpPr>
          <p:cNvPr id="33" name="Text 31"/>
          <p:cNvSpPr txBox="1"/>
          <p:nvPr/>
        </p:nvSpPr>
        <p:spPr>
          <a:xfrm>
            <a:off x="5623560" y="2267712"/>
            <a:ext cx="19110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Fit locally; return</a:t>
            </a:r>
            <a:endParaRPr lang="en-US" sz="152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scores + diagnostics</a:t>
            </a:r>
            <a:endParaRPr lang="en-US" sz="1520" dirty="0"/>
          </a:p>
        </p:txBody>
      </p:sp>
      <p:sp>
        <p:nvSpPr>
          <p:cNvPr id="34" name="Shape 32"/>
          <p:cNvSpPr/>
          <p:nvPr/>
        </p:nvSpPr>
        <p:spPr>
          <a:xfrm>
            <a:off x="7653528" y="2313432"/>
            <a:ext cx="374904" cy="0"/>
          </a:xfrm>
          <a:prstGeom prst="line">
            <a:avLst/>
          </a:prstGeom>
          <a:noFill/>
          <a:ln w="22860">
            <a:solidFill>
              <a:srgbClr val="76529C"/>
            </a:solidFill>
            <a:prstDash val="solid"/>
            <a:headEnd type="none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028432" y="1755648"/>
            <a:ext cx="214884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76529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47304" y="1879092"/>
            <a:ext cx="265176" cy="265176"/>
          </a:xfrm>
          <a:prstGeom prst="ellipse">
            <a:avLst/>
          </a:prstGeom>
          <a:solidFill>
            <a:srgbClr val="F4EFFA"/>
          </a:solidFill>
          <a:ln w="12700">
            <a:solidFill>
              <a:srgbClr val="76529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47304" y="1879092"/>
            <a:ext cx="26517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20" b="1" dirty="0">
                <a:solidFill>
                  <a:srgbClr val="76529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4</a:t>
            </a:r>
            <a:endParaRPr lang="en-US" sz="1320" dirty="0"/>
          </a:p>
        </p:txBody>
      </p:sp>
      <p:sp>
        <p:nvSpPr>
          <p:cNvPr id="38" name="Text 36"/>
          <p:cNvSpPr txBox="1"/>
          <p:nvPr/>
        </p:nvSpPr>
        <p:spPr>
          <a:xfrm>
            <a:off x="8476488" y="1837944"/>
            <a:ext cx="1618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1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Retain / revise</a:t>
            </a:r>
            <a:endParaRPr lang="en-US" sz="1710" dirty="0"/>
          </a:p>
        </p:txBody>
      </p:sp>
      <p:sp>
        <p:nvSpPr>
          <p:cNvPr id="39" name="Text 37"/>
          <p:cNvSpPr txBox="1"/>
          <p:nvPr/>
        </p:nvSpPr>
        <p:spPr>
          <a:xfrm>
            <a:off x="8147304" y="2267712"/>
            <a:ext cx="191109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Higher mean dev score;</a:t>
            </a:r>
            <a:endParaRPr lang="en-US" sz="152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tie → lower mean loss</a:t>
            </a:r>
            <a:endParaRPr lang="en-US" sz="1520" dirty="0"/>
          </a:p>
        </p:txBody>
      </p:sp>
      <p:sp>
        <p:nvSpPr>
          <p:cNvPr id="40" name="Shape 38"/>
          <p:cNvSpPr/>
          <p:nvPr/>
        </p:nvSpPr>
        <p:spPr>
          <a:xfrm>
            <a:off x="9098280" y="1618488"/>
            <a:ext cx="0" cy="137160"/>
          </a:xfrm>
          <a:prstGeom prst="line">
            <a:avLst/>
          </a:prstGeom>
          <a:noFill/>
          <a:ln w="19050">
            <a:solidFill>
              <a:srgbClr val="76529C"/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1531620" y="1618488"/>
            <a:ext cx="7566660" cy="0"/>
          </a:xfrm>
          <a:prstGeom prst="line">
            <a:avLst/>
          </a:prstGeom>
          <a:noFill/>
          <a:ln w="19050">
            <a:solidFill>
              <a:srgbClr val="76529C"/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1531620" y="1618488"/>
            <a:ext cx="0" cy="137160"/>
          </a:xfrm>
          <a:prstGeom prst="line">
            <a:avLst/>
          </a:prstGeom>
          <a:noFill/>
          <a:ln w="19050">
            <a:solidFill>
              <a:srgbClr val="76529C"/>
            </a:solidFill>
            <a:prstDash val="solid"/>
            <a:headEnd type="none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3483864" y="1353312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76529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Evidence cards + previous trials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368046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INNER COLLABORATIVE TRAINING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457200" y="4050792"/>
            <a:ext cx="7973568" cy="658368"/>
          </a:xfrm>
          <a:prstGeom prst="roundRect">
            <a:avLst>
              <a:gd name="adj" fmla="val 15278"/>
            </a:avLst>
          </a:prstGeom>
          <a:solidFill>
            <a:srgbClr val="FFF4DC"/>
          </a:solidFill>
          <a:ln w="17780">
            <a:solidFill>
              <a:srgbClr val="AE731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0080" y="4114800"/>
            <a:ext cx="75895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73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Shared coordinator: run, aggregate, select</a:t>
            </a:r>
            <a:endParaRPr lang="en-US" sz="173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4425696"/>
            <a:ext cx="7589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2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Broadcast parameters; aggregate local states + development scores</a:t>
            </a:r>
            <a:endParaRPr lang="en-US" sz="1420" dirty="0"/>
          </a:p>
        </p:txBody>
      </p:sp>
      <p:sp>
        <p:nvSpPr>
          <p:cNvPr id="48" name="Shape 46"/>
          <p:cNvSpPr/>
          <p:nvPr/>
        </p:nvSpPr>
        <p:spPr>
          <a:xfrm>
            <a:off x="6579108" y="2852928"/>
            <a:ext cx="0" cy="1197864"/>
          </a:xfrm>
          <a:prstGeom prst="line">
            <a:avLst/>
          </a:prstGeom>
          <a:noFill/>
          <a:ln w="25400">
            <a:solidFill>
              <a:srgbClr val="76529C"/>
            </a:solidFill>
            <a:prstDash val="solid"/>
            <a:headEnd type="none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4663440" y="3200400"/>
            <a:ext cx="173736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20" dirty="0">
                <a:solidFill>
                  <a:srgbClr val="76529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Candidate recipe (full config)</a:t>
            </a:r>
            <a:endParaRPr lang="en-US" sz="1420" dirty="0"/>
          </a:p>
        </p:txBody>
      </p:sp>
      <p:sp>
        <p:nvSpPr>
          <p:cNvPr id="50" name="Shape 48"/>
          <p:cNvSpPr/>
          <p:nvPr/>
        </p:nvSpPr>
        <p:spPr>
          <a:xfrm>
            <a:off x="8138160" y="3236976"/>
            <a:ext cx="0" cy="813816"/>
          </a:xfrm>
          <a:prstGeom prst="line">
            <a:avLst/>
          </a:prstGeom>
          <a:noFill/>
          <a:ln w="25400">
            <a:solidFill>
              <a:srgbClr val="AE7319"/>
            </a:solidFill>
            <a:prstDash val="solid"/>
            <a:headEnd type="none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8138160" y="3236976"/>
            <a:ext cx="484632" cy="0"/>
          </a:xfrm>
          <a:prstGeom prst="line">
            <a:avLst/>
          </a:prstGeom>
          <a:noFill/>
          <a:ln w="25400">
            <a:solidFill>
              <a:srgbClr val="AE7319"/>
            </a:solidFill>
            <a:prstDash val="solid"/>
            <a:headEnd type="none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8622792" y="2852928"/>
            <a:ext cx="0" cy="384048"/>
          </a:xfrm>
          <a:prstGeom prst="line">
            <a:avLst/>
          </a:prstGeom>
          <a:noFill/>
          <a:ln w="25400">
            <a:solidFill>
              <a:srgbClr val="AE7319"/>
            </a:solidFill>
            <a:prstDash val="solid"/>
            <a:headEnd type="triangle"/>
            <a:tailEnd type="none"/>
          </a:ln>
        </p:spPr>
      </p:sp>
      <p:sp>
        <p:nvSpPr>
          <p:cNvPr id="53" name="Text 51"/>
          <p:cNvSpPr txBox="1"/>
          <p:nvPr/>
        </p:nvSpPr>
        <p:spPr>
          <a:xfrm>
            <a:off x="6821424" y="3108960"/>
            <a:ext cx="11612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70" dirty="0">
                <a:solidFill>
                  <a:srgbClr val="AE731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Dev evidence:</a:t>
            </a:r>
            <a:endParaRPr lang="en-US" sz="137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370" dirty="0">
                <a:solidFill>
                  <a:srgbClr val="AE7319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score + loss + diagnostics</a:t>
            </a:r>
            <a:endParaRPr lang="en-US" sz="1370" dirty="0"/>
          </a:p>
        </p:txBody>
      </p:sp>
      <p:sp>
        <p:nvSpPr>
          <p:cNvPr id="54" name="Shape 52"/>
          <p:cNvSpPr/>
          <p:nvPr/>
        </p:nvSpPr>
        <p:spPr>
          <a:xfrm>
            <a:off x="9738360" y="2852928"/>
            <a:ext cx="0" cy="1078992"/>
          </a:xfrm>
          <a:prstGeom prst="line">
            <a:avLst/>
          </a:prstGeom>
          <a:noFill/>
          <a:ln w="22860">
            <a:solidFill>
              <a:srgbClr val="76529C"/>
            </a:solidFill>
            <a:prstDash val="solid"/>
            <a:headEnd type="none"/>
            <a:tailEnd type="triangle"/>
          </a:ln>
        </p:spPr>
      </p:sp>
      <p:sp>
        <p:nvSpPr>
          <p:cNvPr id="55" name="Text 53"/>
          <p:cNvSpPr txBox="1"/>
          <p:nvPr/>
        </p:nvSpPr>
        <p:spPr>
          <a:xfrm>
            <a:off x="9884664" y="3310128"/>
            <a:ext cx="804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60" dirty="0">
                <a:solidFill>
                  <a:srgbClr val="76529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Selected</a:t>
            </a:r>
            <a:endParaRPr lang="en-US" sz="1360" dirty="0"/>
          </a:p>
        </p:txBody>
      </p:sp>
      <p:sp>
        <p:nvSpPr>
          <p:cNvPr id="56" name="Shape 54"/>
          <p:cNvSpPr/>
          <p:nvPr/>
        </p:nvSpPr>
        <p:spPr>
          <a:xfrm>
            <a:off x="457200" y="5340096"/>
            <a:ext cx="2505456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13970">
            <a:solidFill>
              <a:srgbClr val="D3DDE5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76072" y="5413248"/>
            <a:ext cx="8046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Lab 1</a:t>
            </a:r>
            <a:endParaRPr lang="en-US" sz="1620" dirty="0"/>
          </a:p>
        </p:txBody>
      </p:sp>
      <p:sp>
        <p:nvSpPr>
          <p:cNvPr id="58" name="Text 56"/>
          <p:cNvSpPr txBox="1"/>
          <p:nvPr/>
        </p:nvSpPr>
        <p:spPr>
          <a:xfrm>
            <a:off x="1453896" y="5431536"/>
            <a:ext cx="1380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Scenario A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566928" y="5779008"/>
            <a:ext cx="1005840" cy="384048"/>
          </a:xfrm>
          <a:prstGeom prst="roundRect">
            <a:avLst>
              <a:gd name="adj" fmla="val 11905"/>
            </a:avLst>
          </a:prstGeom>
          <a:solidFill>
            <a:srgbClr val="E9F4ED"/>
          </a:solidFill>
          <a:ln w="12700">
            <a:solidFill>
              <a:srgbClr val="2D7F6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856232" y="5779008"/>
            <a:ext cx="1005840" cy="384048"/>
          </a:xfrm>
          <a:prstGeom prst="roundRect">
            <a:avLst>
              <a:gd name="adj" fmla="val 11905"/>
            </a:avLst>
          </a:prstGeom>
          <a:solidFill>
            <a:srgbClr val="EAF2FB"/>
          </a:solidFill>
          <a:ln w="12700">
            <a:solidFill>
              <a:srgbClr val="276CA6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85216" y="5838444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20" dirty="0">
                <a:solidFill>
                  <a:srgbClr val="2D7F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Train / dev</a:t>
            </a:r>
            <a:endParaRPr lang="en-US" sz="1420" dirty="0"/>
          </a:p>
        </p:txBody>
      </p:sp>
      <p:sp>
        <p:nvSpPr>
          <p:cNvPr id="62" name="Text 60"/>
          <p:cNvSpPr txBox="1"/>
          <p:nvPr/>
        </p:nvSpPr>
        <p:spPr>
          <a:xfrm>
            <a:off x="1874520" y="5838444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20" dirty="0">
                <a:solidFill>
                  <a:srgbClr val="276CA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Local model</a:t>
            </a:r>
            <a:endParaRPr lang="en-US" sz="1420" dirty="0"/>
          </a:p>
        </p:txBody>
      </p:sp>
      <p:sp>
        <p:nvSpPr>
          <p:cNvPr id="63" name="Shape 61"/>
          <p:cNvSpPr/>
          <p:nvPr/>
        </p:nvSpPr>
        <p:spPr>
          <a:xfrm>
            <a:off x="1572768" y="5971032"/>
            <a:ext cx="283464" cy="0"/>
          </a:xfrm>
          <a:prstGeom prst="line">
            <a:avLst/>
          </a:prstGeom>
          <a:noFill/>
          <a:ln w="17145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1554480" y="4709160"/>
            <a:ext cx="0" cy="630936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865376" y="4709160"/>
            <a:ext cx="0" cy="630936"/>
          </a:xfrm>
          <a:prstGeom prst="line">
            <a:avLst/>
          </a:prstGeom>
          <a:noFill/>
          <a:ln w="22860">
            <a:solidFill>
              <a:srgbClr val="AE7319"/>
            </a:solidFill>
            <a:prstDash val="solid"/>
            <a:headEnd type="triangle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3191256" y="5340096"/>
            <a:ext cx="2505456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13970">
            <a:solidFill>
              <a:srgbClr val="D3DDE5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310128" y="5413248"/>
            <a:ext cx="8046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Lab 2</a:t>
            </a:r>
            <a:endParaRPr lang="en-US" sz="1620" dirty="0"/>
          </a:p>
        </p:txBody>
      </p:sp>
      <p:sp>
        <p:nvSpPr>
          <p:cNvPr id="68" name="Text 66"/>
          <p:cNvSpPr txBox="1"/>
          <p:nvPr/>
        </p:nvSpPr>
        <p:spPr>
          <a:xfrm>
            <a:off x="4187952" y="5431536"/>
            <a:ext cx="1380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Scenario B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3300984" y="5779008"/>
            <a:ext cx="1005840" cy="384048"/>
          </a:xfrm>
          <a:prstGeom prst="roundRect">
            <a:avLst>
              <a:gd name="adj" fmla="val 11905"/>
            </a:avLst>
          </a:prstGeom>
          <a:solidFill>
            <a:srgbClr val="E9F4ED"/>
          </a:solidFill>
          <a:ln w="12700">
            <a:solidFill>
              <a:srgbClr val="2D7F6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590288" y="5779008"/>
            <a:ext cx="1005840" cy="384048"/>
          </a:xfrm>
          <a:prstGeom prst="roundRect">
            <a:avLst>
              <a:gd name="adj" fmla="val 11905"/>
            </a:avLst>
          </a:prstGeom>
          <a:solidFill>
            <a:srgbClr val="EAF2FB"/>
          </a:solidFill>
          <a:ln w="12700">
            <a:solidFill>
              <a:srgbClr val="276CA6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3319272" y="5838444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20" dirty="0">
                <a:solidFill>
                  <a:srgbClr val="2D7F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Train / dev</a:t>
            </a:r>
            <a:endParaRPr lang="en-US" sz="1420" dirty="0"/>
          </a:p>
        </p:txBody>
      </p:sp>
      <p:sp>
        <p:nvSpPr>
          <p:cNvPr id="72" name="Text 70"/>
          <p:cNvSpPr txBox="1"/>
          <p:nvPr/>
        </p:nvSpPr>
        <p:spPr>
          <a:xfrm>
            <a:off x="4608576" y="5838444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20" dirty="0">
                <a:solidFill>
                  <a:srgbClr val="276CA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Local model</a:t>
            </a:r>
            <a:endParaRPr lang="en-US" sz="1420" dirty="0"/>
          </a:p>
        </p:txBody>
      </p:sp>
      <p:sp>
        <p:nvSpPr>
          <p:cNvPr id="73" name="Shape 71"/>
          <p:cNvSpPr/>
          <p:nvPr/>
        </p:nvSpPr>
        <p:spPr>
          <a:xfrm>
            <a:off x="4306824" y="5971032"/>
            <a:ext cx="283464" cy="0"/>
          </a:xfrm>
          <a:prstGeom prst="line">
            <a:avLst/>
          </a:prstGeom>
          <a:noFill/>
          <a:ln w="17145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4288536" y="4709160"/>
            <a:ext cx="0" cy="630936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4599432" y="4709160"/>
            <a:ext cx="0" cy="630936"/>
          </a:xfrm>
          <a:prstGeom prst="line">
            <a:avLst/>
          </a:prstGeom>
          <a:noFill/>
          <a:ln w="22860">
            <a:solidFill>
              <a:srgbClr val="AE7319"/>
            </a:solidFill>
            <a:prstDash val="solid"/>
            <a:headEnd type="triangle"/>
            <a:tailEnd type="none"/>
          </a:ln>
        </p:spPr>
      </p:sp>
      <p:sp>
        <p:nvSpPr>
          <p:cNvPr id="76" name="Shape 74"/>
          <p:cNvSpPr/>
          <p:nvPr/>
        </p:nvSpPr>
        <p:spPr>
          <a:xfrm>
            <a:off x="5925312" y="5340096"/>
            <a:ext cx="2505456" cy="941832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 w="13970">
            <a:solidFill>
              <a:srgbClr val="D3DDE5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6044184" y="5413248"/>
            <a:ext cx="80467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Lab K</a:t>
            </a:r>
            <a:endParaRPr lang="en-US" sz="1620" dirty="0"/>
          </a:p>
        </p:txBody>
      </p:sp>
      <p:sp>
        <p:nvSpPr>
          <p:cNvPr id="78" name="Text 76"/>
          <p:cNvSpPr txBox="1"/>
          <p:nvPr/>
        </p:nvSpPr>
        <p:spPr>
          <a:xfrm>
            <a:off x="6922008" y="5431536"/>
            <a:ext cx="1380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Scenario K</a:t>
            </a:r>
            <a:endParaRPr lang="en-US" sz="1400" dirty="0"/>
          </a:p>
        </p:txBody>
      </p:sp>
      <p:sp>
        <p:nvSpPr>
          <p:cNvPr id="79" name="Shape 77"/>
          <p:cNvSpPr/>
          <p:nvPr/>
        </p:nvSpPr>
        <p:spPr>
          <a:xfrm>
            <a:off x="6035040" y="5779008"/>
            <a:ext cx="1005840" cy="384048"/>
          </a:xfrm>
          <a:prstGeom prst="roundRect">
            <a:avLst>
              <a:gd name="adj" fmla="val 11905"/>
            </a:avLst>
          </a:prstGeom>
          <a:solidFill>
            <a:srgbClr val="E9F4ED"/>
          </a:solidFill>
          <a:ln w="12700">
            <a:solidFill>
              <a:srgbClr val="2D7F6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324344" y="5779008"/>
            <a:ext cx="1005840" cy="384048"/>
          </a:xfrm>
          <a:prstGeom prst="roundRect">
            <a:avLst>
              <a:gd name="adj" fmla="val 11905"/>
            </a:avLst>
          </a:prstGeom>
          <a:solidFill>
            <a:srgbClr val="EAF2FB"/>
          </a:solidFill>
          <a:ln w="12700">
            <a:solidFill>
              <a:srgbClr val="276CA6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6053328" y="5838444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20" dirty="0">
                <a:solidFill>
                  <a:srgbClr val="2D7F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Train / dev</a:t>
            </a:r>
            <a:endParaRPr lang="en-US" sz="1420" dirty="0"/>
          </a:p>
        </p:txBody>
      </p:sp>
      <p:sp>
        <p:nvSpPr>
          <p:cNvPr id="82" name="Text 80"/>
          <p:cNvSpPr txBox="1"/>
          <p:nvPr/>
        </p:nvSpPr>
        <p:spPr>
          <a:xfrm>
            <a:off x="7342632" y="5838444"/>
            <a:ext cx="9692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20" dirty="0">
                <a:solidFill>
                  <a:srgbClr val="276CA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Local model</a:t>
            </a:r>
            <a:endParaRPr lang="en-US" sz="1420" dirty="0"/>
          </a:p>
        </p:txBody>
      </p:sp>
      <p:sp>
        <p:nvSpPr>
          <p:cNvPr id="83" name="Shape 81"/>
          <p:cNvSpPr/>
          <p:nvPr/>
        </p:nvSpPr>
        <p:spPr>
          <a:xfrm>
            <a:off x="7040880" y="5971032"/>
            <a:ext cx="283464" cy="0"/>
          </a:xfrm>
          <a:prstGeom prst="line">
            <a:avLst/>
          </a:prstGeom>
          <a:noFill/>
          <a:ln w="17145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7022592" y="4709160"/>
            <a:ext cx="0" cy="630936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7333488" y="4709160"/>
            <a:ext cx="0" cy="630936"/>
          </a:xfrm>
          <a:prstGeom prst="line">
            <a:avLst/>
          </a:prstGeom>
          <a:noFill/>
          <a:ln w="22860">
            <a:solidFill>
              <a:srgbClr val="AE7319"/>
            </a:solidFill>
            <a:prstDash val="solid"/>
            <a:headEnd type="triangle"/>
            <a:tailEnd type="none"/>
          </a:ln>
        </p:spPr>
      </p:sp>
      <p:sp>
        <p:nvSpPr>
          <p:cNvPr id="86" name="Text 84"/>
          <p:cNvSpPr txBox="1"/>
          <p:nvPr/>
        </p:nvSpPr>
        <p:spPr>
          <a:xfrm>
            <a:off x="566928" y="6391656"/>
            <a:ext cx="7744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40" dirty="0">
                <a:solidFill>
                  <a:srgbClr val="2D7F6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Measurements remain within each laboratory</a:t>
            </a:r>
            <a:endParaRPr lang="en-US" sz="1440" dirty="0"/>
          </a:p>
        </p:txBody>
      </p:sp>
      <p:sp>
        <p:nvSpPr>
          <p:cNvPr id="87" name="Text 85"/>
          <p:cNvSpPr txBox="1"/>
          <p:nvPr/>
        </p:nvSpPr>
        <p:spPr>
          <a:xfrm>
            <a:off x="8979408" y="4059936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6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OUTPUTS</a:t>
            </a:r>
            <a:endParaRPr lang="en-US" sz="1660" dirty="0"/>
          </a:p>
        </p:txBody>
      </p:sp>
      <p:sp>
        <p:nvSpPr>
          <p:cNvPr id="88" name="Shape 86"/>
          <p:cNvSpPr/>
          <p:nvPr/>
        </p:nvSpPr>
        <p:spPr>
          <a:xfrm>
            <a:off x="9015984" y="4517136"/>
            <a:ext cx="1581912" cy="804672"/>
          </a:xfrm>
          <a:prstGeom prst="roundRect">
            <a:avLst>
              <a:gd name="adj" fmla="val 9091"/>
            </a:avLst>
          </a:prstGeom>
          <a:solidFill>
            <a:srgbClr val="EAF2FB"/>
          </a:solidFill>
          <a:ln w="12700">
            <a:solidFill>
              <a:srgbClr val="276CA6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079992" y="4626864"/>
            <a:ext cx="14538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276CA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Selected design</a:t>
            </a:r>
            <a:endParaRPr lang="en-US" sz="152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520" dirty="0">
                <a:solidFill>
                  <a:srgbClr val="276CA6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+ fitted predictor</a:t>
            </a:r>
            <a:endParaRPr lang="en-US" sz="1520" dirty="0"/>
          </a:p>
        </p:txBody>
      </p:sp>
      <p:sp>
        <p:nvSpPr>
          <p:cNvPr id="90" name="Shape 88"/>
          <p:cNvSpPr/>
          <p:nvPr/>
        </p:nvSpPr>
        <p:spPr>
          <a:xfrm>
            <a:off x="9015984" y="5550408"/>
            <a:ext cx="1581912" cy="786384"/>
          </a:xfrm>
          <a:prstGeom prst="roundRect">
            <a:avLst>
              <a:gd name="adj" fmla="val 9302"/>
            </a:avLst>
          </a:prstGeom>
          <a:solidFill>
            <a:srgbClr val="F4EFFA"/>
          </a:solidFill>
          <a:ln w="12700">
            <a:solidFill>
              <a:srgbClr val="76529C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9070848" y="5669280"/>
            <a:ext cx="14721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70" dirty="0">
                <a:solidFill>
                  <a:srgbClr val="76529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Research history</a:t>
            </a:r>
            <a:endParaRPr lang="en-US" sz="147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70" dirty="0">
                <a:solidFill>
                  <a:srgbClr val="76529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all trial results</a:t>
            </a:r>
            <a:endParaRPr lang="en-US" sz="1470" dirty="0"/>
          </a:p>
        </p:txBody>
      </p:sp>
      <p:sp>
        <p:nvSpPr>
          <p:cNvPr id="92" name="Text 90"/>
          <p:cNvSpPr txBox="1"/>
          <p:nvPr/>
        </p:nvSpPr>
        <p:spPr>
          <a:xfrm>
            <a:off x="384048" y="6839712"/>
            <a:ext cx="10204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2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TASK-SPECIFIC PREDICTORS AND SCORERS</a:t>
            </a:r>
            <a:endParaRPr lang="en-US" sz="1620" dirty="0"/>
          </a:p>
        </p:txBody>
      </p:sp>
      <p:sp>
        <p:nvSpPr>
          <p:cNvPr id="93" name="Shape 91"/>
          <p:cNvSpPr/>
          <p:nvPr/>
        </p:nvSpPr>
        <p:spPr>
          <a:xfrm>
            <a:off x="274320" y="7260336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12700">
            <a:solidFill>
              <a:srgbClr val="D3DDE5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83464" y="7397496"/>
            <a:ext cx="50292" cy="438912"/>
          </a:xfrm>
          <a:prstGeom prst="rect">
            <a:avLst/>
          </a:prstGeom>
          <a:solidFill>
            <a:srgbClr val="276CA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438912" y="7347204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4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Drug-target interactions</a:t>
            </a:r>
            <a:endParaRPr lang="en-US" sz="1740" dirty="0"/>
          </a:p>
        </p:txBody>
      </p:sp>
      <p:sp>
        <p:nvSpPr>
          <p:cNvPr id="96" name="Text 94"/>
          <p:cNvSpPr txBox="1"/>
          <p:nvPr/>
        </p:nvSpPr>
        <p:spPr>
          <a:xfrm>
            <a:off x="438912" y="7708392"/>
            <a:ext cx="2990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7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Compound + protein to interaction</a:t>
            </a:r>
            <a:endParaRPr lang="en-US" sz="1370" dirty="0"/>
          </a:p>
        </p:txBody>
      </p:sp>
      <p:sp>
        <p:nvSpPr>
          <p:cNvPr id="97" name="Shape 95"/>
          <p:cNvSpPr/>
          <p:nvPr/>
        </p:nvSpPr>
        <p:spPr>
          <a:xfrm>
            <a:off x="3840480" y="7260336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12700">
            <a:solidFill>
              <a:srgbClr val="D3DDE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849624" y="7397496"/>
            <a:ext cx="50292" cy="438912"/>
          </a:xfrm>
          <a:prstGeom prst="rect">
            <a:avLst/>
          </a:prstGeom>
          <a:solidFill>
            <a:srgbClr val="276CA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4005072" y="7347204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4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Proteomic efficacy</a:t>
            </a:r>
            <a:endParaRPr lang="en-US" sz="1740" dirty="0"/>
          </a:p>
        </p:txBody>
      </p:sp>
      <p:sp>
        <p:nvSpPr>
          <p:cNvPr id="100" name="Text 98"/>
          <p:cNvSpPr txBox="1"/>
          <p:nvPr/>
        </p:nvSpPr>
        <p:spPr>
          <a:xfrm>
            <a:off x="4005072" y="7708392"/>
            <a:ext cx="2990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7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Observed proteome + drug to efficacy</a:t>
            </a:r>
            <a:endParaRPr lang="en-US" sz="1370" dirty="0"/>
          </a:p>
        </p:txBody>
      </p:sp>
      <p:sp>
        <p:nvSpPr>
          <p:cNvPr id="101" name="Shape 99"/>
          <p:cNvSpPr/>
          <p:nvPr/>
        </p:nvSpPr>
        <p:spPr>
          <a:xfrm>
            <a:off x="7406640" y="7260336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8FAFC"/>
          </a:solidFill>
          <a:ln w="12700">
            <a:solidFill>
              <a:srgbClr val="D3DDE5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415784" y="7397496"/>
            <a:ext cx="50292" cy="438912"/>
          </a:xfrm>
          <a:prstGeom prst="rect">
            <a:avLst/>
          </a:prstGeom>
          <a:solidFill>
            <a:srgbClr val="276CA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7571232" y="7347204"/>
            <a:ext cx="2990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40" b="1" dirty="0">
                <a:solidFill>
                  <a:srgbClr val="223247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Cell perturbations</a:t>
            </a:r>
            <a:endParaRPr lang="en-US" sz="1740" dirty="0"/>
          </a:p>
        </p:txBody>
      </p:sp>
      <p:sp>
        <p:nvSpPr>
          <p:cNvPr id="104" name="Text 102"/>
          <p:cNvSpPr txBox="1"/>
          <p:nvPr/>
        </p:nvSpPr>
        <p:spPr>
          <a:xfrm>
            <a:off x="7571232" y="7708392"/>
            <a:ext cx="2990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70" dirty="0">
                <a:solidFill>
                  <a:srgbClr val="5261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Single gene / double gene / drug</a:t>
            </a:r>
            <a:endParaRPr lang="en-US" sz="13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rli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rli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BioCoLoop framework</dc:title>
  <dc:subject>Editable architecture for collaborative biological model improvement</dc:subject>
  <dc:creator/>
  <cp:lastModifiedBy/>
  <cp:revision>1</cp:revision>
  <dcterms:created xsi:type="dcterms:W3CDTF">2026-09-25T18:09:00Z</dcterms:created>
  <dcterms:modified xsi:type="dcterms:W3CDTF">2026-09-25T18:09:00Z</dcterms:modified>
</cp:coreProperties>
</file>