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3"/>
  </p:notesMasterIdLst>
  <p:sldIdLst>
    <p:sldId id="256" r:id="rId2"/>
  </p:sldIdLst>
  <p:sldSz cx="9144000" cy="6858000" type="screen4x3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>
        <p:scale>
          <a:sx n="50" d="100"/>
          <a:sy n="50" d="100"/>
        </p:scale>
        <p:origin x="4792" y="234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notesMaster" Target="notesMasters/notesMaster1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"/>
          <p:cNvSpPr>
            <a:spLocks noGrp="1"/>
          </p:cNvSpPr>
          <p:nvPr>
            <p:ph type="hdr" sz="quarter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3" name="Date Placeholder"/>
          <p:cNvSpPr>
            <a:spLocks noGrp="1"/>
          </p:cNvSpPr>
          <p:nvPr>
            <p:ph type="dt" sz="quarter" idx="1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4" name="Slide Image Placeholder"/>
          <p:cNvSpPr>
            <a:spLocks noGrp="1" noRot="1" noChangeAspect="1"/>
          </p:cNvSpPr>
          <p:nvPr>
            <p:ph type="sldImg" idx="2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5" name="Notes Placeholder"/>
          <p:cNvSpPr>
            <a:spLocks noGrp="1"/>
          </p:cNvSpPr>
          <p:nvPr>
            <p:ph type="body" sz="quarter" idx="3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6" name="Footer Placeholder"/>
          <p:cNvSpPr>
            <a:spLocks noGrp="1"/>
          </p:cNvSpPr>
          <p:nvPr>
            <p:ph type="ftr" sz="quarter" idx="4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7" name="Slide Number Placeholder"/>
          <p:cNvSpPr>
            <a:spLocks noGrp="1"/>
          </p:cNvSpPr>
          <p:nvPr>
            <p:ph type="sldNum" sz="quarter" idx="5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/>
    </a:lvl1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Repaired layout: unified fonts, fixed text frames, explicit margins and wrapping, and removed shape-autofit behavior.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marL="342900" indent="-342900" algn="l" defTabSz="914400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lt"/>
          <a:cs typeface="+mn-lt"/>
        </a:defRPr>
      </a:lvl1pPr>
      <a:lvl2pPr marL="742950" indent="-285750" algn="l" defTabSz="914400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lt"/>
          <a:cs typeface="+mn-lt"/>
        </a:defRPr>
      </a:lvl2pPr>
      <a:lvl3pPr marL="1143000" indent="-228600" algn="l" defTabSz="914400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lt"/>
          <a:cs typeface="+mn-lt"/>
        </a:defRPr>
      </a:lvl3pPr>
      <a:lvl4pPr marL="1600200" indent="-228600" algn="l" defTabSz="914400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lt"/>
          <a:cs typeface="+mn-lt"/>
        </a:defRPr>
      </a:lvl4pPr>
      <a:lvl5pPr marL="2057400" indent="-228600" algn="l" defTabSz="914400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lt"/>
          <a:cs typeface="+mn-lt"/>
        </a:defRPr>
      </a:lvl5pPr>
      <a:lvl6pPr marL="2514600" indent="-228600" algn="l" defTabSz="914400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6pPr>
      <a:lvl7pPr marL="2971800" indent="-228600" algn="l" defTabSz="914400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7pPr>
      <a:lvl8pPr marL="3429000" indent="-228600" algn="l" defTabSz="914400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8pPr>
      <a:lvl9pPr marL="3886200" indent="-228600" algn="l" defTabSz="914400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marL="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1pPr>
      <a:lvl2pPr marL="4572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2pPr>
      <a:lvl3pPr marL="9144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3pPr>
      <a:lvl4pPr marL="13716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4pPr>
      <a:lvl5pPr marL="18288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5pPr>
      <a:lvl6pPr marL="22860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6pPr>
      <a:lvl7pPr marL="27432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7pPr>
      <a:lvl8pPr marL="32004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8pPr>
      <a:lvl9pPr marL="36576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png"/><Relationship Id="rId13" Type="http://schemas.openxmlformats.org/officeDocument/2006/relationships/image" Target="../media/image11.png"/><Relationship Id="rId18" Type="http://schemas.openxmlformats.org/officeDocument/2006/relationships/image" Target="../media/image16.png"/><Relationship Id="rId3" Type="http://schemas.openxmlformats.org/officeDocument/2006/relationships/image" Target="../media/image1.png"/><Relationship Id="rId7" Type="http://schemas.openxmlformats.org/officeDocument/2006/relationships/image" Target="../media/image5.png"/><Relationship Id="rId12" Type="http://schemas.openxmlformats.org/officeDocument/2006/relationships/image" Target="../media/image10.png"/><Relationship Id="rId17" Type="http://schemas.openxmlformats.org/officeDocument/2006/relationships/image" Target="../media/image15.png"/><Relationship Id="rId2" Type="http://schemas.openxmlformats.org/officeDocument/2006/relationships/notesSlide" Target="../notesSlides/notesSlide1.xml"/><Relationship Id="rId16" Type="http://schemas.openxmlformats.org/officeDocument/2006/relationships/image" Target="../media/image14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11" Type="http://schemas.openxmlformats.org/officeDocument/2006/relationships/image" Target="../media/image9.png"/><Relationship Id="rId5" Type="http://schemas.openxmlformats.org/officeDocument/2006/relationships/image" Target="../media/image3.png"/><Relationship Id="rId15" Type="http://schemas.openxmlformats.org/officeDocument/2006/relationships/image" Target="../media/image13.png"/><Relationship Id="rId10" Type="http://schemas.openxmlformats.org/officeDocument/2006/relationships/image" Target="../media/image8.png"/><Relationship Id="rId19" Type="http://schemas.openxmlformats.org/officeDocument/2006/relationships/image" Target="../media/image17.png"/><Relationship Id="rId4" Type="http://schemas.openxmlformats.org/officeDocument/2006/relationships/image" Target="../media/image2.png"/><Relationship Id="rId9" Type="http://schemas.openxmlformats.org/officeDocument/2006/relationships/image" Target="../media/image7.png"/><Relationship Id="rId14" Type="http://schemas.openxmlformats.org/officeDocument/2006/relationships/image" Target="../media/image1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Rectangle: Rounded Corners 116">
            <a:extLst>
              <a:ext uri="{FF2B5EF4-FFF2-40B4-BE49-F238E27FC236}">
                <a16:creationId xmlns:a16="http://schemas.microsoft.com/office/drawing/2014/main" id="{3E114831-75D5-4589-B41A-71CA60994214}"/>
              </a:ext>
            </a:extLst>
          </p:cNvPr>
          <p:cNvSpPr/>
          <p:nvPr/>
        </p:nvSpPr>
        <p:spPr>
          <a:xfrm>
            <a:off x="7186193" y="3260486"/>
            <a:ext cx="1470242" cy="3347484"/>
          </a:xfrm>
          <a:prstGeom prst="roundRect">
            <a:avLst/>
          </a:prstGeom>
          <a:solidFill>
            <a:srgbClr val="ECDFF5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18" name="Rectangle: Rounded Corners 117">
            <a:extLst>
              <a:ext uri="{FF2B5EF4-FFF2-40B4-BE49-F238E27FC236}">
                <a16:creationId xmlns:a16="http://schemas.microsoft.com/office/drawing/2014/main" id="{35A1ABBC-360D-4FC9-A2E1-AC8C62D440DE}"/>
              </a:ext>
            </a:extLst>
          </p:cNvPr>
          <p:cNvSpPr/>
          <p:nvPr/>
        </p:nvSpPr>
        <p:spPr>
          <a:xfrm>
            <a:off x="136925" y="765317"/>
            <a:ext cx="8506879" cy="1892506"/>
          </a:xfrm>
          <a:prstGeom prst="roundRect">
            <a:avLst/>
          </a:prstGeom>
          <a:solidFill>
            <a:srgbClr val="EFF5FB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19" name="Rectangle: Rounded Corners 118">
            <a:extLst>
              <a:ext uri="{FF2B5EF4-FFF2-40B4-BE49-F238E27FC236}">
                <a16:creationId xmlns:a16="http://schemas.microsoft.com/office/drawing/2014/main" id="{BBDAE65E-9BF4-45F0-B101-06DA3BE6D81C}"/>
              </a:ext>
            </a:extLst>
          </p:cNvPr>
          <p:cNvSpPr/>
          <p:nvPr/>
        </p:nvSpPr>
        <p:spPr>
          <a:xfrm>
            <a:off x="136924" y="2877978"/>
            <a:ext cx="7000085" cy="2530887"/>
          </a:xfrm>
          <a:prstGeom prst="roundRect">
            <a:avLst/>
          </a:prstGeom>
          <a:solidFill>
            <a:srgbClr val="F2F8EE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120" name="图片 159">
            <a:extLst>
              <a:ext uri="{FF2B5EF4-FFF2-40B4-BE49-F238E27FC236}">
                <a16:creationId xmlns:a16="http://schemas.microsoft.com/office/drawing/2014/main" id="{51FE339C-3922-4086-AD3B-1B8EAD98C9E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71191" y="4429980"/>
            <a:ext cx="546416" cy="399303"/>
          </a:xfrm>
          <a:prstGeom prst="rect">
            <a:avLst/>
          </a:prstGeom>
        </p:spPr>
      </p:pic>
      <p:pic>
        <p:nvPicPr>
          <p:cNvPr id="236" name="图片 159">
            <a:extLst>
              <a:ext uri="{FF2B5EF4-FFF2-40B4-BE49-F238E27FC236}">
                <a16:creationId xmlns:a16="http://schemas.microsoft.com/office/drawing/2014/main" id="{D3598497-E914-473C-A87B-8EB0CEAC1D6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59149" y="4429599"/>
            <a:ext cx="546416" cy="399303"/>
          </a:xfrm>
          <a:prstGeom prst="rect">
            <a:avLst/>
          </a:prstGeom>
        </p:spPr>
      </p:pic>
      <p:sp>
        <p:nvSpPr>
          <p:cNvPr id="237" name="Text 0">
            <a:extLst>
              <a:ext uri="{FF2B5EF4-FFF2-40B4-BE49-F238E27FC236}">
                <a16:creationId xmlns:a16="http://schemas.microsoft.com/office/drawing/2014/main" id="{7228CD43-325A-4377-9920-8DB99793BD3E}"/>
              </a:ext>
            </a:extLst>
          </p:cNvPr>
          <p:cNvSpPr>
            <a:spLocks noGrp="1"/>
          </p:cNvSpPr>
          <p:nvPr/>
        </p:nvSpPr>
        <p:spPr>
          <a:xfrm>
            <a:off x="-136282" y="304180"/>
            <a:ext cx="9072880" cy="347472"/>
          </a:xfrm>
          <a:prstGeom prst="rect">
            <a:avLst/>
          </a:prstGeom>
          <a:noFill/>
        </p:spPr>
        <p:txBody>
          <a:bodyPr wrap="square" lIns="19050" tIns="19050" rIns="19050" bIns="19050" anchor="ctr">
            <a:noAutofit/>
          </a:bodyPr>
          <a:lstStyle/>
          <a:p>
            <a:pPr marL="0" indent="0" algn="ctr">
              <a:buNone/>
            </a:pPr>
            <a:r>
              <a:rPr sz="2025" b="1">
                <a:solidFill>
                  <a:srgbClr val="111827"/>
                </a:solidFill>
                <a:latin typeface="Times New Roman" panose="02020603050405020304" pitchFamily="18" charset="0"/>
                <a:ea typeface="Georgia"/>
                <a:cs typeface="Times New Roman" panose="02020603050405020304" pitchFamily="18" charset="0"/>
              </a:rPr>
              <a:t>BioCoLoop: </a:t>
            </a:r>
            <a:r>
              <a:rPr lang="en-US" sz="2025" b="1">
                <a:solidFill>
                  <a:srgbClr val="111827"/>
                </a:solidFill>
                <a:latin typeface="Times New Roman" panose="02020603050405020304" pitchFamily="18" charset="0"/>
                <a:ea typeface="Georgia"/>
                <a:cs typeface="Times New Roman" panose="02020603050405020304" pitchFamily="18" charset="0"/>
              </a:rPr>
              <a:t>Collaborative</a:t>
            </a:r>
            <a:r>
              <a:rPr sz="2025" b="1">
                <a:solidFill>
                  <a:srgbClr val="111827"/>
                </a:solidFill>
                <a:latin typeface="Times New Roman" panose="02020603050405020304" pitchFamily="18" charset="0"/>
                <a:ea typeface="Georgia"/>
                <a:cs typeface="Times New Roman" panose="02020603050405020304" pitchFamily="18" charset="0"/>
              </a:rPr>
              <a:t> Evidence-Guided Research Framework</a:t>
            </a:r>
            <a:endParaRPr sz="22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38" name="Text 2">
            <a:extLst>
              <a:ext uri="{FF2B5EF4-FFF2-40B4-BE49-F238E27FC236}">
                <a16:creationId xmlns:a16="http://schemas.microsoft.com/office/drawing/2014/main" id="{3B9CF027-5464-4F43-A59C-ED78AC4735BA}"/>
              </a:ext>
            </a:extLst>
          </p:cNvPr>
          <p:cNvSpPr>
            <a:spLocks noGrp="1"/>
          </p:cNvSpPr>
          <p:nvPr/>
        </p:nvSpPr>
        <p:spPr>
          <a:xfrm>
            <a:off x="402057" y="847645"/>
            <a:ext cx="4286250" cy="285750"/>
          </a:xfrm>
          <a:prstGeom prst="rect">
            <a:avLst/>
          </a:prstGeom>
          <a:noFill/>
        </p:spPr>
        <p:txBody>
          <a:bodyPr wrap="square" lIns="19050" tIns="19050" rIns="19050" bIns="19050" anchor="ctr">
            <a:noAutofit/>
          </a:bodyPr>
          <a:lstStyle/>
          <a:p>
            <a:pPr marL="0" indent="0" algn="l">
              <a:buNone/>
            </a:pPr>
            <a:r>
              <a:rPr sz="1650" b="1">
                <a:solidFill>
                  <a:schemeClr val="accent1">
                    <a:lumMod val="75000"/>
                  </a:schemeClr>
                </a:solidFill>
                <a:latin typeface="Arial" panose="020B0604020202020204" pitchFamily="34" charset="0"/>
                <a:ea typeface="Arial"/>
                <a:cs typeface="Arial" panose="020B0604020202020204" pitchFamily="34" charset="0"/>
              </a:rPr>
              <a:t>OUTER RESEARCH LOOP</a:t>
            </a:r>
            <a:endParaRPr>
              <a:solidFill>
                <a:schemeClr val="accent1">
                  <a:lumMod val="75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39" name="Shape 4">
            <a:extLst>
              <a:ext uri="{FF2B5EF4-FFF2-40B4-BE49-F238E27FC236}">
                <a16:creationId xmlns:a16="http://schemas.microsoft.com/office/drawing/2014/main" id="{66916E39-1BE5-4BE7-A309-FC76F184DB18}"/>
              </a:ext>
            </a:extLst>
          </p:cNvPr>
          <p:cNvSpPr>
            <a:spLocks noGrp="1"/>
          </p:cNvSpPr>
          <p:nvPr/>
        </p:nvSpPr>
        <p:spPr>
          <a:xfrm>
            <a:off x="269695" y="1614774"/>
            <a:ext cx="2599977" cy="978408"/>
          </a:xfrm>
          <a:prstGeom prst="roundRect">
            <a:avLst/>
          </a:prstGeom>
          <a:solidFill>
            <a:srgbClr val="FFFFFF">
              <a:alpha val="0"/>
            </a:srgbClr>
          </a:solidFill>
          <a:ln w="15240">
            <a:solidFill>
              <a:srgbClr val="2E73B8"/>
            </a:solidFill>
            <a:prstDash val="solid"/>
          </a:ln>
        </p:spPr>
      </p:sp>
      <p:sp>
        <p:nvSpPr>
          <p:cNvPr id="240" name="Text 5">
            <a:extLst>
              <a:ext uri="{FF2B5EF4-FFF2-40B4-BE49-F238E27FC236}">
                <a16:creationId xmlns:a16="http://schemas.microsoft.com/office/drawing/2014/main" id="{4581D030-F15D-43D3-8851-DC47B21329F9}"/>
              </a:ext>
            </a:extLst>
          </p:cNvPr>
          <p:cNvSpPr>
            <a:spLocks noGrp="1"/>
          </p:cNvSpPr>
          <p:nvPr/>
        </p:nvSpPr>
        <p:spPr>
          <a:xfrm>
            <a:off x="267921" y="1712843"/>
            <a:ext cx="424270" cy="274320"/>
          </a:xfrm>
          <a:prstGeom prst="rect">
            <a:avLst/>
          </a:prstGeom>
          <a:noFill/>
        </p:spPr>
        <p:txBody>
          <a:bodyPr wrap="square" lIns="19050" tIns="19050" rIns="19050" bIns="19050" anchor="ctr">
            <a:noAutofit/>
          </a:bodyPr>
          <a:lstStyle/>
          <a:p>
            <a:pPr marL="0" indent="0" algn="ctr">
              <a:buNone/>
            </a:pPr>
            <a:r>
              <a:rPr sz="1600" b="1">
                <a:solidFill>
                  <a:srgbClr val="2E73B8"/>
                </a:solidFill>
                <a:latin typeface="Arial" panose="020B0604020202020204" pitchFamily="34" charset="0"/>
                <a:ea typeface="Segoe UI Symbol"/>
                <a:cs typeface="Arial" panose="020B0604020202020204" pitchFamily="34" charset="0"/>
              </a:rPr>
              <a:t>①</a:t>
            </a:r>
            <a:endParaRPr sz="160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41" name="Text 6">
            <a:extLst>
              <a:ext uri="{FF2B5EF4-FFF2-40B4-BE49-F238E27FC236}">
                <a16:creationId xmlns:a16="http://schemas.microsoft.com/office/drawing/2014/main" id="{5371AAD6-3F8B-438B-B952-AAD59AA9ECF2}"/>
              </a:ext>
            </a:extLst>
          </p:cNvPr>
          <p:cNvSpPr>
            <a:spLocks noGrp="1"/>
          </p:cNvSpPr>
          <p:nvPr/>
        </p:nvSpPr>
        <p:spPr>
          <a:xfrm>
            <a:off x="617146" y="1745922"/>
            <a:ext cx="1112512" cy="188800"/>
          </a:xfrm>
          <a:prstGeom prst="rect">
            <a:avLst/>
          </a:prstGeom>
          <a:noFill/>
        </p:spPr>
        <p:txBody>
          <a:bodyPr wrap="square" lIns="19050" tIns="19050" rIns="19050" bIns="19050" anchor="ctr">
            <a:noAutofit/>
          </a:bodyPr>
          <a:lstStyle/>
          <a:p>
            <a:pPr marL="0" indent="0" algn="l">
              <a:buNone/>
            </a:pPr>
            <a:r>
              <a:rPr sz="1300" b="1">
                <a:solidFill>
                  <a:srgbClr val="0B1F54"/>
                </a:solidFill>
                <a:latin typeface="Arial" panose="020B0604020202020204" pitchFamily="34" charset="0"/>
                <a:ea typeface="Arial"/>
                <a:cs typeface="Arial" panose="020B0604020202020204" pitchFamily="34" charset="0"/>
              </a:rPr>
              <a:t>Propose</a:t>
            </a:r>
            <a:endParaRPr sz="130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42" name="Text 7">
            <a:extLst>
              <a:ext uri="{FF2B5EF4-FFF2-40B4-BE49-F238E27FC236}">
                <a16:creationId xmlns:a16="http://schemas.microsoft.com/office/drawing/2014/main" id="{351337E7-F5FE-4AA9-B8B1-B0E29B2CB3F6}"/>
              </a:ext>
            </a:extLst>
          </p:cNvPr>
          <p:cNvSpPr>
            <a:spLocks noGrp="1"/>
          </p:cNvSpPr>
          <p:nvPr/>
        </p:nvSpPr>
        <p:spPr>
          <a:xfrm>
            <a:off x="497102" y="1942849"/>
            <a:ext cx="777828" cy="225905"/>
          </a:xfrm>
          <a:prstGeom prst="rect">
            <a:avLst/>
          </a:prstGeom>
          <a:noFill/>
        </p:spPr>
        <p:txBody>
          <a:bodyPr wrap="square" lIns="254" tIns="254" rIns="254" bIns="254" anchor="ctr">
            <a:noAutofit/>
          </a:bodyPr>
          <a:lstStyle/>
          <a:p>
            <a:pPr marL="0" indent="0" algn="ctr">
              <a:buNone/>
            </a:pPr>
            <a:endParaRPr sz="140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43" name="Shape 24">
            <a:extLst>
              <a:ext uri="{FF2B5EF4-FFF2-40B4-BE49-F238E27FC236}">
                <a16:creationId xmlns:a16="http://schemas.microsoft.com/office/drawing/2014/main" id="{709A48D1-6337-407D-9E36-14BDB5550344}"/>
              </a:ext>
            </a:extLst>
          </p:cNvPr>
          <p:cNvSpPr>
            <a:spLocks noGrp="1"/>
          </p:cNvSpPr>
          <p:nvPr/>
        </p:nvSpPr>
        <p:spPr>
          <a:xfrm>
            <a:off x="2875305" y="2108600"/>
            <a:ext cx="453036" cy="0"/>
          </a:xfrm>
          <a:prstGeom prst="line">
            <a:avLst/>
          </a:prstGeom>
          <a:noFill/>
          <a:ln w="22860">
            <a:solidFill>
              <a:srgbClr val="276CA6"/>
            </a:solidFill>
            <a:prstDash val="solid"/>
            <a:headEnd type="none"/>
            <a:tailEnd type="triangle"/>
          </a:ln>
        </p:spPr>
      </p:sp>
      <p:sp>
        <p:nvSpPr>
          <p:cNvPr id="244" name="Text 38">
            <a:extLst>
              <a:ext uri="{FF2B5EF4-FFF2-40B4-BE49-F238E27FC236}">
                <a16:creationId xmlns:a16="http://schemas.microsoft.com/office/drawing/2014/main" id="{4AC41A55-3508-4C0B-85C3-7A2DA077C495}"/>
              </a:ext>
            </a:extLst>
          </p:cNvPr>
          <p:cNvSpPr>
            <a:spLocks noGrp="1"/>
          </p:cNvSpPr>
          <p:nvPr/>
        </p:nvSpPr>
        <p:spPr>
          <a:xfrm>
            <a:off x="436905" y="2892575"/>
            <a:ext cx="4762500" cy="285750"/>
          </a:xfrm>
          <a:prstGeom prst="rect">
            <a:avLst/>
          </a:prstGeom>
          <a:noFill/>
        </p:spPr>
        <p:txBody>
          <a:bodyPr wrap="square" lIns="19050" tIns="19050" rIns="19050" bIns="19050" anchor="ctr">
            <a:noAutofit/>
          </a:bodyPr>
          <a:lstStyle/>
          <a:p>
            <a:pPr marL="0" indent="0" algn="l">
              <a:buNone/>
            </a:pPr>
            <a:r>
              <a:rPr sz="1538" b="1">
                <a:solidFill>
                  <a:srgbClr val="075344"/>
                </a:solidFill>
                <a:latin typeface="Arial" panose="020B0604020202020204" pitchFamily="34" charset="0"/>
                <a:ea typeface="Arial"/>
                <a:cs typeface="Arial" panose="020B0604020202020204" pitchFamily="34" charset="0"/>
              </a:rPr>
              <a:t>INNER COLLABORATIVE TRAINING</a:t>
            </a:r>
            <a:endParaRPr sz="160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45" name="Shape 39">
            <a:extLst>
              <a:ext uri="{FF2B5EF4-FFF2-40B4-BE49-F238E27FC236}">
                <a16:creationId xmlns:a16="http://schemas.microsoft.com/office/drawing/2014/main" id="{A5F6CC0B-F567-4502-83BD-31AE6F2A089B}"/>
              </a:ext>
            </a:extLst>
          </p:cNvPr>
          <p:cNvSpPr>
            <a:spLocks noGrp="1"/>
          </p:cNvSpPr>
          <p:nvPr/>
        </p:nvSpPr>
        <p:spPr>
          <a:xfrm>
            <a:off x="674902" y="3183422"/>
            <a:ext cx="6125556" cy="721210"/>
          </a:xfrm>
          <a:prstGeom prst="roundRect">
            <a:avLst/>
          </a:prstGeom>
          <a:solidFill>
            <a:srgbClr val="FFFFFF">
              <a:alpha val="0"/>
            </a:srgbClr>
          </a:solidFill>
          <a:ln w="19050">
            <a:solidFill>
              <a:srgbClr val="087A62"/>
            </a:solidFill>
            <a:prstDash val="solid"/>
          </a:ln>
        </p:spPr>
      </p:sp>
      <p:sp>
        <p:nvSpPr>
          <p:cNvPr id="246" name="Text 43">
            <a:extLst>
              <a:ext uri="{FF2B5EF4-FFF2-40B4-BE49-F238E27FC236}">
                <a16:creationId xmlns:a16="http://schemas.microsoft.com/office/drawing/2014/main" id="{9FCF7139-FCAA-449A-9399-DD6349958216}"/>
              </a:ext>
            </a:extLst>
          </p:cNvPr>
          <p:cNvSpPr>
            <a:spLocks noGrp="1"/>
          </p:cNvSpPr>
          <p:nvPr/>
        </p:nvSpPr>
        <p:spPr>
          <a:xfrm>
            <a:off x="1937145" y="3292181"/>
            <a:ext cx="4528884" cy="217629"/>
          </a:xfrm>
          <a:prstGeom prst="rect">
            <a:avLst/>
          </a:prstGeom>
          <a:noFill/>
        </p:spPr>
        <p:txBody>
          <a:bodyPr wrap="square" lIns="19050" tIns="19050" rIns="19050" bIns="19050" anchor="ctr">
            <a:noAutofit/>
          </a:bodyPr>
          <a:lstStyle/>
          <a:p>
            <a:pPr marL="0" indent="0" algn="l">
              <a:buNone/>
            </a:pPr>
            <a:r>
              <a:rPr sz="1400" b="1">
                <a:solidFill>
                  <a:srgbClr val="111827"/>
                </a:solidFill>
                <a:latin typeface="Arial" panose="020B0604020202020204" pitchFamily="34" charset="0"/>
                <a:ea typeface="Arial"/>
                <a:cs typeface="Arial" panose="020B0604020202020204" pitchFamily="34" charset="0"/>
              </a:rPr>
              <a:t>Shared coordinator</a:t>
            </a:r>
            <a:r>
              <a:rPr lang="en-US" sz="1400" b="1">
                <a:solidFill>
                  <a:srgbClr val="111827"/>
                </a:solidFill>
                <a:latin typeface="Arial" panose="020B0604020202020204" pitchFamily="34" charset="0"/>
                <a:ea typeface="Arial"/>
                <a:cs typeface="Arial" panose="020B0604020202020204" pitchFamily="34" charset="0"/>
              </a:rPr>
              <a:t> (aggregation/selection service)</a:t>
            </a:r>
            <a:endParaRPr sz="1400">
              <a:latin typeface="Arial" panose="020B0604020202020204" pitchFamily="34" charset="0"/>
              <a:ea typeface="Aptos"/>
              <a:cs typeface="Arial" panose="020B0604020202020204" pitchFamily="34" charset="0"/>
            </a:endParaRPr>
          </a:p>
        </p:txBody>
      </p:sp>
      <p:sp>
        <p:nvSpPr>
          <p:cNvPr id="247" name="Text 44">
            <a:extLst>
              <a:ext uri="{FF2B5EF4-FFF2-40B4-BE49-F238E27FC236}">
                <a16:creationId xmlns:a16="http://schemas.microsoft.com/office/drawing/2014/main" id="{427A9FD0-A91E-44C3-9CD6-F7B574B576AA}"/>
              </a:ext>
            </a:extLst>
          </p:cNvPr>
          <p:cNvSpPr>
            <a:spLocks noGrp="1"/>
          </p:cNvSpPr>
          <p:nvPr/>
        </p:nvSpPr>
        <p:spPr>
          <a:xfrm>
            <a:off x="2004879" y="3554947"/>
            <a:ext cx="4476750" cy="266700"/>
          </a:xfrm>
          <a:prstGeom prst="rect">
            <a:avLst/>
          </a:prstGeom>
          <a:noFill/>
        </p:spPr>
        <p:txBody>
          <a:bodyPr wrap="square" lIns="19050" tIns="19050" rIns="19050" bIns="19050" anchor="ctr">
            <a:noAutofit/>
          </a:bodyPr>
          <a:lstStyle/>
          <a:p>
            <a:pPr marL="0" indent="0" algn="l">
              <a:buNone/>
            </a:pPr>
            <a:r>
              <a:rPr sz="1125">
                <a:solidFill>
                  <a:srgbClr val="0A51A1"/>
                </a:solidFill>
                <a:latin typeface="Arial" panose="020B0604020202020204" pitchFamily="34" charset="0"/>
                <a:ea typeface="Arial"/>
                <a:cs typeface="Arial" panose="020B0604020202020204" pitchFamily="34" charset="0"/>
              </a:rPr>
              <a:t>broadcast model parameters  </a:t>
            </a:r>
            <a:r>
              <a:rPr sz="1125">
                <a:latin typeface="Arial" panose="020B0604020202020204" pitchFamily="34" charset="0"/>
                <a:ea typeface="Arial"/>
                <a:cs typeface="Arial" panose="020B0604020202020204" pitchFamily="34" charset="0"/>
              </a:rPr>
              <a:t>| </a:t>
            </a:r>
            <a:r>
              <a:rPr sz="1125">
                <a:solidFill>
                  <a:srgbClr val="0A51A1"/>
                </a:solidFill>
                <a:latin typeface="Arial" panose="020B0604020202020204" pitchFamily="34" charset="0"/>
                <a:ea typeface="Arial"/>
                <a:cs typeface="Arial" panose="020B0604020202020204" pitchFamily="34" charset="0"/>
              </a:rPr>
              <a:t> </a:t>
            </a:r>
            <a:r>
              <a:rPr sz="1125">
                <a:solidFill>
                  <a:srgbClr val="087A62"/>
                </a:solidFill>
                <a:latin typeface="Arial" panose="020B0604020202020204" pitchFamily="34" charset="0"/>
                <a:ea typeface="Arial"/>
                <a:cs typeface="Arial" panose="020B0604020202020204" pitchFamily="34" charset="0"/>
              </a:rPr>
              <a:t>aggregate local updates</a:t>
            </a:r>
            <a:endParaRPr sz="1200">
              <a:solidFill>
                <a:srgbClr val="087A62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48" name="Text 45">
            <a:extLst>
              <a:ext uri="{FF2B5EF4-FFF2-40B4-BE49-F238E27FC236}">
                <a16:creationId xmlns:a16="http://schemas.microsoft.com/office/drawing/2014/main" id="{E618CD93-97C2-4ADE-B237-E4798FF7F7E0}"/>
              </a:ext>
            </a:extLst>
          </p:cNvPr>
          <p:cNvSpPr>
            <a:spLocks noGrp="1"/>
          </p:cNvSpPr>
          <p:nvPr/>
        </p:nvSpPr>
        <p:spPr>
          <a:xfrm>
            <a:off x="3687932" y="3975932"/>
            <a:ext cx="1135980" cy="153932"/>
          </a:xfrm>
          <a:prstGeom prst="rect">
            <a:avLst/>
          </a:prstGeom>
          <a:noFill/>
        </p:spPr>
        <p:txBody>
          <a:bodyPr wrap="square" lIns="19050" tIns="19050" rIns="19050" bIns="19050" anchor="ctr">
            <a:noAutofit/>
          </a:bodyPr>
          <a:lstStyle/>
          <a:p>
            <a:pPr marL="0" indent="0" algn="ctr">
              <a:buNone/>
            </a:pPr>
            <a:r>
              <a:rPr sz="1200">
                <a:solidFill>
                  <a:srgbClr val="087A62"/>
                </a:solidFill>
                <a:latin typeface="Arial" panose="020B0604020202020204" pitchFamily="34" charset="0"/>
                <a:ea typeface="Arial"/>
                <a:cs typeface="Arial" panose="020B0604020202020204" pitchFamily="34" charset="0"/>
              </a:rPr>
              <a:t>local updates</a:t>
            </a:r>
            <a:endParaRPr sz="120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49" name="Shape 46">
            <a:extLst>
              <a:ext uri="{FF2B5EF4-FFF2-40B4-BE49-F238E27FC236}">
                <a16:creationId xmlns:a16="http://schemas.microsoft.com/office/drawing/2014/main" id="{1E6E4FC8-7245-4385-9052-F42A125FA1CB}"/>
              </a:ext>
            </a:extLst>
          </p:cNvPr>
          <p:cNvSpPr>
            <a:spLocks noGrp="1"/>
          </p:cNvSpPr>
          <p:nvPr/>
        </p:nvSpPr>
        <p:spPr>
          <a:xfrm>
            <a:off x="371717" y="4196199"/>
            <a:ext cx="2103119" cy="945202"/>
          </a:xfrm>
          <a:prstGeom prst="roundRect">
            <a:avLst/>
          </a:prstGeom>
          <a:solidFill>
            <a:srgbClr val="FFFFFF">
              <a:alpha val="0"/>
            </a:srgbClr>
          </a:solidFill>
          <a:ln w="15240">
            <a:solidFill>
              <a:srgbClr val="087A62"/>
            </a:solidFill>
            <a:prstDash val="solid"/>
          </a:ln>
        </p:spPr>
      </p:sp>
      <p:sp>
        <p:nvSpPr>
          <p:cNvPr id="250" name="Text 47">
            <a:extLst>
              <a:ext uri="{FF2B5EF4-FFF2-40B4-BE49-F238E27FC236}">
                <a16:creationId xmlns:a16="http://schemas.microsoft.com/office/drawing/2014/main" id="{553C36F5-0636-4250-89DC-237B1B296A71}"/>
              </a:ext>
            </a:extLst>
          </p:cNvPr>
          <p:cNvSpPr>
            <a:spLocks noGrp="1"/>
          </p:cNvSpPr>
          <p:nvPr/>
        </p:nvSpPr>
        <p:spPr>
          <a:xfrm>
            <a:off x="537698" y="4256860"/>
            <a:ext cx="1920240" cy="146304"/>
          </a:xfrm>
          <a:prstGeom prst="rect">
            <a:avLst/>
          </a:prstGeom>
          <a:noFill/>
        </p:spPr>
        <p:txBody>
          <a:bodyPr wrap="square" lIns="19050" tIns="19050" rIns="19050" bIns="19050" anchor="ctr">
            <a:noAutofit/>
          </a:bodyPr>
          <a:lstStyle/>
          <a:p>
            <a:pPr marL="0" indent="0" algn="ctr">
              <a:buNone/>
            </a:pPr>
            <a:r>
              <a:rPr sz="1400" b="1">
                <a:solidFill>
                  <a:srgbClr val="075344"/>
                </a:solidFill>
                <a:latin typeface="Arial" panose="020B0604020202020204" pitchFamily="34" charset="0"/>
                <a:ea typeface="Arial"/>
                <a:cs typeface="Arial" panose="020B0604020202020204" pitchFamily="34" charset="0"/>
              </a:rPr>
              <a:t>Laboratory 1</a:t>
            </a:r>
            <a:endParaRPr sz="140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51" name="Text 49">
            <a:extLst>
              <a:ext uri="{FF2B5EF4-FFF2-40B4-BE49-F238E27FC236}">
                <a16:creationId xmlns:a16="http://schemas.microsoft.com/office/drawing/2014/main" id="{80E8995A-27B1-4A93-8212-2662C60F50D3}"/>
              </a:ext>
            </a:extLst>
          </p:cNvPr>
          <p:cNvSpPr>
            <a:spLocks noGrp="1"/>
          </p:cNvSpPr>
          <p:nvPr/>
        </p:nvSpPr>
        <p:spPr>
          <a:xfrm>
            <a:off x="398134" y="4827065"/>
            <a:ext cx="523875" cy="285750"/>
          </a:xfrm>
          <a:prstGeom prst="rect">
            <a:avLst/>
          </a:prstGeom>
          <a:noFill/>
        </p:spPr>
        <p:txBody>
          <a:bodyPr wrap="square" lIns="19050" tIns="19050" rIns="19050" bIns="19050" anchor="ctr">
            <a:noAutofit/>
          </a:bodyPr>
          <a:lstStyle/>
          <a:p>
            <a:pPr marL="0" indent="0" algn="ctr">
              <a:buNone/>
            </a:pPr>
            <a:r>
              <a:rPr sz="915">
                <a:solidFill>
                  <a:srgbClr val="0B1F54"/>
                </a:solidFill>
                <a:latin typeface="Arial" panose="020B0604020202020204" pitchFamily="34" charset="0"/>
                <a:ea typeface="Arial"/>
                <a:cs typeface="Arial" panose="020B0604020202020204" pitchFamily="34" charset="0"/>
              </a:rPr>
              <a:t>private</a:t>
            </a:r>
            <a:endParaRPr sz="110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 algn="ctr">
              <a:buNone/>
            </a:pPr>
            <a:r>
              <a:rPr sz="915">
                <a:solidFill>
                  <a:srgbClr val="0B1F54"/>
                </a:solidFill>
                <a:latin typeface="Arial" panose="020B0604020202020204" pitchFamily="34" charset="0"/>
                <a:ea typeface="Arial"/>
                <a:cs typeface="Arial" panose="020B0604020202020204" pitchFamily="34" charset="0"/>
              </a:rPr>
              <a:t>data</a:t>
            </a:r>
            <a:endParaRPr sz="110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52" name="Shape 50">
            <a:extLst>
              <a:ext uri="{FF2B5EF4-FFF2-40B4-BE49-F238E27FC236}">
                <a16:creationId xmlns:a16="http://schemas.microsoft.com/office/drawing/2014/main" id="{19996D78-78B9-4C1C-86F0-8026A8D250B6}"/>
              </a:ext>
            </a:extLst>
          </p:cNvPr>
          <p:cNvSpPr>
            <a:spLocks noGrp="1"/>
          </p:cNvSpPr>
          <p:nvPr/>
        </p:nvSpPr>
        <p:spPr>
          <a:xfrm>
            <a:off x="883782" y="4629250"/>
            <a:ext cx="274320" cy="0"/>
          </a:xfrm>
          <a:prstGeom prst="line">
            <a:avLst/>
          </a:prstGeom>
          <a:noFill/>
          <a:ln w="10160">
            <a:solidFill>
              <a:srgbClr val="0A51A1"/>
            </a:solidFill>
            <a:prstDash val="solid"/>
            <a:tailEnd type="triangle"/>
          </a:ln>
        </p:spPr>
      </p:sp>
      <p:sp>
        <p:nvSpPr>
          <p:cNvPr id="253" name="Text 52">
            <a:extLst>
              <a:ext uri="{FF2B5EF4-FFF2-40B4-BE49-F238E27FC236}">
                <a16:creationId xmlns:a16="http://schemas.microsoft.com/office/drawing/2014/main" id="{7AEFB6CB-FBFC-4C25-BA23-007E01CC48F4}"/>
              </a:ext>
            </a:extLst>
          </p:cNvPr>
          <p:cNvSpPr>
            <a:spLocks noGrp="1"/>
          </p:cNvSpPr>
          <p:nvPr/>
        </p:nvSpPr>
        <p:spPr>
          <a:xfrm>
            <a:off x="1059589" y="4827065"/>
            <a:ext cx="781050" cy="285750"/>
          </a:xfrm>
          <a:prstGeom prst="rect">
            <a:avLst/>
          </a:prstGeom>
          <a:noFill/>
        </p:spPr>
        <p:txBody>
          <a:bodyPr wrap="square" lIns="19050" tIns="19050" rIns="19050" bIns="19050" anchor="ctr">
            <a:noAutofit/>
          </a:bodyPr>
          <a:lstStyle/>
          <a:p>
            <a:pPr marL="0" indent="0" algn="ctr">
              <a:buNone/>
            </a:pPr>
            <a:r>
              <a:rPr sz="915">
                <a:solidFill>
                  <a:srgbClr val="0B1F54"/>
                </a:solidFill>
                <a:latin typeface="Arial" panose="020B0604020202020204" pitchFamily="34" charset="0"/>
                <a:ea typeface="Arial"/>
                <a:cs typeface="Arial" panose="020B0604020202020204" pitchFamily="34" charset="0"/>
              </a:rPr>
              <a:t>local</a:t>
            </a:r>
            <a:endParaRPr sz="110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 algn="ctr">
              <a:buNone/>
            </a:pPr>
            <a:r>
              <a:rPr sz="915">
                <a:solidFill>
                  <a:srgbClr val="0B1F54"/>
                </a:solidFill>
                <a:latin typeface="Arial" panose="020B0604020202020204" pitchFamily="34" charset="0"/>
                <a:ea typeface="Arial"/>
                <a:cs typeface="Arial" panose="020B0604020202020204" pitchFamily="34" charset="0"/>
              </a:rPr>
              <a:t>train + dev</a:t>
            </a:r>
            <a:endParaRPr sz="110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54" name="Shape 53">
            <a:extLst>
              <a:ext uri="{FF2B5EF4-FFF2-40B4-BE49-F238E27FC236}">
                <a16:creationId xmlns:a16="http://schemas.microsoft.com/office/drawing/2014/main" id="{429209DC-8CE8-4C2B-A198-55FDF8824BB9}"/>
              </a:ext>
            </a:extLst>
          </p:cNvPr>
          <p:cNvSpPr>
            <a:spLocks noGrp="1"/>
          </p:cNvSpPr>
          <p:nvPr/>
        </p:nvSpPr>
        <p:spPr>
          <a:xfrm>
            <a:off x="1688454" y="4629250"/>
            <a:ext cx="228600" cy="0"/>
          </a:xfrm>
          <a:prstGeom prst="line">
            <a:avLst/>
          </a:prstGeom>
          <a:noFill/>
          <a:ln w="10160">
            <a:solidFill>
              <a:srgbClr val="0A51A1"/>
            </a:solidFill>
            <a:prstDash val="solid"/>
            <a:tailEnd type="triangle"/>
          </a:ln>
        </p:spPr>
      </p:sp>
      <p:sp>
        <p:nvSpPr>
          <p:cNvPr id="255" name="Text 55">
            <a:extLst>
              <a:ext uri="{FF2B5EF4-FFF2-40B4-BE49-F238E27FC236}">
                <a16:creationId xmlns:a16="http://schemas.microsoft.com/office/drawing/2014/main" id="{E7E6A673-7175-4E62-9E6F-EEAD39E8CAB6}"/>
              </a:ext>
            </a:extLst>
          </p:cNvPr>
          <p:cNvSpPr>
            <a:spLocks noGrp="1"/>
          </p:cNvSpPr>
          <p:nvPr/>
        </p:nvSpPr>
        <p:spPr>
          <a:xfrm>
            <a:off x="1858126" y="4827065"/>
            <a:ext cx="647700" cy="285750"/>
          </a:xfrm>
          <a:prstGeom prst="rect">
            <a:avLst/>
          </a:prstGeom>
          <a:noFill/>
        </p:spPr>
        <p:txBody>
          <a:bodyPr wrap="square" lIns="19050" tIns="19050" rIns="19050" bIns="19050" anchor="ctr">
            <a:noAutofit/>
          </a:bodyPr>
          <a:lstStyle/>
          <a:p>
            <a:pPr marL="0" indent="0" algn="ctr">
              <a:buNone/>
            </a:pPr>
            <a:r>
              <a:rPr sz="915">
                <a:solidFill>
                  <a:srgbClr val="0B1F54"/>
                </a:solidFill>
                <a:latin typeface="Arial" panose="020B0604020202020204" pitchFamily="34" charset="0"/>
                <a:ea typeface="Arial"/>
                <a:cs typeface="Arial" panose="020B0604020202020204" pitchFamily="34" charset="0"/>
              </a:rPr>
              <a:t>model</a:t>
            </a:r>
            <a:endParaRPr sz="110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 algn="ctr">
              <a:buNone/>
            </a:pPr>
            <a:r>
              <a:rPr sz="915">
                <a:solidFill>
                  <a:srgbClr val="0B1F54"/>
                </a:solidFill>
                <a:latin typeface="Arial" panose="020B0604020202020204" pitchFamily="34" charset="0"/>
                <a:ea typeface="Arial"/>
                <a:cs typeface="Arial" panose="020B0604020202020204" pitchFamily="34" charset="0"/>
              </a:rPr>
              <a:t>update</a:t>
            </a:r>
            <a:endParaRPr sz="110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56" name="Shape 70">
            <a:extLst>
              <a:ext uri="{FF2B5EF4-FFF2-40B4-BE49-F238E27FC236}">
                <a16:creationId xmlns:a16="http://schemas.microsoft.com/office/drawing/2014/main" id="{9B33A6DF-F4FE-4BDC-BF98-FA99B3850FCC}"/>
              </a:ext>
            </a:extLst>
          </p:cNvPr>
          <p:cNvSpPr>
            <a:spLocks noGrp="1"/>
          </p:cNvSpPr>
          <p:nvPr/>
        </p:nvSpPr>
        <p:spPr>
          <a:xfrm>
            <a:off x="4897997" y="4196199"/>
            <a:ext cx="2185413" cy="934896"/>
          </a:xfrm>
          <a:prstGeom prst="roundRect">
            <a:avLst/>
          </a:prstGeom>
          <a:solidFill>
            <a:srgbClr val="FFFFFF">
              <a:alpha val="0"/>
            </a:srgbClr>
          </a:solidFill>
          <a:ln w="15240">
            <a:solidFill>
              <a:srgbClr val="087A62"/>
            </a:solidFill>
            <a:prstDash val="solid"/>
          </a:ln>
        </p:spPr>
      </p:sp>
      <p:sp>
        <p:nvSpPr>
          <p:cNvPr id="257" name="Text 71">
            <a:extLst>
              <a:ext uri="{FF2B5EF4-FFF2-40B4-BE49-F238E27FC236}">
                <a16:creationId xmlns:a16="http://schemas.microsoft.com/office/drawing/2014/main" id="{69614AAC-834A-4573-AF13-23CB43028C8D}"/>
              </a:ext>
            </a:extLst>
          </p:cNvPr>
          <p:cNvSpPr>
            <a:spLocks noGrp="1"/>
          </p:cNvSpPr>
          <p:nvPr/>
        </p:nvSpPr>
        <p:spPr>
          <a:xfrm>
            <a:off x="5063978" y="4256860"/>
            <a:ext cx="1920240" cy="146304"/>
          </a:xfrm>
          <a:prstGeom prst="rect">
            <a:avLst/>
          </a:prstGeom>
          <a:noFill/>
        </p:spPr>
        <p:txBody>
          <a:bodyPr wrap="square" lIns="19050" tIns="19050" rIns="19050" bIns="19050" anchor="ctr">
            <a:noAutofit/>
          </a:bodyPr>
          <a:lstStyle/>
          <a:p>
            <a:pPr marL="0" indent="0" algn="ctr">
              <a:buNone/>
            </a:pPr>
            <a:r>
              <a:rPr sz="1400" b="1">
                <a:solidFill>
                  <a:srgbClr val="075344"/>
                </a:solidFill>
                <a:latin typeface="Arial" panose="020B0604020202020204" pitchFamily="34" charset="0"/>
                <a:ea typeface="Arial"/>
                <a:cs typeface="Arial" panose="020B0604020202020204" pitchFamily="34" charset="0"/>
              </a:rPr>
              <a:t>Laboratory K</a:t>
            </a:r>
            <a:endParaRPr sz="140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58" name="Text 72">
            <a:extLst>
              <a:ext uri="{FF2B5EF4-FFF2-40B4-BE49-F238E27FC236}">
                <a16:creationId xmlns:a16="http://schemas.microsoft.com/office/drawing/2014/main" id="{B2C369C4-7362-4E0C-AC95-541059FD6CCB}"/>
              </a:ext>
            </a:extLst>
          </p:cNvPr>
          <p:cNvSpPr>
            <a:spLocks noGrp="1"/>
          </p:cNvSpPr>
          <p:nvPr/>
        </p:nvSpPr>
        <p:spPr>
          <a:xfrm>
            <a:off x="5026014" y="4537810"/>
            <a:ext cx="237744" cy="182880"/>
          </a:xfrm>
          <a:prstGeom prst="rect">
            <a:avLst/>
          </a:prstGeom>
          <a:noFill/>
        </p:spPr>
        <p:txBody>
          <a:bodyPr wrap="square" lIns="254" tIns="254" rIns="254" bIns="254" anchor="ctr">
            <a:normAutofit lnSpcReduction="10000"/>
          </a:bodyPr>
          <a:lstStyle/>
          <a:p>
            <a:pPr marL="0" indent="0" algn="ctr">
              <a:buNone/>
            </a:pPr>
            <a:endParaRPr sz="120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59" name="Text 73">
            <a:extLst>
              <a:ext uri="{FF2B5EF4-FFF2-40B4-BE49-F238E27FC236}">
                <a16:creationId xmlns:a16="http://schemas.microsoft.com/office/drawing/2014/main" id="{46A1294D-A50B-40AB-A267-66B536F4D762}"/>
              </a:ext>
            </a:extLst>
          </p:cNvPr>
          <p:cNvSpPr>
            <a:spLocks noGrp="1"/>
          </p:cNvSpPr>
          <p:nvPr/>
        </p:nvSpPr>
        <p:spPr>
          <a:xfrm>
            <a:off x="4970134" y="4827065"/>
            <a:ext cx="523875" cy="285750"/>
          </a:xfrm>
          <a:prstGeom prst="rect">
            <a:avLst/>
          </a:prstGeom>
          <a:noFill/>
        </p:spPr>
        <p:txBody>
          <a:bodyPr wrap="square" lIns="19050" tIns="19050" rIns="19050" bIns="19050" anchor="ctr">
            <a:noAutofit/>
          </a:bodyPr>
          <a:lstStyle/>
          <a:p>
            <a:pPr marL="0" indent="0" algn="ctr">
              <a:buNone/>
            </a:pPr>
            <a:r>
              <a:rPr sz="915">
                <a:solidFill>
                  <a:srgbClr val="0B1F54"/>
                </a:solidFill>
                <a:latin typeface="Arial" panose="020B0604020202020204" pitchFamily="34" charset="0"/>
                <a:ea typeface="Arial"/>
                <a:cs typeface="Arial" panose="020B0604020202020204" pitchFamily="34" charset="0"/>
              </a:rPr>
              <a:t>private</a:t>
            </a:r>
            <a:endParaRPr sz="110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 algn="ctr">
              <a:buNone/>
            </a:pPr>
            <a:r>
              <a:rPr sz="915">
                <a:solidFill>
                  <a:srgbClr val="0B1F54"/>
                </a:solidFill>
                <a:latin typeface="Arial" panose="020B0604020202020204" pitchFamily="34" charset="0"/>
                <a:ea typeface="Arial"/>
                <a:cs typeface="Arial" panose="020B0604020202020204" pitchFamily="34" charset="0"/>
              </a:rPr>
              <a:t>data</a:t>
            </a:r>
            <a:endParaRPr sz="110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60" name="Shape 74">
            <a:extLst>
              <a:ext uri="{FF2B5EF4-FFF2-40B4-BE49-F238E27FC236}">
                <a16:creationId xmlns:a16="http://schemas.microsoft.com/office/drawing/2014/main" id="{055412B7-34B3-46E3-B545-CA19AD44FBC4}"/>
              </a:ext>
            </a:extLst>
          </p:cNvPr>
          <p:cNvSpPr>
            <a:spLocks noGrp="1"/>
          </p:cNvSpPr>
          <p:nvPr/>
        </p:nvSpPr>
        <p:spPr>
          <a:xfrm>
            <a:off x="5410062" y="4629250"/>
            <a:ext cx="274320" cy="0"/>
          </a:xfrm>
          <a:prstGeom prst="line">
            <a:avLst/>
          </a:prstGeom>
          <a:noFill/>
          <a:ln w="10160">
            <a:solidFill>
              <a:srgbClr val="0A51A1"/>
            </a:solidFill>
            <a:prstDash val="solid"/>
            <a:tailEnd type="triangle"/>
          </a:ln>
        </p:spPr>
      </p:sp>
      <p:sp>
        <p:nvSpPr>
          <p:cNvPr id="261" name="Text 76">
            <a:extLst>
              <a:ext uri="{FF2B5EF4-FFF2-40B4-BE49-F238E27FC236}">
                <a16:creationId xmlns:a16="http://schemas.microsoft.com/office/drawing/2014/main" id="{A8F87347-6269-418C-8FBA-7A98FEB24289}"/>
              </a:ext>
            </a:extLst>
          </p:cNvPr>
          <p:cNvSpPr>
            <a:spLocks noGrp="1"/>
          </p:cNvSpPr>
          <p:nvPr/>
        </p:nvSpPr>
        <p:spPr>
          <a:xfrm>
            <a:off x="5556366" y="4827065"/>
            <a:ext cx="781050" cy="285750"/>
          </a:xfrm>
          <a:prstGeom prst="rect">
            <a:avLst/>
          </a:prstGeom>
          <a:noFill/>
        </p:spPr>
        <p:txBody>
          <a:bodyPr wrap="square" lIns="19050" tIns="19050" rIns="19050" bIns="19050" anchor="ctr">
            <a:noAutofit/>
          </a:bodyPr>
          <a:lstStyle/>
          <a:p>
            <a:pPr marL="0" indent="0" algn="ctr">
              <a:buNone/>
            </a:pPr>
            <a:r>
              <a:rPr sz="915">
                <a:solidFill>
                  <a:srgbClr val="0B1F54"/>
                </a:solidFill>
                <a:latin typeface="Arial" panose="020B0604020202020204" pitchFamily="34" charset="0"/>
                <a:ea typeface="Arial"/>
                <a:cs typeface="Arial" panose="020B0604020202020204" pitchFamily="34" charset="0"/>
              </a:rPr>
              <a:t>local</a:t>
            </a:r>
            <a:endParaRPr sz="110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 algn="ctr">
              <a:buNone/>
            </a:pPr>
            <a:r>
              <a:rPr sz="915">
                <a:solidFill>
                  <a:srgbClr val="0B1F54"/>
                </a:solidFill>
                <a:latin typeface="Arial" panose="020B0604020202020204" pitchFamily="34" charset="0"/>
                <a:ea typeface="Arial"/>
                <a:cs typeface="Arial" panose="020B0604020202020204" pitchFamily="34" charset="0"/>
              </a:rPr>
              <a:t>train + dev</a:t>
            </a:r>
            <a:endParaRPr sz="110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62" name="Shape 77">
            <a:extLst>
              <a:ext uri="{FF2B5EF4-FFF2-40B4-BE49-F238E27FC236}">
                <a16:creationId xmlns:a16="http://schemas.microsoft.com/office/drawing/2014/main" id="{4DB36FEB-BCF8-4BF7-92B4-C56C697E1A57}"/>
              </a:ext>
            </a:extLst>
          </p:cNvPr>
          <p:cNvSpPr>
            <a:spLocks noGrp="1"/>
          </p:cNvSpPr>
          <p:nvPr/>
        </p:nvSpPr>
        <p:spPr>
          <a:xfrm>
            <a:off x="6214734" y="4629250"/>
            <a:ext cx="228600" cy="0"/>
          </a:xfrm>
          <a:prstGeom prst="line">
            <a:avLst/>
          </a:prstGeom>
          <a:noFill/>
          <a:ln w="10160">
            <a:solidFill>
              <a:srgbClr val="0A51A1"/>
            </a:solidFill>
            <a:prstDash val="solid"/>
            <a:tailEnd type="triangle"/>
          </a:ln>
        </p:spPr>
      </p:sp>
      <p:sp>
        <p:nvSpPr>
          <p:cNvPr id="263" name="Text 79">
            <a:extLst>
              <a:ext uri="{FF2B5EF4-FFF2-40B4-BE49-F238E27FC236}">
                <a16:creationId xmlns:a16="http://schemas.microsoft.com/office/drawing/2014/main" id="{7CBC2F3B-DB83-4D6E-AECF-8C6342B1C1DB}"/>
              </a:ext>
            </a:extLst>
          </p:cNvPr>
          <p:cNvSpPr>
            <a:spLocks noGrp="1"/>
          </p:cNvSpPr>
          <p:nvPr/>
        </p:nvSpPr>
        <p:spPr>
          <a:xfrm>
            <a:off x="6384406" y="4827065"/>
            <a:ext cx="647700" cy="285750"/>
          </a:xfrm>
          <a:prstGeom prst="rect">
            <a:avLst/>
          </a:prstGeom>
          <a:noFill/>
        </p:spPr>
        <p:txBody>
          <a:bodyPr wrap="square" lIns="19050" tIns="19050" rIns="19050" bIns="19050" anchor="ctr">
            <a:noAutofit/>
          </a:bodyPr>
          <a:lstStyle/>
          <a:p>
            <a:pPr marL="0" indent="0" algn="ctr">
              <a:buNone/>
            </a:pPr>
            <a:r>
              <a:rPr sz="915">
                <a:solidFill>
                  <a:srgbClr val="0B1F54"/>
                </a:solidFill>
                <a:latin typeface="Arial" panose="020B0604020202020204" pitchFamily="34" charset="0"/>
                <a:ea typeface="Arial"/>
                <a:cs typeface="Arial" panose="020B0604020202020204" pitchFamily="34" charset="0"/>
              </a:rPr>
              <a:t>model</a:t>
            </a:r>
            <a:endParaRPr sz="110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 algn="ctr">
              <a:buNone/>
            </a:pPr>
            <a:r>
              <a:rPr sz="915">
                <a:solidFill>
                  <a:srgbClr val="0B1F54"/>
                </a:solidFill>
                <a:latin typeface="Arial" panose="020B0604020202020204" pitchFamily="34" charset="0"/>
                <a:ea typeface="Arial"/>
                <a:cs typeface="Arial" panose="020B0604020202020204" pitchFamily="34" charset="0"/>
              </a:rPr>
              <a:t>update</a:t>
            </a:r>
            <a:endParaRPr sz="110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64" name="Text 82">
            <a:extLst>
              <a:ext uri="{FF2B5EF4-FFF2-40B4-BE49-F238E27FC236}">
                <a16:creationId xmlns:a16="http://schemas.microsoft.com/office/drawing/2014/main" id="{62C4FF79-CA76-4756-88B1-B2E7A3E7481C}"/>
              </a:ext>
            </a:extLst>
          </p:cNvPr>
          <p:cNvSpPr>
            <a:spLocks noGrp="1"/>
          </p:cNvSpPr>
          <p:nvPr/>
        </p:nvSpPr>
        <p:spPr>
          <a:xfrm>
            <a:off x="4665193" y="4546955"/>
            <a:ext cx="254507" cy="164591"/>
          </a:xfrm>
          <a:prstGeom prst="rect">
            <a:avLst/>
          </a:prstGeom>
          <a:noFill/>
        </p:spPr>
        <p:txBody>
          <a:bodyPr wrap="square" lIns="19050" tIns="19050" rIns="19050" bIns="19050" anchor="ctr">
            <a:noAutofit/>
          </a:bodyPr>
          <a:lstStyle/>
          <a:p>
            <a:pPr marL="0" indent="0" algn="ctr">
              <a:buNone/>
            </a:pPr>
            <a:r>
              <a:rPr sz="1600">
                <a:solidFill>
                  <a:srgbClr val="087A62"/>
                </a:solidFill>
                <a:latin typeface="Arial" panose="020B0604020202020204" pitchFamily="34" charset="0"/>
                <a:ea typeface="Arial"/>
                <a:cs typeface="Arial" panose="020B0604020202020204" pitchFamily="34" charset="0"/>
              </a:rPr>
              <a:t>...</a:t>
            </a:r>
            <a:endParaRPr sz="160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65" name="Text 89">
            <a:extLst>
              <a:ext uri="{FF2B5EF4-FFF2-40B4-BE49-F238E27FC236}">
                <a16:creationId xmlns:a16="http://schemas.microsoft.com/office/drawing/2014/main" id="{D3B42C06-8723-46B9-ABFE-C54E2208591C}"/>
              </a:ext>
            </a:extLst>
          </p:cNvPr>
          <p:cNvSpPr>
            <a:spLocks noGrp="1"/>
          </p:cNvSpPr>
          <p:nvPr/>
        </p:nvSpPr>
        <p:spPr>
          <a:xfrm>
            <a:off x="7215056" y="3296715"/>
            <a:ext cx="1428750" cy="285750"/>
          </a:xfrm>
          <a:prstGeom prst="rect">
            <a:avLst/>
          </a:prstGeom>
          <a:noFill/>
        </p:spPr>
        <p:txBody>
          <a:bodyPr wrap="square" lIns="19050" tIns="19050" rIns="19050" bIns="19050" anchor="ctr">
            <a:noAutofit/>
          </a:bodyPr>
          <a:lstStyle/>
          <a:p>
            <a:pPr marL="0" indent="0" algn="ctr">
              <a:buNone/>
            </a:pPr>
            <a:r>
              <a:rPr sz="1600" b="1">
                <a:solidFill>
                  <a:srgbClr val="0B1F54"/>
                </a:solidFill>
                <a:latin typeface="Arial" panose="020B0604020202020204" pitchFamily="34" charset="0"/>
                <a:ea typeface="Arial"/>
                <a:cs typeface="Arial" panose="020B0604020202020204" pitchFamily="34" charset="0"/>
              </a:rPr>
              <a:t>OUTPUTS</a:t>
            </a:r>
            <a:endParaRPr sz="160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66" name="Shape 90">
            <a:extLst>
              <a:ext uri="{FF2B5EF4-FFF2-40B4-BE49-F238E27FC236}">
                <a16:creationId xmlns:a16="http://schemas.microsoft.com/office/drawing/2014/main" id="{77015399-D870-412C-8753-649BB4225EBB}"/>
              </a:ext>
            </a:extLst>
          </p:cNvPr>
          <p:cNvSpPr>
            <a:spLocks noGrp="1"/>
          </p:cNvSpPr>
          <p:nvPr/>
        </p:nvSpPr>
        <p:spPr>
          <a:xfrm>
            <a:off x="7251233" y="3598474"/>
            <a:ext cx="1324838" cy="919754"/>
          </a:xfrm>
          <a:prstGeom prst="roundRect">
            <a:avLst/>
          </a:prstGeom>
          <a:solidFill>
            <a:srgbClr val="FFFFFF">
              <a:alpha val="0"/>
            </a:srgbClr>
          </a:solidFill>
          <a:ln w="12700">
            <a:solidFill>
              <a:srgbClr val="5B3BB5"/>
            </a:solidFill>
            <a:prstDash val="solid"/>
          </a:ln>
        </p:spPr>
      </p:sp>
      <p:sp>
        <p:nvSpPr>
          <p:cNvPr id="267" name="Text 92">
            <a:extLst>
              <a:ext uri="{FF2B5EF4-FFF2-40B4-BE49-F238E27FC236}">
                <a16:creationId xmlns:a16="http://schemas.microsoft.com/office/drawing/2014/main" id="{51FCACC8-9C64-46FB-B0CA-041B07A2E8A5}"/>
              </a:ext>
            </a:extLst>
          </p:cNvPr>
          <p:cNvSpPr>
            <a:spLocks noGrp="1"/>
          </p:cNvSpPr>
          <p:nvPr/>
        </p:nvSpPr>
        <p:spPr>
          <a:xfrm>
            <a:off x="7329356" y="3644695"/>
            <a:ext cx="1190625" cy="333375"/>
          </a:xfrm>
          <a:prstGeom prst="rect">
            <a:avLst/>
          </a:prstGeom>
          <a:noFill/>
        </p:spPr>
        <p:txBody>
          <a:bodyPr wrap="square" lIns="19050" tIns="19050" rIns="19050" bIns="19050" anchor="ctr">
            <a:noAutofit/>
          </a:bodyPr>
          <a:lstStyle/>
          <a:p>
            <a:pPr marL="0" indent="0" algn="ctr">
              <a:buNone/>
            </a:pPr>
            <a:r>
              <a:rPr sz="1013" b="1">
                <a:solidFill>
                  <a:srgbClr val="0B1F54"/>
                </a:solidFill>
                <a:latin typeface="Arial" panose="020B0604020202020204" pitchFamily="34" charset="0"/>
                <a:ea typeface="Arial"/>
                <a:cs typeface="Arial" panose="020B0604020202020204" pitchFamily="34" charset="0"/>
              </a:rPr>
              <a:t>Task-specific</a:t>
            </a:r>
            <a:endParaRPr sz="120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 algn="ctr">
              <a:buNone/>
            </a:pPr>
            <a:r>
              <a:rPr sz="1013" b="1">
                <a:solidFill>
                  <a:srgbClr val="0B1F54"/>
                </a:solidFill>
                <a:latin typeface="Arial" panose="020B0604020202020204" pitchFamily="34" charset="0"/>
                <a:ea typeface="Arial"/>
                <a:cs typeface="Arial" panose="020B0604020202020204" pitchFamily="34" charset="0"/>
              </a:rPr>
              <a:t>fitted models</a:t>
            </a:r>
            <a:endParaRPr sz="120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68" name="Shape 93">
            <a:extLst>
              <a:ext uri="{FF2B5EF4-FFF2-40B4-BE49-F238E27FC236}">
                <a16:creationId xmlns:a16="http://schemas.microsoft.com/office/drawing/2014/main" id="{BF615766-BEB5-40DF-B7EB-9A9C26E24020}"/>
              </a:ext>
            </a:extLst>
          </p:cNvPr>
          <p:cNvSpPr>
            <a:spLocks noGrp="1"/>
          </p:cNvSpPr>
          <p:nvPr/>
        </p:nvSpPr>
        <p:spPr>
          <a:xfrm>
            <a:off x="7266844" y="4591160"/>
            <a:ext cx="1293616" cy="1909817"/>
          </a:xfrm>
          <a:prstGeom prst="roundRect">
            <a:avLst/>
          </a:prstGeom>
          <a:solidFill>
            <a:srgbClr val="FFFFFF">
              <a:alpha val="0"/>
            </a:srgbClr>
          </a:solidFill>
          <a:ln w="12700">
            <a:solidFill>
              <a:srgbClr val="5B3BB5"/>
            </a:solidFill>
            <a:prstDash val="solid"/>
          </a:ln>
        </p:spPr>
      </p:sp>
      <p:sp>
        <p:nvSpPr>
          <p:cNvPr id="269" name="Text 94">
            <a:extLst>
              <a:ext uri="{FF2B5EF4-FFF2-40B4-BE49-F238E27FC236}">
                <a16:creationId xmlns:a16="http://schemas.microsoft.com/office/drawing/2014/main" id="{BBB322B2-BF55-427E-9005-E66BC940DA46}"/>
              </a:ext>
            </a:extLst>
          </p:cNvPr>
          <p:cNvSpPr>
            <a:spLocks noGrp="1"/>
          </p:cNvSpPr>
          <p:nvPr/>
        </p:nvSpPr>
        <p:spPr>
          <a:xfrm>
            <a:off x="7310306" y="4616880"/>
            <a:ext cx="1238250" cy="495300"/>
          </a:xfrm>
          <a:prstGeom prst="rect">
            <a:avLst/>
          </a:prstGeom>
          <a:noFill/>
        </p:spPr>
        <p:txBody>
          <a:bodyPr wrap="square" lIns="19050" tIns="19050" rIns="19050" bIns="19050" anchor="ctr">
            <a:noAutofit/>
          </a:bodyPr>
          <a:lstStyle/>
          <a:p>
            <a:pPr marL="0" indent="0" algn="ctr">
              <a:buNone/>
            </a:pPr>
            <a:r>
              <a:rPr sz="1013" b="1">
                <a:solidFill>
                  <a:srgbClr val="0B1F54"/>
                </a:solidFill>
                <a:latin typeface="Arial" panose="020B0604020202020204" pitchFamily="34" charset="0"/>
                <a:ea typeface="Arial"/>
                <a:cs typeface="Arial" panose="020B0604020202020204" pitchFamily="34" charset="0"/>
              </a:rPr>
              <a:t>Reusable</a:t>
            </a:r>
            <a:endParaRPr sz="140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 algn="ctr">
              <a:buNone/>
            </a:pPr>
            <a:r>
              <a:rPr sz="1013" b="1">
                <a:solidFill>
                  <a:srgbClr val="0B1F54"/>
                </a:solidFill>
                <a:latin typeface="Arial" panose="020B0604020202020204" pitchFamily="34" charset="0"/>
                <a:ea typeface="Arial"/>
                <a:cs typeface="Arial" panose="020B0604020202020204" pitchFamily="34" charset="0"/>
              </a:rPr>
              <a:t>computational</a:t>
            </a:r>
            <a:endParaRPr sz="140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 algn="ctr">
              <a:buNone/>
            </a:pPr>
            <a:r>
              <a:rPr sz="1013" b="1">
                <a:solidFill>
                  <a:srgbClr val="0B1F54"/>
                </a:solidFill>
                <a:latin typeface="Arial" panose="020B0604020202020204" pitchFamily="34" charset="0"/>
                <a:ea typeface="Arial"/>
                <a:cs typeface="Arial" panose="020B0604020202020204" pitchFamily="34" charset="0"/>
              </a:rPr>
              <a:t>solutions</a:t>
            </a:r>
            <a:endParaRPr sz="140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70" name="Shape 95">
            <a:extLst>
              <a:ext uri="{FF2B5EF4-FFF2-40B4-BE49-F238E27FC236}">
                <a16:creationId xmlns:a16="http://schemas.microsoft.com/office/drawing/2014/main" id="{8ED46B75-3DF9-488C-9A85-3DFCB05A12A1}"/>
              </a:ext>
            </a:extLst>
          </p:cNvPr>
          <p:cNvSpPr>
            <a:spLocks noGrp="1"/>
          </p:cNvSpPr>
          <p:nvPr/>
        </p:nvSpPr>
        <p:spPr>
          <a:xfrm>
            <a:off x="7374156" y="5143623"/>
            <a:ext cx="1078992" cy="364662"/>
          </a:xfrm>
          <a:prstGeom prst="roundRect">
            <a:avLst/>
          </a:prstGeom>
          <a:solidFill>
            <a:srgbClr val="FFFFFF">
              <a:alpha val="0"/>
            </a:srgbClr>
          </a:solidFill>
          <a:ln w="10160">
            <a:solidFill>
              <a:srgbClr val="2E73B8"/>
            </a:solidFill>
            <a:prstDash val="solid"/>
          </a:ln>
        </p:spPr>
      </p:sp>
      <p:sp>
        <p:nvSpPr>
          <p:cNvPr id="271" name="Text 97">
            <a:extLst>
              <a:ext uri="{FF2B5EF4-FFF2-40B4-BE49-F238E27FC236}">
                <a16:creationId xmlns:a16="http://schemas.microsoft.com/office/drawing/2014/main" id="{883899FB-651F-43DC-9CDD-D2B68E7C64A3}"/>
              </a:ext>
            </a:extLst>
          </p:cNvPr>
          <p:cNvSpPr>
            <a:spLocks noGrp="1"/>
          </p:cNvSpPr>
          <p:nvPr/>
        </p:nvSpPr>
        <p:spPr>
          <a:xfrm>
            <a:off x="7738931" y="5219495"/>
            <a:ext cx="742950" cy="219075"/>
          </a:xfrm>
          <a:prstGeom prst="rect">
            <a:avLst/>
          </a:prstGeom>
          <a:noFill/>
        </p:spPr>
        <p:txBody>
          <a:bodyPr wrap="square" lIns="19050" tIns="19050" rIns="19050" bIns="19050" anchor="ctr">
            <a:noAutofit/>
          </a:bodyPr>
          <a:lstStyle/>
          <a:p>
            <a:pPr marL="0" indent="0" algn="l">
              <a:buNone/>
            </a:pPr>
            <a:r>
              <a:rPr sz="1125">
                <a:solidFill>
                  <a:srgbClr val="0B1F54"/>
                </a:solidFill>
                <a:latin typeface="Arial" panose="020B0604020202020204" pitchFamily="34" charset="0"/>
                <a:ea typeface="Arial"/>
                <a:cs typeface="Arial" panose="020B0604020202020204" pitchFamily="34" charset="0"/>
              </a:rPr>
              <a:t>Designs</a:t>
            </a:r>
            <a:endParaRPr sz="120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72" name="Shape 98">
            <a:extLst>
              <a:ext uri="{FF2B5EF4-FFF2-40B4-BE49-F238E27FC236}">
                <a16:creationId xmlns:a16="http://schemas.microsoft.com/office/drawing/2014/main" id="{D797D9D7-C263-4632-98E0-1A1EED988D65}"/>
              </a:ext>
            </a:extLst>
          </p:cNvPr>
          <p:cNvSpPr>
            <a:spLocks noGrp="1"/>
          </p:cNvSpPr>
          <p:nvPr/>
        </p:nvSpPr>
        <p:spPr>
          <a:xfrm>
            <a:off x="7374156" y="5594163"/>
            <a:ext cx="1078991" cy="359048"/>
          </a:xfrm>
          <a:prstGeom prst="roundRect">
            <a:avLst/>
          </a:prstGeom>
          <a:solidFill>
            <a:srgbClr val="FFFFFF">
              <a:alpha val="0"/>
            </a:srgbClr>
          </a:solidFill>
          <a:ln w="10160">
            <a:solidFill>
              <a:srgbClr val="2E73B8"/>
            </a:solidFill>
            <a:prstDash val="solid"/>
          </a:ln>
        </p:spPr>
      </p:sp>
      <p:sp>
        <p:nvSpPr>
          <p:cNvPr id="273" name="Text 100">
            <a:extLst>
              <a:ext uri="{FF2B5EF4-FFF2-40B4-BE49-F238E27FC236}">
                <a16:creationId xmlns:a16="http://schemas.microsoft.com/office/drawing/2014/main" id="{58C8C020-AA13-40D5-8DEE-C97786E4BBCE}"/>
              </a:ext>
            </a:extLst>
          </p:cNvPr>
          <p:cNvSpPr>
            <a:spLocks noGrp="1"/>
          </p:cNvSpPr>
          <p:nvPr/>
        </p:nvSpPr>
        <p:spPr>
          <a:xfrm>
            <a:off x="7738931" y="5658915"/>
            <a:ext cx="742950" cy="219075"/>
          </a:xfrm>
          <a:prstGeom prst="rect">
            <a:avLst/>
          </a:prstGeom>
          <a:noFill/>
        </p:spPr>
        <p:txBody>
          <a:bodyPr wrap="square" lIns="19050" tIns="19050" rIns="19050" bIns="19050" anchor="ctr">
            <a:noAutofit/>
          </a:bodyPr>
          <a:lstStyle/>
          <a:p>
            <a:pPr marL="0" indent="0" algn="l">
              <a:buNone/>
            </a:pPr>
            <a:r>
              <a:rPr sz="1125">
                <a:solidFill>
                  <a:srgbClr val="0B1F54"/>
                </a:solidFill>
                <a:latin typeface="Arial" panose="020B0604020202020204" pitchFamily="34" charset="0"/>
                <a:ea typeface="Arial"/>
                <a:cs typeface="Arial" panose="020B0604020202020204" pitchFamily="34" charset="0"/>
              </a:rPr>
              <a:t>Programs</a:t>
            </a:r>
            <a:endParaRPr sz="120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74" name="Shape 101">
            <a:extLst>
              <a:ext uri="{FF2B5EF4-FFF2-40B4-BE49-F238E27FC236}">
                <a16:creationId xmlns:a16="http://schemas.microsoft.com/office/drawing/2014/main" id="{AA615A65-DB22-41FF-B8E1-BEA6C9C5F763}"/>
              </a:ext>
            </a:extLst>
          </p:cNvPr>
          <p:cNvSpPr>
            <a:spLocks noGrp="1"/>
          </p:cNvSpPr>
          <p:nvPr/>
        </p:nvSpPr>
        <p:spPr>
          <a:xfrm>
            <a:off x="7374156" y="6037862"/>
            <a:ext cx="1078991" cy="364662"/>
          </a:xfrm>
          <a:prstGeom prst="roundRect">
            <a:avLst/>
          </a:prstGeom>
          <a:solidFill>
            <a:srgbClr val="FFFFFF">
              <a:alpha val="0"/>
            </a:srgbClr>
          </a:solidFill>
          <a:ln w="10160">
            <a:solidFill>
              <a:srgbClr val="2E73B8"/>
            </a:solidFill>
            <a:prstDash val="solid"/>
          </a:ln>
        </p:spPr>
      </p:sp>
      <p:sp>
        <p:nvSpPr>
          <p:cNvPr id="275" name="Text 103">
            <a:extLst>
              <a:ext uri="{FF2B5EF4-FFF2-40B4-BE49-F238E27FC236}">
                <a16:creationId xmlns:a16="http://schemas.microsoft.com/office/drawing/2014/main" id="{C1B763C1-275B-4DF6-8904-6C2D2DE7EBA7}"/>
              </a:ext>
            </a:extLst>
          </p:cNvPr>
          <p:cNvSpPr>
            <a:spLocks noGrp="1"/>
          </p:cNvSpPr>
          <p:nvPr/>
        </p:nvSpPr>
        <p:spPr>
          <a:xfrm>
            <a:off x="7738931" y="6112305"/>
            <a:ext cx="742950" cy="219075"/>
          </a:xfrm>
          <a:prstGeom prst="rect">
            <a:avLst/>
          </a:prstGeom>
          <a:noFill/>
        </p:spPr>
        <p:txBody>
          <a:bodyPr wrap="square" lIns="19050" tIns="19050" rIns="19050" bIns="19050" anchor="ctr">
            <a:noAutofit/>
          </a:bodyPr>
          <a:lstStyle/>
          <a:p>
            <a:pPr marL="0" indent="0" algn="l">
              <a:buNone/>
            </a:pPr>
            <a:r>
              <a:rPr sz="1125">
                <a:solidFill>
                  <a:srgbClr val="0B1F54"/>
                </a:solidFill>
                <a:latin typeface="Arial" panose="020B0604020202020204" pitchFamily="34" charset="0"/>
                <a:ea typeface="Arial"/>
                <a:cs typeface="Arial" panose="020B0604020202020204" pitchFamily="34" charset="0"/>
              </a:rPr>
              <a:t>Policies</a:t>
            </a:r>
            <a:endParaRPr sz="120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76" name="Shape 104">
            <a:extLst>
              <a:ext uri="{FF2B5EF4-FFF2-40B4-BE49-F238E27FC236}">
                <a16:creationId xmlns:a16="http://schemas.microsoft.com/office/drawing/2014/main" id="{0D89FCD9-6679-43EA-892E-B634FE446843}"/>
              </a:ext>
            </a:extLst>
          </p:cNvPr>
          <p:cNvSpPr>
            <a:spLocks noGrp="1"/>
          </p:cNvSpPr>
          <p:nvPr/>
        </p:nvSpPr>
        <p:spPr>
          <a:xfrm>
            <a:off x="136926" y="5487869"/>
            <a:ext cx="6956140" cy="1107665"/>
          </a:xfrm>
          <a:prstGeom prst="roundRect">
            <a:avLst/>
          </a:prstGeom>
          <a:solidFill>
            <a:srgbClr val="FFFFFF">
              <a:alpha val="0"/>
            </a:srgbClr>
          </a:solidFill>
          <a:ln w="22860">
            <a:solidFill>
              <a:srgbClr val="0A51A1"/>
            </a:solidFill>
            <a:prstDash val="solid"/>
          </a:ln>
        </p:spPr>
        <p:txBody>
          <a:bodyPr/>
          <a:lstStyle/>
          <a:p>
            <a:endParaRPr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77" name="Text 105">
            <a:extLst>
              <a:ext uri="{FF2B5EF4-FFF2-40B4-BE49-F238E27FC236}">
                <a16:creationId xmlns:a16="http://schemas.microsoft.com/office/drawing/2014/main" id="{257DA8B5-7E92-456C-B110-A4D39106EB35}"/>
              </a:ext>
            </a:extLst>
          </p:cNvPr>
          <p:cNvSpPr>
            <a:spLocks noGrp="1"/>
          </p:cNvSpPr>
          <p:nvPr/>
        </p:nvSpPr>
        <p:spPr>
          <a:xfrm>
            <a:off x="294770" y="5496985"/>
            <a:ext cx="4762500" cy="285750"/>
          </a:xfrm>
          <a:prstGeom prst="rect">
            <a:avLst/>
          </a:prstGeom>
          <a:noFill/>
        </p:spPr>
        <p:txBody>
          <a:bodyPr wrap="square" lIns="19050" tIns="19050" rIns="19050" bIns="19050" anchor="ctr">
            <a:noAutofit/>
          </a:bodyPr>
          <a:lstStyle/>
          <a:p>
            <a:pPr marL="0" indent="0" algn="l">
              <a:buNone/>
            </a:pPr>
            <a:r>
              <a:rPr sz="1500" b="1">
                <a:solidFill>
                  <a:srgbClr val="0B1F54"/>
                </a:solidFill>
                <a:latin typeface="Arial" panose="020B0604020202020204" pitchFamily="34" charset="0"/>
                <a:ea typeface="Arial"/>
                <a:cs typeface="Arial" panose="020B0604020202020204" pitchFamily="34" charset="0"/>
              </a:rPr>
              <a:t>BIOLOGICAL VALIDATION SETTINGS</a:t>
            </a:r>
            <a:endParaRPr sz="160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78" name="Shape 106">
            <a:extLst>
              <a:ext uri="{FF2B5EF4-FFF2-40B4-BE49-F238E27FC236}">
                <a16:creationId xmlns:a16="http://schemas.microsoft.com/office/drawing/2014/main" id="{BDE721D5-6938-48C3-BF01-6AFBC24558B2}"/>
              </a:ext>
            </a:extLst>
          </p:cNvPr>
          <p:cNvSpPr>
            <a:spLocks noGrp="1"/>
          </p:cNvSpPr>
          <p:nvPr/>
        </p:nvSpPr>
        <p:spPr>
          <a:xfrm>
            <a:off x="191379" y="5788803"/>
            <a:ext cx="2147230" cy="705824"/>
          </a:xfrm>
          <a:prstGeom prst="roundRect">
            <a:avLst/>
          </a:prstGeom>
          <a:solidFill>
            <a:srgbClr val="FFFFFF">
              <a:alpha val="0"/>
            </a:srgbClr>
          </a:solidFill>
          <a:ln w="11430">
            <a:solidFill>
              <a:srgbClr val="2E73B8"/>
            </a:solidFill>
            <a:prstDash val="solid"/>
          </a:ln>
        </p:spPr>
      </p:sp>
      <p:sp>
        <p:nvSpPr>
          <p:cNvPr id="279" name="Shape 110">
            <a:extLst>
              <a:ext uri="{FF2B5EF4-FFF2-40B4-BE49-F238E27FC236}">
                <a16:creationId xmlns:a16="http://schemas.microsoft.com/office/drawing/2014/main" id="{6F584AEA-2E59-4C5B-BA71-473003038739}"/>
              </a:ext>
            </a:extLst>
          </p:cNvPr>
          <p:cNvSpPr>
            <a:spLocks noGrp="1"/>
          </p:cNvSpPr>
          <p:nvPr/>
        </p:nvSpPr>
        <p:spPr>
          <a:xfrm>
            <a:off x="2494058" y="5788803"/>
            <a:ext cx="2221239" cy="705824"/>
          </a:xfrm>
          <a:prstGeom prst="roundRect">
            <a:avLst/>
          </a:prstGeom>
          <a:solidFill>
            <a:srgbClr val="FFFFFF">
              <a:alpha val="0"/>
            </a:srgbClr>
          </a:solidFill>
          <a:ln w="11430">
            <a:solidFill>
              <a:srgbClr val="2E73B8"/>
            </a:solidFill>
            <a:prstDash val="solid"/>
          </a:ln>
        </p:spPr>
      </p:sp>
      <p:sp>
        <p:nvSpPr>
          <p:cNvPr id="280" name="Shape 114">
            <a:extLst>
              <a:ext uri="{FF2B5EF4-FFF2-40B4-BE49-F238E27FC236}">
                <a16:creationId xmlns:a16="http://schemas.microsoft.com/office/drawing/2014/main" id="{750AAECE-566C-4A07-B374-17546C7A1DA2}"/>
              </a:ext>
            </a:extLst>
          </p:cNvPr>
          <p:cNvSpPr>
            <a:spLocks noGrp="1"/>
          </p:cNvSpPr>
          <p:nvPr/>
        </p:nvSpPr>
        <p:spPr>
          <a:xfrm>
            <a:off x="4806736" y="5788803"/>
            <a:ext cx="2237386" cy="705824"/>
          </a:xfrm>
          <a:prstGeom prst="roundRect">
            <a:avLst/>
          </a:prstGeom>
          <a:solidFill>
            <a:srgbClr val="FFFFFF">
              <a:alpha val="0"/>
            </a:srgbClr>
          </a:solidFill>
          <a:ln w="11430">
            <a:solidFill>
              <a:srgbClr val="2E73B8"/>
            </a:solidFill>
            <a:prstDash val="solid"/>
          </a:ln>
        </p:spPr>
      </p:sp>
      <p:sp>
        <p:nvSpPr>
          <p:cNvPr id="281" name="Text 117">
            <a:extLst>
              <a:ext uri="{FF2B5EF4-FFF2-40B4-BE49-F238E27FC236}">
                <a16:creationId xmlns:a16="http://schemas.microsoft.com/office/drawing/2014/main" id="{D93030D5-7B44-40AB-B0BF-7486AACEE9CA}"/>
              </a:ext>
            </a:extLst>
          </p:cNvPr>
          <p:cNvSpPr>
            <a:spLocks noGrp="1"/>
          </p:cNvSpPr>
          <p:nvPr/>
        </p:nvSpPr>
        <p:spPr>
          <a:xfrm>
            <a:off x="5264687" y="6049440"/>
            <a:ext cx="1892799" cy="419100"/>
          </a:xfrm>
          <a:prstGeom prst="rect">
            <a:avLst/>
          </a:prstGeom>
          <a:noFill/>
        </p:spPr>
        <p:txBody>
          <a:bodyPr wrap="square" lIns="19050" tIns="19050" rIns="19050" bIns="19050" anchor="ctr">
            <a:noAutofit/>
          </a:bodyPr>
          <a:lstStyle/>
          <a:p>
            <a:pPr marL="0" indent="0" algn="l">
              <a:buNone/>
            </a:pPr>
            <a:r>
              <a:rPr lang="en-US" sz="900" b="1">
                <a:solidFill>
                  <a:srgbClr val="0A51A1"/>
                </a:solidFill>
                <a:latin typeface="Arial" panose="020B0604020202020204" pitchFamily="34" charset="0"/>
                <a:ea typeface="Arial"/>
                <a:cs typeface="Arial" panose="020B0604020202020204" pitchFamily="34" charset="0"/>
              </a:rPr>
              <a:t>Input: </a:t>
            </a:r>
            <a:r>
              <a:rPr lang="en-US" sz="900">
                <a:solidFill>
                  <a:srgbClr val="0A51A1"/>
                </a:solidFill>
                <a:latin typeface="Arial" panose="020B0604020202020204" pitchFamily="34" charset="0"/>
                <a:ea typeface="Arial"/>
                <a:cs typeface="Arial" panose="020B0604020202020204" pitchFamily="34" charset="0"/>
              </a:rPr>
              <a:t>expression response profile</a:t>
            </a:r>
            <a:endParaRPr sz="900">
              <a:solidFill>
                <a:srgbClr val="0A51A1"/>
              </a:solidFill>
              <a:latin typeface="Arial" panose="020B0604020202020204" pitchFamily="34" charset="0"/>
              <a:ea typeface="Arial"/>
              <a:cs typeface="Arial" panose="020B0604020202020204" pitchFamily="34" charset="0"/>
            </a:endParaRPr>
          </a:p>
          <a:p>
            <a:pPr marL="0" indent="0" algn="l">
              <a:buNone/>
            </a:pPr>
            <a:r>
              <a:rPr lang="en-US" sz="900" b="1">
                <a:solidFill>
                  <a:srgbClr val="0A51A1"/>
                </a:solidFill>
                <a:latin typeface="Arial" panose="020B0604020202020204" pitchFamily="34" charset="0"/>
                <a:ea typeface="Arial"/>
                <a:cs typeface="Arial" panose="020B0604020202020204" pitchFamily="34" charset="0"/>
              </a:rPr>
              <a:t>Output: </a:t>
            </a:r>
            <a:r>
              <a:rPr lang="en-US" sz="900">
                <a:solidFill>
                  <a:srgbClr val="0A51A1"/>
                </a:solidFill>
                <a:latin typeface="Arial" panose="020B0604020202020204" pitchFamily="34" charset="0"/>
                <a:ea typeface="Arial"/>
                <a:cs typeface="Arial" panose="020B0604020202020204" pitchFamily="34" charset="0"/>
              </a:rPr>
              <a:t>perturbation identity</a:t>
            </a:r>
            <a:endParaRPr sz="90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282" name="图片 120">
            <a:extLst>
              <a:ext uri="{FF2B5EF4-FFF2-40B4-BE49-F238E27FC236}">
                <a16:creationId xmlns:a16="http://schemas.microsoft.com/office/drawing/2014/main" id="{10ABC3C3-1B22-4FFB-B972-564A06AAC63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17146" y="1981143"/>
            <a:ext cx="595250" cy="441638"/>
          </a:xfrm>
          <a:prstGeom prst="rect">
            <a:avLst/>
          </a:prstGeom>
        </p:spPr>
      </p:pic>
      <p:pic>
        <p:nvPicPr>
          <p:cNvPr id="283" name="图片 151">
            <a:extLst>
              <a:ext uri="{FF2B5EF4-FFF2-40B4-BE49-F238E27FC236}">
                <a16:creationId xmlns:a16="http://schemas.microsoft.com/office/drawing/2014/main" id="{1DE89714-9519-4499-957A-A00EBDF0E10C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017854" y="4320150"/>
            <a:ext cx="378318" cy="513432"/>
          </a:xfrm>
          <a:prstGeom prst="rect">
            <a:avLst/>
          </a:prstGeom>
        </p:spPr>
      </p:pic>
      <p:pic>
        <p:nvPicPr>
          <p:cNvPr id="284" name="图片 155">
            <a:extLst>
              <a:ext uri="{FF2B5EF4-FFF2-40B4-BE49-F238E27FC236}">
                <a16:creationId xmlns:a16="http://schemas.microsoft.com/office/drawing/2014/main" id="{2892581F-10A9-4728-B7B7-73F122496C37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78058" y="4355098"/>
            <a:ext cx="352567" cy="478484"/>
          </a:xfrm>
          <a:prstGeom prst="rect">
            <a:avLst/>
          </a:prstGeom>
        </p:spPr>
      </p:pic>
      <p:pic>
        <p:nvPicPr>
          <p:cNvPr id="285" name="图片 157">
            <a:extLst>
              <a:ext uri="{FF2B5EF4-FFF2-40B4-BE49-F238E27FC236}">
                <a16:creationId xmlns:a16="http://schemas.microsoft.com/office/drawing/2014/main" id="{02069D91-4524-433F-9D09-014E3DBA9B2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71054" y="4440201"/>
            <a:ext cx="517400" cy="378099"/>
          </a:xfrm>
          <a:prstGeom prst="rect">
            <a:avLst/>
          </a:prstGeom>
        </p:spPr>
      </p:pic>
      <p:pic>
        <p:nvPicPr>
          <p:cNvPr id="286" name="图片 161">
            <a:extLst>
              <a:ext uri="{FF2B5EF4-FFF2-40B4-BE49-F238E27FC236}">
                <a16:creationId xmlns:a16="http://schemas.microsoft.com/office/drawing/2014/main" id="{E2861DEA-EEEE-440D-83BA-77C7F2CBBB4A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997498" y="4439350"/>
            <a:ext cx="356063" cy="379801"/>
          </a:xfrm>
          <a:prstGeom prst="rect">
            <a:avLst/>
          </a:prstGeom>
        </p:spPr>
      </p:pic>
      <p:pic>
        <p:nvPicPr>
          <p:cNvPr id="287" name="图片 163">
            <a:extLst>
              <a:ext uri="{FF2B5EF4-FFF2-40B4-BE49-F238E27FC236}">
                <a16:creationId xmlns:a16="http://schemas.microsoft.com/office/drawing/2014/main" id="{914C51FD-F717-4441-9ED8-4D50924D4848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503310" y="4424918"/>
            <a:ext cx="383122" cy="408664"/>
          </a:xfrm>
          <a:prstGeom prst="rect">
            <a:avLst/>
          </a:prstGeom>
        </p:spPr>
      </p:pic>
      <p:pic>
        <p:nvPicPr>
          <p:cNvPr id="289" name="图片 167">
            <a:extLst>
              <a:ext uri="{FF2B5EF4-FFF2-40B4-BE49-F238E27FC236}">
                <a16:creationId xmlns:a16="http://schemas.microsoft.com/office/drawing/2014/main" id="{1379DE69-30A6-46B3-8E55-66746392CACE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211982" y="3276031"/>
            <a:ext cx="628827" cy="564331"/>
          </a:xfrm>
          <a:prstGeom prst="rect">
            <a:avLst/>
          </a:prstGeom>
        </p:spPr>
      </p:pic>
      <p:pic>
        <p:nvPicPr>
          <p:cNvPr id="290" name="图片 169">
            <a:extLst>
              <a:ext uri="{FF2B5EF4-FFF2-40B4-BE49-F238E27FC236}">
                <a16:creationId xmlns:a16="http://schemas.microsoft.com/office/drawing/2014/main" id="{9CFAA33C-73BD-4E1E-AED1-2B1A01BD68C2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7514806" y="3977783"/>
            <a:ext cx="797692" cy="495394"/>
          </a:xfrm>
          <a:prstGeom prst="rect">
            <a:avLst/>
          </a:prstGeom>
        </p:spPr>
      </p:pic>
      <p:pic>
        <p:nvPicPr>
          <p:cNvPr id="291" name="图片 171">
            <a:extLst>
              <a:ext uri="{FF2B5EF4-FFF2-40B4-BE49-F238E27FC236}">
                <a16:creationId xmlns:a16="http://schemas.microsoft.com/office/drawing/2014/main" id="{54E84EE5-3534-4E7C-AC84-F7657C00A7D9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7456380" y="5222178"/>
            <a:ext cx="217756" cy="212860"/>
          </a:xfrm>
          <a:prstGeom prst="rect">
            <a:avLst/>
          </a:prstGeom>
        </p:spPr>
      </p:pic>
      <p:pic>
        <p:nvPicPr>
          <p:cNvPr id="292" name="图片 173">
            <a:extLst>
              <a:ext uri="{FF2B5EF4-FFF2-40B4-BE49-F238E27FC236}">
                <a16:creationId xmlns:a16="http://schemas.microsoft.com/office/drawing/2014/main" id="{A20213D5-CBF2-4DDE-BA71-863247AFF5D4}"/>
              </a:ext>
            </a:extLst>
          </p:cNvPr>
          <p:cNvPicPr>
            <a:picLocks noChangeAspect="1"/>
          </p:cNvPicPr>
          <p:nvPr/>
        </p:nvPicPr>
        <p:blipFill>
          <a:blip r:embed="rId10"/>
          <a:srcRect l="13028" t="1900" r="10668" b="13890"/>
          <a:stretch>
            <a:fillRect/>
          </a:stretch>
        </p:blipFill>
        <p:spPr>
          <a:xfrm>
            <a:off x="7420856" y="5670347"/>
            <a:ext cx="288803" cy="189721"/>
          </a:xfrm>
          <a:prstGeom prst="rect">
            <a:avLst/>
          </a:prstGeom>
        </p:spPr>
      </p:pic>
      <p:pic>
        <p:nvPicPr>
          <p:cNvPr id="293" name="图片 175">
            <a:extLst>
              <a:ext uri="{FF2B5EF4-FFF2-40B4-BE49-F238E27FC236}">
                <a16:creationId xmlns:a16="http://schemas.microsoft.com/office/drawing/2014/main" id="{6902FE4D-0840-4260-A576-D08BC2E4A4FD}"/>
              </a:ext>
            </a:extLst>
      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7451863" y="6116216"/>
            <a:ext cx="226788" cy="234608"/>
          </a:xfrm>
          <a:prstGeom prst="rect">
            <a:avLst/>
          </a:prstGeom>
        </p:spPr>
      </p:pic>
      <p:pic>
        <p:nvPicPr>
          <p:cNvPr id="294" name="图片 179">
            <a:extLst>
              <a:ext uri="{FF2B5EF4-FFF2-40B4-BE49-F238E27FC236}">
                <a16:creationId xmlns:a16="http://schemas.microsoft.com/office/drawing/2014/main" id="{9C689BBC-EE8E-457A-BC73-DB049FB13E14}"/>
              </a:ext>
            </a:extLst>
      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2544794" y="5897669"/>
            <a:ext cx="482278" cy="482278"/>
          </a:xfrm>
          <a:prstGeom prst="rect">
            <a:avLst/>
          </a:prstGeom>
        </p:spPr>
      </p:pic>
      <p:pic>
        <p:nvPicPr>
          <p:cNvPr id="295" name="图片 181">
            <a:extLst>
              <a:ext uri="{FF2B5EF4-FFF2-40B4-BE49-F238E27FC236}">
                <a16:creationId xmlns:a16="http://schemas.microsoft.com/office/drawing/2014/main" id="{84F65245-C782-496E-8CD9-865883F2C499}"/>
              </a:ext>
            </a:extLst>
      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4850975" y="5940141"/>
            <a:ext cx="394873" cy="419100"/>
          </a:xfrm>
          <a:prstGeom prst="rect">
            <a:avLst/>
          </a:prstGeom>
        </p:spPr>
      </p:pic>
      <p:sp>
        <p:nvSpPr>
          <p:cNvPr id="296" name="Text 112">
            <a:extLst>
              <a:ext uri="{FF2B5EF4-FFF2-40B4-BE49-F238E27FC236}">
                <a16:creationId xmlns:a16="http://schemas.microsoft.com/office/drawing/2014/main" id="{1DCD3B34-9ECC-42FC-9B7E-1DDD2650959D}"/>
              </a:ext>
            </a:extLst>
          </p:cNvPr>
          <p:cNvSpPr>
            <a:spLocks noGrp="1"/>
          </p:cNvSpPr>
          <p:nvPr/>
        </p:nvSpPr>
        <p:spPr>
          <a:xfrm>
            <a:off x="2974603" y="5838973"/>
            <a:ext cx="1790700" cy="247650"/>
          </a:xfrm>
          <a:prstGeom prst="rect">
            <a:avLst/>
          </a:prstGeom>
          <a:noFill/>
        </p:spPr>
        <p:txBody>
          <a:bodyPr wrap="square" lIns="19050" tIns="19050" rIns="19050" bIns="19050" anchor="ctr">
            <a:noAutofit/>
          </a:bodyPr>
          <a:lstStyle/>
          <a:p>
            <a:pPr marL="0" indent="0" algn="l">
              <a:buNone/>
            </a:pPr>
            <a:r>
              <a:rPr sz="1400" b="1">
                <a:solidFill>
                  <a:srgbClr val="0B1F54"/>
                </a:solidFill>
                <a:latin typeface="Arial" panose="020B0604020202020204" pitchFamily="34" charset="0"/>
                <a:ea typeface="Arial"/>
                <a:cs typeface="Arial" panose="020B0604020202020204" pitchFamily="34" charset="0"/>
              </a:rPr>
              <a:t>Proteomic efficacy</a:t>
            </a:r>
            <a:endParaRPr sz="140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97" name="Text 116">
            <a:extLst>
              <a:ext uri="{FF2B5EF4-FFF2-40B4-BE49-F238E27FC236}">
                <a16:creationId xmlns:a16="http://schemas.microsoft.com/office/drawing/2014/main" id="{9DA9CD98-14B4-4200-92D6-E552A36A4057}"/>
              </a:ext>
            </a:extLst>
          </p:cNvPr>
          <p:cNvSpPr>
            <a:spLocks noGrp="1"/>
          </p:cNvSpPr>
          <p:nvPr/>
        </p:nvSpPr>
        <p:spPr>
          <a:xfrm>
            <a:off x="5282360" y="5829386"/>
            <a:ext cx="1809750" cy="247650"/>
          </a:xfrm>
          <a:prstGeom prst="rect">
            <a:avLst/>
          </a:prstGeom>
          <a:noFill/>
        </p:spPr>
        <p:txBody>
          <a:bodyPr wrap="square" lIns="19050" tIns="19050" rIns="19050" bIns="19050" anchor="ctr">
            <a:noAutofit/>
          </a:bodyPr>
          <a:lstStyle/>
          <a:p>
            <a:pPr marL="0" indent="0" algn="l">
              <a:buNone/>
            </a:pPr>
            <a:r>
              <a:rPr sz="1400" b="1">
                <a:solidFill>
                  <a:srgbClr val="0B1F54"/>
                </a:solidFill>
                <a:latin typeface="Arial" panose="020B0604020202020204" pitchFamily="34" charset="0"/>
                <a:ea typeface="Arial"/>
                <a:cs typeface="Arial" panose="020B0604020202020204" pitchFamily="34" charset="0"/>
              </a:rPr>
              <a:t>Cell perturbations</a:t>
            </a:r>
            <a:endParaRPr sz="140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98" name="直接连接符 133">
            <a:extLst>
              <a:ext uri="{FF2B5EF4-FFF2-40B4-BE49-F238E27FC236}">
                <a16:creationId xmlns:a16="http://schemas.microsoft.com/office/drawing/2014/main" id="{8ED3CFD9-9887-43E0-AC85-10B3B56DC6B2}"/>
              </a:ext>
            </a:extLst>
          </p:cNvPr>
          <p:cNvSpPr>
            <a:spLocks noGrp="1"/>
          </p:cNvSpPr>
          <p:nvPr/>
        </p:nvSpPr>
        <p:spPr>
          <a:xfrm flipH="1" flipV="1">
            <a:off x="1658551" y="1305609"/>
            <a:ext cx="5674315" cy="10414"/>
          </a:xfrm>
          <a:prstGeom prst="line">
            <a:avLst/>
          </a:prstGeom>
          <a:ln w="19050">
            <a:solidFill>
              <a:schemeClr val="accent1"/>
            </a:solidFill>
            <a:prstDash val="dash"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sp>
      <p:sp>
        <p:nvSpPr>
          <p:cNvPr id="299" name="直接连接符 132">
            <a:extLst>
              <a:ext uri="{FF2B5EF4-FFF2-40B4-BE49-F238E27FC236}">
                <a16:creationId xmlns:a16="http://schemas.microsoft.com/office/drawing/2014/main" id="{9D52DA29-3BDD-4630-BF7B-6D8FFD74A653}"/>
              </a:ext>
            </a:extLst>
          </p:cNvPr>
          <p:cNvSpPr>
            <a:spLocks noGrp="1"/>
          </p:cNvSpPr>
          <p:nvPr/>
        </p:nvSpPr>
        <p:spPr>
          <a:xfrm flipV="1">
            <a:off x="7332866" y="1334829"/>
            <a:ext cx="0" cy="260604"/>
          </a:xfrm>
          <a:prstGeom prst="line">
            <a:avLst/>
          </a:prstGeom>
          <a:ln w="19050">
            <a:solidFill>
              <a:schemeClr val="accent1"/>
            </a:solidFill>
            <a:prstDash val="dash"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sp>
      <p:sp>
        <p:nvSpPr>
          <p:cNvPr id="300" name="直接连接符 136">
            <a:extLst>
              <a:ext uri="{FF2B5EF4-FFF2-40B4-BE49-F238E27FC236}">
                <a16:creationId xmlns:a16="http://schemas.microsoft.com/office/drawing/2014/main" id="{526A65C3-DFA8-4627-A5FF-4284D5BEADFF}"/>
              </a:ext>
            </a:extLst>
          </p:cNvPr>
          <p:cNvSpPr>
            <a:spLocks noGrp="1"/>
          </p:cNvSpPr>
          <p:nvPr/>
        </p:nvSpPr>
        <p:spPr>
          <a:xfrm flipV="1">
            <a:off x="1658551" y="1295789"/>
            <a:ext cx="0" cy="299644"/>
          </a:xfrm>
          <a:prstGeom prst="line">
            <a:avLst/>
          </a:prstGeom>
          <a:ln w="19050">
            <a:solidFill>
              <a:schemeClr val="accent1"/>
            </a:solidFill>
            <a:prstDash val="dash"/>
            <a:headEnd type="triangle" w="lg" len="lg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sp>
      <p:sp>
        <p:nvSpPr>
          <p:cNvPr id="301" name="Text 32">
            <a:extLst>
              <a:ext uri="{FF2B5EF4-FFF2-40B4-BE49-F238E27FC236}">
                <a16:creationId xmlns:a16="http://schemas.microsoft.com/office/drawing/2014/main" id="{520243C0-608C-4C51-93CB-676EAD9A347D}"/>
              </a:ext>
            </a:extLst>
          </p:cNvPr>
          <p:cNvSpPr>
            <a:spLocks noGrp="1"/>
          </p:cNvSpPr>
          <p:nvPr/>
        </p:nvSpPr>
        <p:spPr>
          <a:xfrm>
            <a:off x="3144925" y="1173300"/>
            <a:ext cx="2675902" cy="266700"/>
          </a:xfrm>
          <a:prstGeom prst="rect">
            <a:avLst/>
          </a:prstGeom>
          <a:solidFill>
            <a:srgbClr val="EFF5FB"/>
          </a:solidFill>
        </p:spPr>
        <p:txBody>
          <a:bodyPr wrap="square" lIns="19050" tIns="19050" rIns="19050" bIns="19050" anchor="ctr">
            <a:noAutofit/>
          </a:bodyPr>
          <a:lstStyle/>
          <a:p>
            <a:pPr marL="0" indent="0" algn="ctr">
              <a:buNone/>
            </a:pPr>
            <a:r>
              <a:rPr lang="en-US" sz="1275" i="1">
                <a:solidFill>
                  <a:srgbClr val="0A51A1"/>
                </a:solidFill>
                <a:latin typeface="Arial" panose="020B0604020202020204" pitchFamily="34" charset="0"/>
                <a:ea typeface="Arial"/>
                <a:cs typeface="Arial" panose="020B0604020202020204" pitchFamily="34" charset="0"/>
              </a:rPr>
              <a:t>Aggregated development evidence</a:t>
            </a:r>
            <a:endParaRPr sz="1400" i="1">
              <a:latin typeface="Arial" panose="020B0604020202020204" pitchFamily="34" charset="0"/>
              <a:ea typeface="Calibri"/>
              <a:cs typeface="Arial" panose="020B0604020202020204" pitchFamily="34" charset="0"/>
            </a:endParaRPr>
          </a:p>
        </p:txBody>
      </p:sp>
      <p:sp>
        <p:nvSpPr>
          <p:cNvPr id="302" name="Shape 82">
            <a:extLst>
              <a:ext uri="{FF2B5EF4-FFF2-40B4-BE49-F238E27FC236}">
                <a16:creationId xmlns:a16="http://schemas.microsoft.com/office/drawing/2014/main" id="{4150E594-9C74-4142-9A18-9D259B82A0D3}"/>
              </a:ext>
            </a:extLst>
          </p:cNvPr>
          <p:cNvSpPr>
            <a:spLocks noGrp="1"/>
          </p:cNvSpPr>
          <p:nvPr/>
        </p:nvSpPr>
        <p:spPr>
          <a:xfrm flipH="1">
            <a:off x="5312284" y="2593181"/>
            <a:ext cx="1005" cy="562619"/>
          </a:xfrm>
          <a:prstGeom prst="line">
            <a:avLst/>
          </a:prstGeom>
          <a:noFill/>
          <a:ln w="22860">
            <a:solidFill>
              <a:srgbClr val="276CA6"/>
            </a:solidFill>
            <a:prstDash val="solid"/>
            <a:headEnd type="none"/>
            <a:tailEnd type="triangle"/>
          </a:ln>
        </p:spPr>
      </p:sp>
      <p:sp>
        <p:nvSpPr>
          <p:cNvPr id="303" name="Shape 83">
            <a:extLst>
              <a:ext uri="{FF2B5EF4-FFF2-40B4-BE49-F238E27FC236}">
                <a16:creationId xmlns:a16="http://schemas.microsoft.com/office/drawing/2014/main" id="{F97B8EB5-0735-4571-87AE-853FBCDCB8EB}"/>
              </a:ext>
            </a:extLst>
          </p:cNvPr>
          <p:cNvSpPr>
            <a:spLocks noGrp="1"/>
          </p:cNvSpPr>
          <p:nvPr/>
        </p:nvSpPr>
        <p:spPr>
          <a:xfrm flipH="1">
            <a:off x="6729846" y="2622336"/>
            <a:ext cx="380031" cy="565338"/>
          </a:xfrm>
          <a:prstGeom prst="line">
            <a:avLst/>
          </a:prstGeom>
          <a:noFill/>
          <a:ln w="22860">
            <a:solidFill>
              <a:srgbClr val="087A62"/>
            </a:solidFill>
            <a:prstDash val="solid"/>
            <a:headEnd type="triangle"/>
            <a:tailEnd type="none"/>
          </a:ln>
        </p:spPr>
      </p:sp>
      <p:sp>
        <p:nvSpPr>
          <p:cNvPr id="304" name="Text 47">
            <a:extLst>
              <a:ext uri="{FF2B5EF4-FFF2-40B4-BE49-F238E27FC236}">
                <a16:creationId xmlns:a16="http://schemas.microsoft.com/office/drawing/2014/main" id="{69525015-9EBC-4DA6-82DA-F69DFB5D0D2E}"/>
              </a:ext>
            </a:extLst>
          </p:cNvPr>
          <p:cNvSpPr>
            <a:spLocks noGrp="1"/>
          </p:cNvSpPr>
          <p:nvPr/>
        </p:nvSpPr>
        <p:spPr>
          <a:xfrm>
            <a:off x="4393952" y="2752438"/>
            <a:ext cx="922457" cy="265424"/>
          </a:xfrm>
          <a:prstGeom prst="rect">
            <a:avLst/>
          </a:prstGeom>
          <a:noFill/>
        </p:spPr>
        <p:txBody>
          <a:bodyPr wrap="square" lIns="19050" tIns="19050" rIns="19050" bIns="19050" anchor="ctr">
            <a:noAutofit/>
          </a:bodyPr>
          <a:lstStyle/>
          <a:p>
            <a:pPr marL="0" indent="0" algn="ctr">
              <a:lnSpc>
                <a:spcPct val="100000"/>
              </a:lnSpc>
              <a:buNone/>
            </a:pPr>
            <a:r>
              <a:rPr sz="1275">
                <a:solidFill>
                  <a:srgbClr val="0A51A1"/>
                </a:solidFill>
                <a:latin typeface="Arial" panose="020B0604020202020204" pitchFamily="34" charset="0"/>
                <a:ea typeface="Arial"/>
                <a:cs typeface="Arial" panose="020B0604020202020204" pitchFamily="34" charset="0"/>
              </a:rPr>
              <a:t>Candidate</a:t>
            </a:r>
            <a:endParaRPr lang="en-US" sz="1275">
              <a:solidFill>
                <a:srgbClr val="0A51A1"/>
              </a:solidFill>
              <a:latin typeface="Arial" panose="020B0604020202020204" pitchFamily="34" charset="0"/>
              <a:ea typeface="Arial"/>
              <a:cs typeface="Arial" panose="020B0604020202020204" pitchFamily="34" charset="0"/>
            </a:endParaRPr>
          </a:p>
          <a:p>
            <a:pPr marL="0" indent="0" algn="ctr">
              <a:lnSpc>
                <a:spcPct val="100000"/>
              </a:lnSpc>
              <a:buNone/>
            </a:pPr>
            <a:r>
              <a:rPr lang="en-US" sz="1275">
                <a:solidFill>
                  <a:srgbClr val="0A51A1"/>
                </a:solidFill>
                <a:latin typeface="Arial" panose="020B0604020202020204" pitchFamily="34" charset="0"/>
                <a:ea typeface="Arial"/>
                <a:cs typeface="Arial" panose="020B0604020202020204" pitchFamily="34" charset="0"/>
              </a:rPr>
              <a:t>design</a:t>
            </a:r>
            <a:endParaRPr sz="1420">
              <a:solidFill>
                <a:srgbClr val="0A51A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05" name="Text 51">
            <a:extLst>
              <a:ext uri="{FF2B5EF4-FFF2-40B4-BE49-F238E27FC236}">
                <a16:creationId xmlns:a16="http://schemas.microsoft.com/office/drawing/2014/main" id="{C2F44DC3-DCFB-4232-A9B8-D6974A707676}"/>
              </a:ext>
            </a:extLst>
          </p:cNvPr>
          <p:cNvSpPr>
            <a:spLocks noGrp="1"/>
          </p:cNvSpPr>
          <p:nvPr/>
        </p:nvSpPr>
        <p:spPr>
          <a:xfrm>
            <a:off x="5771504" y="2697068"/>
            <a:ext cx="1161288" cy="393192"/>
          </a:xfrm>
          <a:prstGeom prst="rect">
            <a:avLst/>
          </a:prstGeom>
          <a:noFill/>
        </p:spPr>
        <p:txBody>
          <a:bodyPr wrap="square" lIns="19050" tIns="19050" rIns="19050" bIns="19050" anchor="ctr">
            <a:noAutofit/>
          </a:bodyPr>
          <a:lstStyle/>
          <a:p>
            <a:pPr marL="0" indent="0" algn="ctr">
              <a:lnSpc>
                <a:spcPct val="100000"/>
              </a:lnSpc>
              <a:buNone/>
            </a:pPr>
            <a:r>
              <a:rPr sz="1275">
                <a:solidFill>
                  <a:srgbClr val="087A62"/>
                </a:solidFill>
                <a:latin typeface="Arial" panose="020B0604020202020204" pitchFamily="34" charset="0"/>
                <a:ea typeface="Arial"/>
                <a:cs typeface="Arial" panose="020B0604020202020204" pitchFamily="34" charset="0"/>
              </a:rPr>
              <a:t>Development</a:t>
            </a:r>
            <a:endParaRPr sz="1370">
              <a:solidFill>
                <a:srgbClr val="087A62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 algn="ctr">
              <a:lnSpc>
                <a:spcPct val="100000"/>
              </a:lnSpc>
              <a:buNone/>
            </a:pPr>
            <a:r>
              <a:rPr sz="1275">
                <a:solidFill>
                  <a:srgbClr val="087A62"/>
                </a:solidFill>
                <a:latin typeface="Arial" panose="020B0604020202020204" pitchFamily="34" charset="0"/>
                <a:ea typeface="Arial"/>
                <a:cs typeface="Arial" panose="020B0604020202020204" pitchFamily="34" charset="0"/>
              </a:rPr>
              <a:t>evidence</a:t>
            </a:r>
            <a:endParaRPr sz="1370">
              <a:solidFill>
                <a:srgbClr val="087A62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06" name="Shape 52">
            <a:extLst>
              <a:ext uri="{FF2B5EF4-FFF2-40B4-BE49-F238E27FC236}">
                <a16:creationId xmlns:a16="http://schemas.microsoft.com/office/drawing/2014/main" id="{8B45B3C4-BB04-453A-A321-D75CDF792840}"/>
              </a:ext>
            </a:extLst>
          </p:cNvPr>
          <p:cNvSpPr>
            <a:spLocks noGrp="1"/>
          </p:cNvSpPr>
          <p:nvPr/>
        </p:nvSpPr>
        <p:spPr>
          <a:xfrm flipH="1">
            <a:off x="7413257" y="2595401"/>
            <a:ext cx="0" cy="665085"/>
          </a:xfrm>
          <a:prstGeom prst="line">
            <a:avLst/>
          </a:prstGeom>
          <a:noFill/>
          <a:ln w="22860">
            <a:solidFill>
              <a:srgbClr val="76529C"/>
            </a:solidFill>
            <a:prstDash val="solid"/>
            <a:headEnd type="none"/>
            <a:tailEnd type="triangle"/>
          </a:ln>
        </p:spPr>
      </p:sp>
      <p:sp>
        <p:nvSpPr>
          <p:cNvPr id="307" name="Text 53">
            <a:extLst>
              <a:ext uri="{FF2B5EF4-FFF2-40B4-BE49-F238E27FC236}">
                <a16:creationId xmlns:a16="http://schemas.microsoft.com/office/drawing/2014/main" id="{AA759EED-55FE-4413-BB76-18D4336C7E3C}"/>
              </a:ext>
            </a:extLst>
          </p:cNvPr>
          <p:cNvSpPr>
            <a:spLocks noGrp="1"/>
          </p:cNvSpPr>
          <p:nvPr/>
        </p:nvSpPr>
        <p:spPr>
          <a:xfrm>
            <a:off x="7493200" y="2724579"/>
            <a:ext cx="1731066" cy="375728"/>
          </a:xfrm>
          <a:prstGeom prst="rect">
            <a:avLst/>
          </a:prstGeom>
          <a:noFill/>
        </p:spPr>
        <p:txBody>
          <a:bodyPr wrap="square" lIns="19050" tIns="19050" rIns="19050" bIns="19050" anchor="ctr">
            <a:no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sz="1360">
                <a:solidFill>
                  <a:srgbClr val="76529C"/>
                </a:solidFill>
                <a:latin typeface="Arial" panose="020B0604020202020204" pitchFamily="34" charset="0"/>
                <a:ea typeface="Arial"/>
                <a:cs typeface="Arial" panose="020B0604020202020204" pitchFamily="34" charset="0"/>
              </a:rPr>
              <a:t>Selected</a:t>
            </a:r>
            <a:endParaRPr lang="en-US" sz="1360">
              <a:solidFill>
                <a:srgbClr val="76529C"/>
              </a:solidFill>
              <a:latin typeface="Arial" panose="020B0604020202020204" pitchFamily="34" charset="0"/>
              <a:ea typeface="Arial"/>
              <a:cs typeface="Arial" panose="020B0604020202020204" pitchFamily="34" charset="0"/>
            </a:endParaRPr>
          </a:p>
          <a:p>
            <a:pPr marL="0" indent="0" algn="l">
              <a:lnSpc>
                <a:spcPct val="100000"/>
              </a:lnSpc>
              <a:buNone/>
            </a:pPr>
            <a:r>
              <a:rPr lang="en-US" sz="1360">
                <a:solidFill>
                  <a:srgbClr val="76529C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(highest dev score)</a:t>
            </a:r>
            <a:endParaRPr sz="136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08" name="Shape 70">
            <a:extLst>
              <a:ext uri="{FF2B5EF4-FFF2-40B4-BE49-F238E27FC236}">
                <a16:creationId xmlns:a16="http://schemas.microsoft.com/office/drawing/2014/main" id="{1D57F5CC-F074-448B-BBC1-37C5E20E603F}"/>
              </a:ext>
            </a:extLst>
          </p:cNvPr>
          <p:cNvSpPr>
            <a:spLocks noGrp="1"/>
          </p:cNvSpPr>
          <p:nvPr/>
        </p:nvSpPr>
        <p:spPr>
          <a:xfrm>
            <a:off x="2510039" y="4196580"/>
            <a:ext cx="2185413" cy="934896"/>
          </a:xfrm>
          <a:prstGeom prst="roundRect">
            <a:avLst/>
          </a:prstGeom>
          <a:solidFill>
            <a:srgbClr val="FFFFFF">
              <a:alpha val="0"/>
            </a:srgbClr>
          </a:solidFill>
          <a:ln w="15240">
            <a:solidFill>
              <a:srgbClr val="087A62"/>
            </a:solidFill>
            <a:prstDash val="solid"/>
          </a:ln>
        </p:spPr>
      </p:sp>
      <p:sp>
        <p:nvSpPr>
          <p:cNvPr id="309" name="Text 71">
            <a:extLst>
              <a:ext uri="{FF2B5EF4-FFF2-40B4-BE49-F238E27FC236}">
                <a16:creationId xmlns:a16="http://schemas.microsoft.com/office/drawing/2014/main" id="{0D8F04F7-954B-4CEB-8FBD-5FE62AC0AD35}"/>
              </a:ext>
            </a:extLst>
          </p:cNvPr>
          <p:cNvSpPr>
            <a:spLocks noGrp="1"/>
          </p:cNvSpPr>
          <p:nvPr/>
        </p:nvSpPr>
        <p:spPr>
          <a:xfrm>
            <a:off x="2676020" y="4257241"/>
            <a:ext cx="1920240" cy="146304"/>
          </a:xfrm>
          <a:prstGeom prst="rect">
            <a:avLst/>
          </a:prstGeom>
          <a:noFill/>
        </p:spPr>
        <p:txBody>
          <a:bodyPr wrap="square" lIns="19050" tIns="19050" rIns="19050" bIns="19050" anchor="ctr">
            <a:noAutofit/>
          </a:bodyPr>
          <a:lstStyle/>
          <a:p>
            <a:pPr marL="0" indent="0" algn="ctr">
              <a:buNone/>
            </a:pPr>
            <a:r>
              <a:rPr sz="1400" b="1">
                <a:solidFill>
                  <a:srgbClr val="075344"/>
                </a:solidFill>
                <a:latin typeface="Arial" panose="020B0604020202020204" pitchFamily="34" charset="0"/>
                <a:ea typeface="Arial"/>
                <a:cs typeface="Arial" panose="020B0604020202020204" pitchFamily="34" charset="0"/>
              </a:rPr>
              <a:t>Laboratory 2</a:t>
            </a:r>
            <a:endParaRPr sz="140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10" name="Text 72">
            <a:extLst>
              <a:ext uri="{FF2B5EF4-FFF2-40B4-BE49-F238E27FC236}">
                <a16:creationId xmlns:a16="http://schemas.microsoft.com/office/drawing/2014/main" id="{D0EDBB67-FA5F-4368-9F53-50132732D62D}"/>
              </a:ext>
            </a:extLst>
          </p:cNvPr>
          <p:cNvSpPr>
            <a:spLocks noGrp="1"/>
          </p:cNvSpPr>
          <p:nvPr/>
        </p:nvSpPr>
        <p:spPr>
          <a:xfrm>
            <a:off x="2638056" y="4538191"/>
            <a:ext cx="237744" cy="182880"/>
          </a:xfrm>
          <a:prstGeom prst="rect">
            <a:avLst/>
          </a:prstGeom>
          <a:noFill/>
        </p:spPr>
        <p:txBody>
          <a:bodyPr wrap="square" lIns="254" tIns="254" rIns="254" bIns="254" anchor="ctr">
            <a:normAutofit lnSpcReduction="10000"/>
          </a:bodyPr>
          <a:lstStyle/>
          <a:p>
            <a:pPr marL="0" indent="0" algn="ctr">
              <a:buNone/>
            </a:pPr>
            <a:endParaRPr sz="120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11" name="Text 73">
            <a:extLst>
              <a:ext uri="{FF2B5EF4-FFF2-40B4-BE49-F238E27FC236}">
                <a16:creationId xmlns:a16="http://schemas.microsoft.com/office/drawing/2014/main" id="{F15F2F58-5AF1-4933-996C-E9ADC43F036F}"/>
              </a:ext>
            </a:extLst>
          </p:cNvPr>
          <p:cNvSpPr>
            <a:spLocks noGrp="1"/>
          </p:cNvSpPr>
          <p:nvPr/>
        </p:nvSpPr>
        <p:spPr>
          <a:xfrm>
            <a:off x="2582176" y="4827065"/>
            <a:ext cx="523875" cy="285750"/>
          </a:xfrm>
          <a:prstGeom prst="rect">
            <a:avLst/>
          </a:prstGeom>
          <a:noFill/>
        </p:spPr>
        <p:txBody>
          <a:bodyPr wrap="square" lIns="19050" tIns="19050" rIns="19050" bIns="19050" anchor="ctr">
            <a:noAutofit/>
          </a:bodyPr>
          <a:lstStyle/>
          <a:p>
            <a:pPr marL="0" indent="0" algn="ctr">
              <a:buNone/>
            </a:pPr>
            <a:r>
              <a:rPr sz="915">
                <a:solidFill>
                  <a:srgbClr val="0B1F54"/>
                </a:solidFill>
                <a:latin typeface="Arial" panose="020B0604020202020204" pitchFamily="34" charset="0"/>
                <a:ea typeface="Arial"/>
                <a:cs typeface="Arial" panose="020B0604020202020204" pitchFamily="34" charset="0"/>
              </a:rPr>
              <a:t>private</a:t>
            </a:r>
            <a:endParaRPr sz="110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 algn="ctr">
              <a:buNone/>
            </a:pPr>
            <a:r>
              <a:rPr sz="915">
                <a:solidFill>
                  <a:srgbClr val="0B1F54"/>
                </a:solidFill>
                <a:latin typeface="Arial" panose="020B0604020202020204" pitchFamily="34" charset="0"/>
                <a:ea typeface="Arial"/>
                <a:cs typeface="Arial" panose="020B0604020202020204" pitchFamily="34" charset="0"/>
              </a:rPr>
              <a:t>data</a:t>
            </a:r>
            <a:endParaRPr sz="110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12" name="Shape 74">
            <a:extLst>
              <a:ext uri="{FF2B5EF4-FFF2-40B4-BE49-F238E27FC236}">
                <a16:creationId xmlns:a16="http://schemas.microsoft.com/office/drawing/2014/main" id="{572C9FB0-BFE8-4883-8BCE-9FA3C83B1313}"/>
              </a:ext>
            </a:extLst>
          </p:cNvPr>
          <p:cNvSpPr>
            <a:spLocks noGrp="1"/>
          </p:cNvSpPr>
          <p:nvPr/>
        </p:nvSpPr>
        <p:spPr>
          <a:xfrm>
            <a:off x="3022104" y="4629631"/>
            <a:ext cx="274320" cy="0"/>
          </a:xfrm>
          <a:prstGeom prst="line">
            <a:avLst/>
          </a:prstGeom>
          <a:noFill/>
          <a:ln w="10160">
            <a:solidFill>
              <a:srgbClr val="0A51A1"/>
            </a:solidFill>
            <a:prstDash val="solid"/>
            <a:tailEnd type="triangle"/>
          </a:ln>
        </p:spPr>
      </p:sp>
      <p:sp>
        <p:nvSpPr>
          <p:cNvPr id="313" name="Text 76">
            <a:extLst>
              <a:ext uri="{FF2B5EF4-FFF2-40B4-BE49-F238E27FC236}">
                <a16:creationId xmlns:a16="http://schemas.microsoft.com/office/drawing/2014/main" id="{C3AE0207-CDDF-47A4-ABBB-1DEC607AD2FB}"/>
              </a:ext>
            </a:extLst>
          </p:cNvPr>
          <p:cNvSpPr>
            <a:spLocks noGrp="1"/>
          </p:cNvSpPr>
          <p:nvPr/>
        </p:nvSpPr>
        <p:spPr>
          <a:xfrm>
            <a:off x="3168408" y="4827065"/>
            <a:ext cx="781050" cy="285750"/>
          </a:xfrm>
          <a:prstGeom prst="rect">
            <a:avLst/>
          </a:prstGeom>
          <a:noFill/>
        </p:spPr>
        <p:txBody>
          <a:bodyPr wrap="square" lIns="19050" tIns="19050" rIns="19050" bIns="19050" anchor="ctr">
            <a:noAutofit/>
          </a:bodyPr>
          <a:lstStyle/>
          <a:p>
            <a:pPr marL="0" indent="0" algn="ctr">
              <a:buNone/>
            </a:pPr>
            <a:r>
              <a:rPr sz="915">
                <a:solidFill>
                  <a:srgbClr val="0B1F54"/>
                </a:solidFill>
                <a:latin typeface="Arial" panose="020B0604020202020204" pitchFamily="34" charset="0"/>
                <a:ea typeface="Arial"/>
                <a:cs typeface="Arial" panose="020B0604020202020204" pitchFamily="34" charset="0"/>
              </a:rPr>
              <a:t>local</a:t>
            </a:r>
            <a:endParaRPr sz="110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 algn="ctr">
              <a:buNone/>
            </a:pPr>
            <a:r>
              <a:rPr sz="915">
                <a:solidFill>
                  <a:srgbClr val="0B1F54"/>
                </a:solidFill>
                <a:latin typeface="Arial" panose="020B0604020202020204" pitchFamily="34" charset="0"/>
                <a:ea typeface="Arial"/>
                <a:cs typeface="Arial" panose="020B0604020202020204" pitchFamily="34" charset="0"/>
              </a:rPr>
              <a:t>train + dev</a:t>
            </a:r>
            <a:endParaRPr sz="110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14" name="Shape 77">
            <a:extLst>
              <a:ext uri="{FF2B5EF4-FFF2-40B4-BE49-F238E27FC236}">
                <a16:creationId xmlns:a16="http://schemas.microsoft.com/office/drawing/2014/main" id="{8833BDA0-854A-4BEB-8E70-860748C0957C}"/>
              </a:ext>
            </a:extLst>
          </p:cNvPr>
          <p:cNvSpPr>
            <a:spLocks noGrp="1"/>
          </p:cNvSpPr>
          <p:nvPr/>
        </p:nvSpPr>
        <p:spPr>
          <a:xfrm>
            <a:off x="3826776" y="4629631"/>
            <a:ext cx="228600" cy="0"/>
          </a:xfrm>
          <a:prstGeom prst="line">
            <a:avLst/>
          </a:prstGeom>
          <a:noFill/>
          <a:ln w="10160">
            <a:solidFill>
              <a:srgbClr val="0A51A1"/>
            </a:solidFill>
            <a:prstDash val="solid"/>
            <a:tailEnd type="triangle"/>
          </a:ln>
        </p:spPr>
      </p:sp>
      <p:sp>
        <p:nvSpPr>
          <p:cNvPr id="315" name="Text 79">
            <a:extLst>
              <a:ext uri="{FF2B5EF4-FFF2-40B4-BE49-F238E27FC236}">
                <a16:creationId xmlns:a16="http://schemas.microsoft.com/office/drawing/2014/main" id="{75031A64-14A4-4CB9-A261-14DA03E9888A}"/>
              </a:ext>
            </a:extLst>
          </p:cNvPr>
          <p:cNvSpPr>
            <a:spLocks noGrp="1"/>
          </p:cNvSpPr>
          <p:nvPr/>
        </p:nvSpPr>
        <p:spPr>
          <a:xfrm>
            <a:off x="3996448" y="4827065"/>
            <a:ext cx="647700" cy="285750"/>
          </a:xfrm>
          <a:prstGeom prst="rect">
            <a:avLst/>
          </a:prstGeom>
          <a:noFill/>
        </p:spPr>
        <p:txBody>
          <a:bodyPr wrap="square" lIns="19050" tIns="19050" rIns="19050" bIns="19050" anchor="ctr">
            <a:noAutofit/>
          </a:bodyPr>
          <a:lstStyle/>
          <a:p>
            <a:pPr marL="0" indent="0" algn="ctr">
              <a:buNone/>
            </a:pPr>
            <a:r>
              <a:rPr sz="915">
                <a:solidFill>
                  <a:srgbClr val="0B1F54"/>
                </a:solidFill>
                <a:latin typeface="Arial" panose="020B0604020202020204" pitchFamily="34" charset="0"/>
                <a:ea typeface="Arial"/>
                <a:cs typeface="Arial" panose="020B0604020202020204" pitchFamily="34" charset="0"/>
              </a:rPr>
              <a:t>model</a:t>
            </a:r>
            <a:endParaRPr sz="110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 algn="ctr">
              <a:buNone/>
            </a:pPr>
            <a:r>
              <a:rPr sz="915">
                <a:solidFill>
                  <a:srgbClr val="0B1F54"/>
                </a:solidFill>
                <a:latin typeface="Arial" panose="020B0604020202020204" pitchFamily="34" charset="0"/>
                <a:ea typeface="Arial"/>
                <a:cs typeface="Arial" panose="020B0604020202020204" pitchFamily="34" charset="0"/>
              </a:rPr>
              <a:t>update</a:t>
            </a:r>
            <a:endParaRPr sz="110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316" name="图片 151">
            <a:extLst>
              <a:ext uri="{FF2B5EF4-FFF2-40B4-BE49-F238E27FC236}">
                <a16:creationId xmlns:a16="http://schemas.microsoft.com/office/drawing/2014/main" id="{882FFBBD-3E4A-4827-85ED-2EFFFBB90278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629896" y="4320531"/>
            <a:ext cx="378318" cy="513432"/>
          </a:xfrm>
          <a:prstGeom prst="rect">
            <a:avLst/>
          </a:prstGeom>
        </p:spPr>
      </p:pic>
      <p:pic>
        <p:nvPicPr>
          <p:cNvPr id="317" name="图片 163">
            <a:extLst>
              <a:ext uri="{FF2B5EF4-FFF2-40B4-BE49-F238E27FC236}">
                <a16:creationId xmlns:a16="http://schemas.microsoft.com/office/drawing/2014/main" id="{1EDCE425-A80F-4E97-9989-BD4F8747121E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115352" y="4425299"/>
            <a:ext cx="383122" cy="408664"/>
          </a:xfrm>
          <a:prstGeom prst="rect">
            <a:avLst/>
          </a:prstGeom>
        </p:spPr>
      </p:pic>
      <p:sp>
        <p:nvSpPr>
          <p:cNvPr id="318" name="Text 113">
            <a:extLst>
              <a:ext uri="{FF2B5EF4-FFF2-40B4-BE49-F238E27FC236}">
                <a16:creationId xmlns:a16="http://schemas.microsoft.com/office/drawing/2014/main" id="{5E7851D6-B43E-4D5A-842D-4EF9B97F595B}"/>
              </a:ext>
            </a:extLst>
          </p:cNvPr>
          <p:cNvSpPr>
            <a:spLocks noGrp="1"/>
          </p:cNvSpPr>
          <p:nvPr/>
        </p:nvSpPr>
        <p:spPr>
          <a:xfrm>
            <a:off x="2982361" y="6043401"/>
            <a:ext cx="1633708" cy="419100"/>
          </a:xfrm>
          <a:prstGeom prst="rect">
            <a:avLst/>
          </a:prstGeom>
          <a:noFill/>
        </p:spPr>
        <p:txBody>
          <a:bodyPr wrap="square" lIns="19050" tIns="19050" rIns="19050" bIns="19050" anchor="ctr">
            <a:noAutofit/>
          </a:bodyPr>
          <a:lstStyle/>
          <a:p>
            <a:pPr marL="0" indent="0" algn="l">
              <a:buNone/>
            </a:pPr>
            <a:r>
              <a:rPr lang="en-US" sz="900" b="1">
                <a:solidFill>
                  <a:srgbClr val="0A51A1"/>
                </a:solidFill>
                <a:latin typeface="Arial" panose="020B0604020202020204" pitchFamily="34" charset="0"/>
                <a:ea typeface="Arial"/>
                <a:cs typeface="Arial" panose="020B0604020202020204" pitchFamily="34" charset="0"/>
              </a:rPr>
              <a:t>Input: </a:t>
            </a:r>
            <a:r>
              <a:rPr lang="en-US" sz="900">
                <a:solidFill>
                  <a:srgbClr val="0A51A1"/>
                </a:solidFill>
                <a:latin typeface="Arial" panose="020B0604020202020204" pitchFamily="34" charset="0"/>
                <a:ea typeface="Arial"/>
                <a:cs typeface="Arial" panose="020B0604020202020204" pitchFamily="34" charset="0"/>
              </a:rPr>
              <a:t>proteome profile + drug</a:t>
            </a:r>
          </a:p>
          <a:p>
            <a:pPr marL="0" indent="0" algn="l">
              <a:buNone/>
            </a:pPr>
            <a:r>
              <a:rPr lang="en-US" sz="900" b="1">
                <a:solidFill>
                  <a:srgbClr val="0A51A1"/>
                </a:solidFill>
                <a:latin typeface="Arial" panose="020B0604020202020204" pitchFamily="34" charset="0"/>
                <a:ea typeface="Arial"/>
                <a:cs typeface="Arial" panose="020B0604020202020204" pitchFamily="34" charset="0"/>
              </a:rPr>
              <a:t>Output: </a:t>
            </a:r>
            <a:r>
              <a:rPr lang="en-US" sz="900">
                <a:solidFill>
                  <a:srgbClr val="0A51A1"/>
                </a:solidFill>
                <a:latin typeface="Arial" panose="020B0604020202020204" pitchFamily="34" charset="0"/>
                <a:ea typeface="Arial"/>
                <a:cs typeface="Arial" panose="020B0604020202020204" pitchFamily="34" charset="0"/>
              </a:rPr>
              <a:t>drug efficacy</a:t>
            </a:r>
            <a:endParaRPr sz="90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19" name="TextBox 237">
            <a:extLst>
              <a:ext uri="{FF2B5EF4-FFF2-40B4-BE49-F238E27FC236}">
                <a16:creationId xmlns:a16="http://schemas.microsoft.com/office/drawing/2014/main" id="{3FE8F060-85BA-4C84-9723-7E84B1F93753}"/>
              </a:ext>
            </a:extLst>
          </p:cNvPr>
          <p:cNvSpPr>
            <a:spLocks noGrp="1"/>
          </p:cNvSpPr>
          <p:nvPr/>
        </p:nvSpPr>
        <p:spPr>
          <a:xfrm>
            <a:off x="654341" y="6112984"/>
            <a:ext cx="1971675" cy="428625"/>
          </a:xfrm>
          <a:prstGeom prst="rect">
            <a:avLst/>
          </a:prstGeom>
          <a:noFill/>
        </p:spPr>
        <p:txBody>
          <a:bodyPr wrap="square" lIns="19050" tIns="19050" rIns="19050" bIns="19050">
            <a:noAutofit/>
          </a:bodyPr>
          <a:lstStyle/>
          <a:p>
            <a:r>
              <a:rPr lang="en-US" sz="900" b="1">
                <a:solidFill>
                  <a:srgbClr val="0A51A1"/>
                </a:solidFill>
                <a:latin typeface="Arial" panose="020B0604020202020204" pitchFamily="34" charset="0"/>
                <a:ea typeface="Arial"/>
                <a:cs typeface="Arial" panose="020B0604020202020204" pitchFamily="34" charset="0"/>
              </a:rPr>
              <a:t>Input: </a:t>
            </a:r>
            <a:r>
              <a:rPr sz="900">
                <a:solidFill>
                  <a:srgbClr val="0A51A1"/>
                </a:solidFill>
                <a:latin typeface="Arial" panose="020B0604020202020204" pitchFamily="34" charset="0"/>
                <a:ea typeface="Arial"/>
                <a:cs typeface="Arial" panose="020B0604020202020204" pitchFamily="34" charset="0"/>
              </a:rPr>
              <a:t>compound</a:t>
            </a:r>
            <a:r>
              <a:rPr lang="en-US" sz="900">
                <a:solidFill>
                  <a:srgbClr val="0A51A1"/>
                </a:solidFill>
                <a:latin typeface="Arial" panose="020B0604020202020204" pitchFamily="34" charset="0"/>
                <a:ea typeface="Arial"/>
                <a:cs typeface="Arial" panose="020B0604020202020204" pitchFamily="34" charset="0"/>
              </a:rPr>
              <a:t>+</a:t>
            </a:r>
            <a:r>
              <a:rPr sz="900">
                <a:solidFill>
                  <a:srgbClr val="0A51A1"/>
                </a:solidFill>
                <a:latin typeface="Arial" panose="020B0604020202020204" pitchFamily="34" charset="0"/>
                <a:ea typeface="Arial"/>
                <a:cs typeface="Arial" panose="020B0604020202020204" pitchFamily="34" charset="0"/>
              </a:rPr>
              <a:t>protein seq</a:t>
            </a:r>
          </a:p>
          <a:p>
            <a:r>
              <a:rPr lang="en-US" altLang="zh-CN" sz="900" b="1">
                <a:solidFill>
                  <a:srgbClr val="0A51A1"/>
                </a:solidFill>
                <a:latin typeface="Arial" panose="020B0604020202020204" pitchFamily="34" charset="0"/>
                <a:ea typeface="Arial"/>
                <a:cs typeface="Arial" panose="020B0604020202020204" pitchFamily="34" charset="0"/>
              </a:rPr>
              <a:t>Output: </a:t>
            </a:r>
            <a:r>
              <a:rPr sz="900">
                <a:solidFill>
                  <a:srgbClr val="0A51A1"/>
                </a:solidFill>
                <a:latin typeface="Arial" panose="020B0604020202020204" pitchFamily="34" charset="0"/>
                <a:ea typeface="Arial"/>
                <a:cs typeface="Arial" panose="020B0604020202020204" pitchFamily="34" charset="0"/>
              </a:rPr>
              <a:t>interaction probability </a:t>
            </a:r>
          </a:p>
        </p:txBody>
      </p:sp>
      <p:sp>
        <p:nvSpPr>
          <p:cNvPr id="320" name="TextBox 238">
            <a:extLst>
              <a:ext uri="{FF2B5EF4-FFF2-40B4-BE49-F238E27FC236}">
                <a16:creationId xmlns:a16="http://schemas.microsoft.com/office/drawing/2014/main" id="{FB28C71A-8863-4393-AC97-EFEAF086F7DB}"/>
              </a:ext>
            </a:extLst>
          </p:cNvPr>
          <p:cNvSpPr>
            <a:spLocks noGrp="1"/>
          </p:cNvSpPr>
          <p:nvPr/>
        </p:nvSpPr>
        <p:spPr>
          <a:xfrm>
            <a:off x="648736" y="5852590"/>
            <a:ext cx="2038350" cy="238125"/>
          </a:xfrm>
          <a:prstGeom prst="rect">
            <a:avLst/>
          </a:prstGeom>
          <a:noFill/>
        </p:spPr>
        <p:txBody>
          <a:bodyPr wrap="square" lIns="19050" tIns="19050" rIns="19050" bIns="19050">
            <a:noAutofit/>
          </a:bodyPr>
          <a:lstStyle/>
          <a:p>
            <a:r>
              <a:rPr sz="1100" b="1">
                <a:solidFill>
                  <a:srgbClr val="0B1F54"/>
                </a:solidFill>
                <a:latin typeface="Arial" panose="020B0604020202020204" pitchFamily="34" charset="0"/>
                <a:ea typeface="Arial"/>
                <a:cs typeface="Arial" panose="020B0604020202020204" pitchFamily="34" charset="0"/>
              </a:rPr>
              <a:t>Drug–target </a:t>
            </a:r>
            <a:r>
              <a:rPr lang="en-US" sz="1100" b="1">
                <a:solidFill>
                  <a:srgbClr val="0B1F54"/>
                </a:solidFill>
                <a:latin typeface="Arial" panose="020B0604020202020204" pitchFamily="34" charset="0"/>
                <a:ea typeface="Arial"/>
                <a:cs typeface="Arial" panose="020B0604020202020204" pitchFamily="34" charset="0"/>
              </a:rPr>
              <a:t>i</a:t>
            </a:r>
            <a:r>
              <a:rPr sz="1100" b="1">
                <a:solidFill>
                  <a:srgbClr val="0B1F54"/>
                </a:solidFill>
                <a:latin typeface="Arial" panose="020B0604020202020204" pitchFamily="34" charset="0"/>
                <a:ea typeface="Arial"/>
                <a:cs typeface="Arial" panose="020B0604020202020204" pitchFamily="34" charset="0"/>
              </a:rPr>
              <a:t>nteraction</a:t>
            </a:r>
          </a:p>
        </p:txBody>
      </p:sp>
      <p:sp>
        <p:nvSpPr>
          <p:cNvPr id="321" name="Shape 82">
            <a:extLst>
              <a:ext uri="{FF2B5EF4-FFF2-40B4-BE49-F238E27FC236}">
                <a16:creationId xmlns:a16="http://schemas.microsoft.com/office/drawing/2014/main" id="{DFAB5A42-9853-4BEE-ADFD-71E028ED61A0}"/>
              </a:ext>
            </a:extLst>
          </p:cNvPr>
          <p:cNvSpPr>
            <a:spLocks noGrp="1"/>
          </p:cNvSpPr>
          <p:nvPr/>
        </p:nvSpPr>
        <p:spPr>
          <a:xfrm flipH="1">
            <a:off x="1248364" y="3912430"/>
            <a:ext cx="0" cy="294827"/>
          </a:xfrm>
          <a:prstGeom prst="line">
            <a:avLst/>
          </a:prstGeom>
          <a:noFill/>
          <a:ln w="22860">
            <a:solidFill>
              <a:srgbClr val="276CA6"/>
            </a:solidFill>
            <a:prstDash val="solid"/>
            <a:headEnd type="none"/>
            <a:tailEnd type="triangle"/>
          </a:ln>
        </p:spPr>
      </p:sp>
      <p:sp>
        <p:nvSpPr>
          <p:cNvPr id="322" name="Shape 83">
            <a:extLst>
              <a:ext uri="{FF2B5EF4-FFF2-40B4-BE49-F238E27FC236}">
                <a16:creationId xmlns:a16="http://schemas.microsoft.com/office/drawing/2014/main" id="{E6C0CC0F-7ECE-478F-BA72-904A16C104E6}"/>
              </a:ext>
            </a:extLst>
          </p:cNvPr>
          <p:cNvSpPr>
            <a:spLocks noGrp="1"/>
          </p:cNvSpPr>
          <p:nvPr/>
        </p:nvSpPr>
        <p:spPr>
          <a:xfrm flipH="1">
            <a:off x="1621059" y="3901953"/>
            <a:ext cx="0" cy="294827"/>
          </a:xfrm>
          <a:prstGeom prst="line">
            <a:avLst/>
          </a:prstGeom>
          <a:noFill/>
          <a:ln w="22860">
            <a:solidFill>
              <a:srgbClr val="087A62"/>
            </a:solidFill>
            <a:prstDash val="solid"/>
            <a:headEnd type="triangle"/>
            <a:tailEnd type="none"/>
          </a:ln>
        </p:spPr>
      </p:sp>
      <p:sp>
        <p:nvSpPr>
          <p:cNvPr id="323" name="TextBox 241">
            <a:extLst>
              <a:ext uri="{FF2B5EF4-FFF2-40B4-BE49-F238E27FC236}">
                <a16:creationId xmlns:a16="http://schemas.microsoft.com/office/drawing/2014/main" id="{55461C3C-B7C8-441A-97E3-5E38C4FAA853}"/>
              </a:ext>
            </a:extLst>
          </p:cNvPr>
          <p:cNvSpPr>
            <a:spLocks noGrp="1"/>
          </p:cNvSpPr>
          <p:nvPr/>
        </p:nvSpPr>
        <p:spPr>
          <a:xfrm>
            <a:off x="2025766" y="3935709"/>
            <a:ext cx="1394375" cy="242397"/>
          </a:xfrm>
          <a:prstGeom prst="rect">
            <a:avLst/>
          </a:prstGeom>
          <a:noFill/>
        </p:spPr>
        <p:txBody>
          <a:bodyPr wrap="square" lIns="19050" tIns="19050" rIns="19050" bIns="19050">
            <a:noAutofit/>
          </a:bodyPr>
          <a:lstStyle/>
          <a:p>
            <a:r>
              <a:rPr lang="en-US" sz="1200">
                <a:solidFill>
                  <a:srgbClr val="0A51A1"/>
                </a:solidFill>
                <a:latin typeface="Arial" panose="020B0604020202020204" pitchFamily="34" charset="0"/>
                <a:ea typeface="Arial"/>
                <a:cs typeface="Arial" panose="020B0604020202020204" pitchFamily="34" charset="0"/>
              </a:rPr>
              <a:t>model parameters </a:t>
            </a:r>
            <a:endParaRPr lang="en-US" sz="120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24" name="Shape 82">
            <a:extLst>
              <a:ext uri="{FF2B5EF4-FFF2-40B4-BE49-F238E27FC236}">
                <a16:creationId xmlns:a16="http://schemas.microsoft.com/office/drawing/2014/main" id="{124A6AF5-2D68-47E4-9225-317B6A1F98EF}"/>
              </a:ext>
            </a:extLst>
          </p:cNvPr>
          <p:cNvSpPr>
            <a:spLocks noGrp="1"/>
          </p:cNvSpPr>
          <p:nvPr/>
        </p:nvSpPr>
        <p:spPr>
          <a:xfrm flipH="1">
            <a:off x="3334374" y="3901372"/>
            <a:ext cx="0" cy="294827"/>
          </a:xfrm>
          <a:prstGeom prst="line">
            <a:avLst/>
          </a:prstGeom>
          <a:noFill/>
          <a:ln w="22860">
            <a:solidFill>
              <a:srgbClr val="276CA6"/>
            </a:solidFill>
            <a:prstDash val="solid"/>
            <a:headEnd type="none"/>
            <a:tailEnd type="triangle"/>
          </a:ln>
        </p:spPr>
      </p:sp>
      <p:sp>
        <p:nvSpPr>
          <p:cNvPr id="325" name="Shape 83">
            <a:extLst>
              <a:ext uri="{FF2B5EF4-FFF2-40B4-BE49-F238E27FC236}">
                <a16:creationId xmlns:a16="http://schemas.microsoft.com/office/drawing/2014/main" id="{2C162394-7973-4D3C-8893-64A8CB1C837C}"/>
              </a:ext>
            </a:extLst>
          </p:cNvPr>
          <p:cNvSpPr>
            <a:spLocks noGrp="1"/>
          </p:cNvSpPr>
          <p:nvPr/>
        </p:nvSpPr>
        <p:spPr>
          <a:xfrm flipH="1">
            <a:off x="3707069" y="3901371"/>
            <a:ext cx="0" cy="294827"/>
          </a:xfrm>
          <a:prstGeom prst="line">
            <a:avLst/>
          </a:prstGeom>
          <a:noFill/>
          <a:ln w="22860">
            <a:solidFill>
              <a:srgbClr val="087A62"/>
            </a:solidFill>
            <a:prstDash val="solid"/>
            <a:headEnd type="triangle"/>
            <a:tailEnd type="none"/>
          </a:ln>
        </p:spPr>
      </p:sp>
      <p:sp>
        <p:nvSpPr>
          <p:cNvPr id="326" name="Shape 82">
            <a:extLst>
              <a:ext uri="{FF2B5EF4-FFF2-40B4-BE49-F238E27FC236}">
                <a16:creationId xmlns:a16="http://schemas.microsoft.com/office/drawing/2014/main" id="{7374E66B-030A-4B33-8B06-C4C41D5264E6}"/>
              </a:ext>
            </a:extLst>
          </p:cNvPr>
          <p:cNvSpPr>
            <a:spLocks noGrp="1"/>
          </p:cNvSpPr>
          <p:nvPr/>
        </p:nvSpPr>
        <p:spPr>
          <a:xfrm flipH="1">
            <a:off x="5797346" y="3900652"/>
            <a:ext cx="0" cy="294827"/>
          </a:xfrm>
          <a:prstGeom prst="line">
            <a:avLst/>
          </a:prstGeom>
          <a:noFill/>
          <a:ln w="22860">
            <a:solidFill>
              <a:srgbClr val="276CA6"/>
            </a:solidFill>
            <a:prstDash val="solid"/>
            <a:headEnd type="none"/>
            <a:tailEnd type="triangle"/>
          </a:ln>
        </p:spPr>
      </p:sp>
      <p:sp>
        <p:nvSpPr>
          <p:cNvPr id="327" name="Shape 83">
            <a:extLst>
              <a:ext uri="{FF2B5EF4-FFF2-40B4-BE49-F238E27FC236}">
                <a16:creationId xmlns:a16="http://schemas.microsoft.com/office/drawing/2014/main" id="{8B98429C-5629-4FC4-B4F3-A4E2A542891D}"/>
              </a:ext>
            </a:extLst>
          </p:cNvPr>
          <p:cNvSpPr>
            <a:spLocks noGrp="1"/>
          </p:cNvSpPr>
          <p:nvPr/>
        </p:nvSpPr>
        <p:spPr>
          <a:xfrm flipH="1">
            <a:off x="6170041" y="3900651"/>
            <a:ext cx="0" cy="294827"/>
          </a:xfrm>
          <a:prstGeom prst="line">
            <a:avLst/>
          </a:prstGeom>
          <a:noFill/>
          <a:ln w="22860">
            <a:solidFill>
              <a:srgbClr val="087A62"/>
            </a:solidFill>
            <a:prstDash val="solid"/>
            <a:headEnd type="triangle"/>
            <a:tailEnd type="none"/>
          </a:ln>
        </p:spPr>
      </p:sp>
      <p:sp>
        <p:nvSpPr>
          <p:cNvPr id="328" name="Text 3">
            <a:extLst>
              <a:ext uri="{FF2B5EF4-FFF2-40B4-BE49-F238E27FC236}">
                <a16:creationId xmlns:a16="http://schemas.microsoft.com/office/drawing/2014/main" id="{062D0420-1583-446D-AE10-6BEB4F28ACE7}"/>
              </a:ext>
            </a:extLst>
          </p:cNvPr>
          <p:cNvSpPr>
            <a:spLocks noGrp="1"/>
          </p:cNvSpPr>
          <p:nvPr/>
        </p:nvSpPr>
        <p:spPr>
          <a:xfrm>
            <a:off x="5596051" y="855805"/>
            <a:ext cx="2809875" cy="266700"/>
          </a:xfrm>
          <a:prstGeom prst="rect">
            <a:avLst/>
          </a:prstGeom>
          <a:noFill/>
        </p:spPr>
        <p:txBody>
          <a:bodyPr wrap="square" lIns="19050" tIns="19050" rIns="19050" bIns="19050" anchor="ctr">
            <a:noAutofit/>
          </a:bodyPr>
          <a:lstStyle/>
          <a:p>
            <a:pPr marL="0" indent="0" algn="ctr">
              <a:buNone/>
            </a:pPr>
            <a:r>
              <a:rPr sz="1388">
                <a:solidFill>
                  <a:schemeClr val="bg1">
                    <a:lumMod val="45000"/>
                  </a:schemeClr>
                </a:solidFill>
                <a:latin typeface="Arial" panose="020B0604020202020204" pitchFamily="34" charset="0"/>
                <a:ea typeface="Arial"/>
                <a:cs typeface="Arial" panose="020B0604020202020204" pitchFamily="34" charset="0"/>
              </a:rPr>
              <a:t>Fixed research language model</a:t>
            </a:r>
            <a:r>
              <a:rPr lang="en-US" sz="1388">
                <a:solidFill>
                  <a:schemeClr val="bg1">
                    <a:lumMod val="45000"/>
                  </a:schemeClr>
                </a:solidFill>
                <a:latin typeface="Arial" panose="020B0604020202020204" pitchFamily="34" charset="0"/>
                <a:ea typeface="Arial"/>
                <a:cs typeface="Arial" panose="020B0604020202020204" pitchFamily="34" charset="0"/>
              </a:rPr>
              <a:t> </a:t>
            </a:r>
            <a:r>
              <a:rPr lang="en-US" sz="1388" i="1">
                <a:solidFill>
                  <a:schemeClr val="bg1">
                    <a:lumMod val="45000"/>
                  </a:schemeClr>
                </a:solidFill>
                <a:latin typeface="Cambria Math" panose="02040503050406030204" pitchFamily="18" charset="0"/>
                <a:ea typeface="Arial"/>
                <a:cs typeface="Arial" panose="020B0604020202020204" pitchFamily="34" charset="0"/>
              </a:rPr>
              <a:t>𝑆</a:t>
            </a:r>
            <a:endParaRPr sz="1400">
              <a:solidFill>
                <a:schemeClr val="bg1">
                  <a:lumMod val="45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29" name="Shape 4">
            <a:extLst>
              <a:ext uri="{FF2B5EF4-FFF2-40B4-BE49-F238E27FC236}">
                <a16:creationId xmlns:a16="http://schemas.microsoft.com/office/drawing/2014/main" id="{2A78F0FF-65D6-4518-AE58-0088D95967C8}"/>
              </a:ext>
            </a:extLst>
          </p:cNvPr>
          <p:cNvSpPr>
            <a:spLocks noGrp="1"/>
          </p:cNvSpPr>
          <p:nvPr/>
        </p:nvSpPr>
        <p:spPr>
          <a:xfrm>
            <a:off x="3354605" y="1614774"/>
            <a:ext cx="1316767" cy="978408"/>
          </a:xfrm>
          <a:prstGeom prst="roundRect">
            <a:avLst/>
          </a:prstGeom>
          <a:solidFill>
            <a:srgbClr val="FFFFFF">
              <a:alpha val="0"/>
            </a:srgbClr>
          </a:solidFill>
          <a:ln w="15240">
            <a:solidFill>
              <a:srgbClr val="2E73B8"/>
            </a:solidFill>
            <a:prstDash val="solid"/>
          </a:ln>
        </p:spPr>
      </p:sp>
      <p:sp>
        <p:nvSpPr>
          <p:cNvPr id="330" name="Text 5">
            <a:extLst>
              <a:ext uri="{FF2B5EF4-FFF2-40B4-BE49-F238E27FC236}">
                <a16:creationId xmlns:a16="http://schemas.microsoft.com/office/drawing/2014/main" id="{4A7121C6-ACBA-4716-9F1B-1E79B67B0ECB}"/>
              </a:ext>
            </a:extLst>
          </p:cNvPr>
          <p:cNvSpPr>
            <a:spLocks noGrp="1"/>
          </p:cNvSpPr>
          <p:nvPr/>
        </p:nvSpPr>
        <p:spPr>
          <a:xfrm>
            <a:off x="3320573" y="1668393"/>
            <a:ext cx="424270" cy="274320"/>
          </a:xfrm>
          <a:prstGeom prst="rect">
            <a:avLst/>
          </a:prstGeom>
          <a:noFill/>
        </p:spPr>
        <p:txBody>
          <a:bodyPr wrap="square" lIns="19050" tIns="19050" rIns="19050" bIns="19050" anchor="ctr">
            <a:noAutofit/>
          </a:bodyPr>
          <a:lstStyle/>
          <a:p>
            <a:pPr algn="ctr">
              <a:buNone/>
            </a:pPr>
            <a:r>
              <a:rPr lang="zh-CN" altLang="en-US" sz="1600" b="1">
                <a:solidFill>
                  <a:srgbClr val="2E73B8"/>
                </a:solidFill>
                <a:latin typeface="Arial" panose="020B0604020202020204" pitchFamily="34" charset="0"/>
                <a:ea typeface="Segoe UI Symbol"/>
                <a:cs typeface="Arial" panose="020B0604020202020204" pitchFamily="34" charset="0"/>
              </a:rPr>
              <a:t>②</a:t>
            </a:r>
            <a:endParaRPr lang="zh-CN" altLang="en-US" sz="160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31" name="Text 6">
            <a:extLst>
              <a:ext uri="{FF2B5EF4-FFF2-40B4-BE49-F238E27FC236}">
                <a16:creationId xmlns:a16="http://schemas.microsoft.com/office/drawing/2014/main" id="{32AE0FD1-6F38-488A-994A-77F854D97EA5}"/>
              </a:ext>
            </a:extLst>
          </p:cNvPr>
          <p:cNvSpPr>
            <a:spLocks noGrp="1"/>
          </p:cNvSpPr>
          <p:nvPr/>
        </p:nvSpPr>
        <p:spPr>
          <a:xfrm>
            <a:off x="3669798" y="1701472"/>
            <a:ext cx="1112512" cy="188800"/>
          </a:xfrm>
          <a:prstGeom prst="rect">
            <a:avLst/>
          </a:prstGeom>
          <a:noFill/>
        </p:spPr>
        <p:txBody>
          <a:bodyPr wrap="square" lIns="19050" tIns="19050" rIns="19050" bIns="19050" anchor="ctr">
            <a:noAutofit/>
          </a:bodyPr>
          <a:lstStyle/>
          <a:p>
            <a:pPr marL="0" indent="0" algn="l">
              <a:buNone/>
            </a:pPr>
            <a:r>
              <a:rPr lang="en-US" altLang="zh-CN" sz="1300" b="1">
                <a:solidFill>
                  <a:srgbClr val="0B1F54"/>
                </a:solidFill>
                <a:latin typeface="Arial" panose="020B0604020202020204" pitchFamily="34" charset="0"/>
                <a:ea typeface="Arial"/>
                <a:cs typeface="Arial" panose="020B0604020202020204" pitchFamily="34" charset="0"/>
              </a:rPr>
              <a:t>Instantiate</a:t>
            </a:r>
          </a:p>
        </p:txBody>
      </p:sp>
      <p:sp>
        <p:nvSpPr>
          <p:cNvPr id="332" name="Text 7">
            <a:extLst>
              <a:ext uri="{FF2B5EF4-FFF2-40B4-BE49-F238E27FC236}">
                <a16:creationId xmlns:a16="http://schemas.microsoft.com/office/drawing/2014/main" id="{BA0ECA4C-7AE6-42D2-9A0D-AF554A50E77E}"/>
              </a:ext>
            </a:extLst>
          </p:cNvPr>
          <p:cNvSpPr>
            <a:spLocks noGrp="1"/>
          </p:cNvSpPr>
          <p:nvPr/>
        </p:nvSpPr>
        <p:spPr>
          <a:xfrm>
            <a:off x="3537053" y="1942849"/>
            <a:ext cx="777828" cy="225905"/>
          </a:xfrm>
          <a:prstGeom prst="rect">
            <a:avLst/>
          </a:prstGeom>
          <a:noFill/>
        </p:spPr>
        <p:txBody>
          <a:bodyPr wrap="square" lIns="254" tIns="254" rIns="254" bIns="254" anchor="ctr">
            <a:noAutofit/>
          </a:bodyPr>
          <a:lstStyle/>
          <a:p>
            <a:pPr marL="0" indent="0" algn="ctr">
              <a:buNone/>
            </a:pPr>
            <a:endParaRPr sz="140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33" name="Text 8">
            <a:extLst>
              <a:ext uri="{FF2B5EF4-FFF2-40B4-BE49-F238E27FC236}">
                <a16:creationId xmlns:a16="http://schemas.microsoft.com/office/drawing/2014/main" id="{4749201B-1CCC-4E7E-BD67-A650278467AA}"/>
              </a:ext>
            </a:extLst>
          </p:cNvPr>
          <p:cNvSpPr>
            <a:spLocks noGrp="1"/>
          </p:cNvSpPr>
          <p:nvPr/>
        </p:nvSpPr>
        <p:spPr>
          <a:xfrm>
            <a:off x="3357726" y="2404466"/>
            <a:ext cx="1363616" cy="116291"/>
          </a:xfrm>
          <a:prstGeom prst="rect">
            <a:avLst/>
          </a:prstGeom>
          <a:noFill/>
        </p:spPr>
        <p:txBody>
          <a:bodyPr wrap="square" lIns="19050" tIns="19050" rIns="19050" bIns="19050" anchor="ctr">
            <a:noAutofit/>
          </a:bodyPr>
          <a:lstStyle/>
          <a:p>
            <a:pPr marL="0" indent="0" algn="ctr">
              <a:buNone/>
            </a:pPr>
            <a:r>
              <a:rPr lang="en-US" altLang="zh-CN" sz="1000" b="1">
                <a:solidFill>
                  <a:schemeClr val="accent5">
                    <a:lumMod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executable design</a:t>
            </a:r>
          </a:p>
        </p:txBody>
      </p:sp>
      <p:sp>
        <p:nvSpPr>
          <p:cNvPr id="334" name="Shape 24">
            <a:extLst>
              <a:ext uri="{FF2B5EF4-FFF2-40B4-BE49-F238E27FC236}">
                <a16:creationId xmlns:a16="http://schemas.microsoft.com/office/drawing/2014/main" id="{F194E7BE-A2F0-46A2-8807-2051D8799553}"/>
              </a:ext>
            </a:extLst>
          </p:cNvPr>
          <p:cNvSpPr>
            <a:spLocks noGrp="1"/>
          </p:cNvSpPr>
          <p:nvPr/>
        </p:nvSpPr>
        <p:spPr>
          <a:xfrm>
            <a:off x="4671372" y="2108600"/>
            <a:ext cx="483180" cy="0"/>
          </a:xfrm>
          <a:prstGeom prst="line">
            <a:avLst/>
          </a:prstGeom>
          <a:noFill/>
          <a:ln w="22860">
            <a:solidFill>
              <a:srgbClr val="276CA6"/>
            </a:solidFill>
            <a:prstDash val="solid"/>
            <a:headEnd type="none"/>
            <a:tailEnd type="triangle"/>
          </a:ln>
        </p:spPr>
      </p:sp>
      <p:sp>
        <p:nvSpPr>
          <p:cNvPr id="335" name="Shape 4">
            <a:extLst>
              <a:ext uri="{FF2B5EF4-FFF2-40B4-BE49-F238E27FC236}">
                <a16:creationId xmlns:a16="http://schemas.microsoft.com/office/drawing/2014/main" id="{6BEFD58F-A336-413C-9817-750009562360}"/>
              </a:ext>
            </a:extLst>
          </p:cNvPr>
          <p:cNvSpPr>
            <a:spLocks noGrp="1"/>
          </p:cNvSpPr>
          <p:nvPr/>
        </p:nvSpPr>
        <p:spPr>
          <a:xfrm>
            <a:off x="5146830" y="1608833"/>
            <a:ext cx="1563624" cy="978408"/>
          </a:xfrm>
          <a:prstGeom prst="roundRect">
            <a:avLst/>
          </a:prstGeom>
          <a:solidFill>
            <a:srgbClr val="FFFFFF">
              <a:alpha val="0"/>
            </a:srgbClr>
          </a:solidFill>
          <a:ln w="15240">
            <a:solidFill>
              <a:srgbClr val="2E73B8"/>
            </a:solidFill>
            <a:prstDash val="solid"/>
          </a:ln>
        </p:spPr>
      </p:sp>
      <p:sp>
        <p:nvSpPr>
          <p:cNvPr id="336" name="Text 5">
            <a:extLst>
              <a:ext uri="{FF2B5EF4-FFF2-40B4-BE49-F238E27FC236}">
                <a16:creationId xmlns:a16="http://schemas.microsoft.com/office/drawing/2014/main" id="{F493EA8B-BE06-4E00-8031-49ABF2E4A2AB}"/>
              </a:ext>
            </a:extLst>
          </p:cNvPr>
          <p:cNvSpPr>
            <a:spLocks noGrp="1"/>
          </p:cNvSpPr>
          <p:nvPr/>
        </p:nvSpPr>
        <p:spPr>
          <a:xfrm>
            <a:off x="5100572" y="1662452"/>
            <a:ext cx="442247" cy="301402"/>
          </a:xfrm>
          <a:prstGeom prst="rect">
            <a:avLst/>
          </a:prstGeom>
          <a:noFill/>
        </p:spPr>
        <p:txBody>
          <a:bodyPr wrap="square" lIns="19050" tIns="19050" rIns="19050" bIns="19050" anchor="ctr">
            <a:noAutofit/>
          </a:bodyPr>
          <a:lstStyle/>
          <a:p>
            <a:pPr algn="ctr">
              <a:buNone/>
            </a:pPr>
            <a:r>
              <a:rPr lang="zh-CN" altLang="en-US" sz="1600" b="1">
                <a:solidFill>
                  <a:srgbClr val="2E73B8"/>
                </a:solidFill>
                <a:latin typeface="Arial" panose="020B0604020202020204" pitchFamily="34" charset="0"/>
                <a:ea typeface="Segoe UI Symbol"/>
                <a:cs typeface="Arial" panose="020B0604020202020204" pitchFamily="34" charset="0"/>
              </a:rPr>
              <a:t>③</a:t>
            </a:r>
            <a:endParaRPr lang="zh-CN" altLang="en-US" sz="160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37" name="Text 6">
            <a:extLst>
              <a:ext uri="{FF2B5EF4-FFF2-40B4-BE49-F238E27FC236}">
                <a16:creationId xmlns:a16="http://schemas.microsoft.com/office/drawing/2014/main" id="{0C587547-9B78-4EE3-9438-1248F8FC8E7A}"/>
              </a:ext>
            </a:extLst>
          </p:cNvPr>
          <p:cNvSpPr>
            <a:spLocks noGrp="1"/>
          </p:cNvSpPr>
          <p:nvPr/>
        </p:nvSpPr>
        <p:spPr>
          <a:xfrm>
            <a:off x="5449798" y="1695530"/>
            <a:ext cx="1228486" cy="214943"/>
          </a:xfrm>
          <a:prstGeom prst="rect">
            <a:avLst/>
          </a:prstGeom>
          <a:noFill/>
        </p:spPr>
        <p:txBody>
          <a:bodyPr wrap="square" lIns="19050" tIns="19050" rIns="19050" bIns="19050" anchor="ctr">
            <a:noAutofit/>
          </a:bodyPr>
          <a:lstStyle/>
          <a:p>
            <a:pPr marL="0" indent="0" algn="l">
              <a:buNone/>
            </a:pPr>
            <a:r>
              <a:rPr lang="en-US" altLang="zh-CN" sz="1200" b="1">
                <a:solidFill>
                  <a:srgbClr val="0B1F54"/>
                </a:solidFill>
                <a:latin typeface="Arial" panose="020B0604020202020204" pitchFamily="34" charset="0"/>
                <a:ea typeface="Arial"/>
                <a:cs typeface="Arial" panose="020B0604020202020204" pitchFamily="34" charset="0"/>
              </a:rPr>
              <a:t>Train + evaluate</a:t>
            </a:r>
          </a:p>
        </p:txBody>
      </p:sp>
      <p:sp>
        <p:nvSpPr>
          <p:cNvPr id="338" name="Text 7">
            <a:extLst>
              <a:ext uri="{FF2B5EF4-FFF2-40B4-BE49-F238E27FC236}">
                <a16:creationId xmlns:a16="http://schemas.microsoft.com/office/drawing/2014/main" id="{E28C779C-DF32-49BA-8806-DE309DF294DF}"/>
              </a:ext>
            </a:extLst>
          </p:cNvPr>
          <p:cNvSpPr>
            <a:spLocks noGrp="1"/>
          </p:cNvSpPr>
          <p:nvPr/>
        </p:nvSpPr>
        <p:spPr>
          <a:xfrm>
            <a:off x="5576134" y="1936908"/>
            <a:ext cx="777828" cy="225905"/>
          </a:xfrm>
          <a:prstGeom prst="rect">
            <a:avLst/>
          </a:prstGeom>
          <a:noFill/>
        </p:spPr>
        <p:txBody>
          <a:bodyPr wrap="square" lIns="254" tIns="254" rIns="254" bIns="254" anchor="ctr">
            <a:noAutofit/>
          </a:bodyPr>
          <a:lstStyle/>
          <a:p>
            <a:pPr marL="0" indent="0" algn="ctr">
              <a:buNone/>
            </a:pPr>
            <a:endParaRPr sz="140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339" name="图片 120">
            <a:extLst>
              <a:ext uri="{FF2B5EF4-FFF2-40B4-BE49-F238E27FC236}">
                <a16:creationId xmlns:a16="http://schemas.microsoft.com/office/drawing/2014/main" id="{83556EB5-FE85-4A63-9B7F-322E73FA83C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651728" y="1930752"/>
            <a:ext cx="595250" cy="441638"/>
          </a:xfrm>
          <a:prstGeom prst="rect">
            <a:avLst/>
          </a:prstGeom>
        </p:spPr>
      </p:pic>
      <p:sp>
        <p:nvSpPr>
          <p:cNvPr id="340" name="Shape 4">
            <a:extLst>
              <a:ext uri="{FF2B5EF4-FFF2-40B4-BE49-F238E27FC236}">
                <a16:creationId xmlns:a16="http://schemas.microsoft.com/office/drawing/2014/main" id="{06288C2D-333E-4FCB-8EB3-885792D5DA17}"/>
              </a:ext>
            </a:extLst>
          </p:cNvPr>
          <p:cNvSpPr>
            <a:spLocks noGrp="1"/>
          </p:cNvSpPr>
          <p:nvPr/>
        </p:nvSpPr>
        <p:spPr>
          <a:xfrm>
            <a:off x="6904363" y="1609474"/>
            <a:ext cx="1563624" cy="978408"/>
          </a:xfrm>
          <a:prstGeom prst="roundRect">
            <a:avLst/>
          </a:prstGeom>
          <a:solidFill>
            <a:srgbClr val="FFFFFF">
              <a:alpha val="0"/>
            </a:srgbClr>
          </a:solidFill>
          <a:ln w="15240">
            <a:solidFill>
              <a:srgbClr val="2E73B8"/>
            </a:solidFill>
            <a:prstDash val="solid"/>
          </a:ln>
        </p:spPr>
      </p:sp>
      <p:sp>
        <p:nvSpPr>
          <p:cNvPr id="341" name="Text 5">
            <a:extLst>
              <a:ext uri="{FF2B5EF4-FFF2-40B4-BE49-F238E27FC236}">
                <a16:creationId xmlns:a16="http://schemas.microsoft.com/office/drawing/2014/main" id="{CBE2695E-6488-4858-96E7-02B4667BBED6}"/>
              </a:ext>
            </a:extLst>
          </p:cNvPr>
          <p:cNvSpPr>
            <a:spLocks noGrp="1"/>
          </p:cNvSpPr>
          <p:nvPr/>
        </p:nvSpPr>
        <p:spPr>
          <a:xfrm>
            <a:off x="6865300" y="1663093"/>
            <a:ext cx="424270" cy="274320"/>
          </a:xfrm>
          <a:prstGeom prst="rect">
            <a:avLst/>
          </a:prstGeom>
          <a:noFill/>
        </p:spPr>
        <p:txBody>
          <a:bodyPr wrap="square" lIns="19050" tIns="19050" rIns="19050" bIns="19050" anchor="ctr">
            <a:noAutofit/>
          </a:bodyPr>
          <a:lstStyle/>
          <a:p>
            <a:pPr algn="ctr">
              <a:buNone/>
            </a:pPr>
            <a:r>
              <a:rPr lang="zh-CN" altLang="en-US" sz="1600" b="1">
                <a:solidFill>
                  <a:srgbClr val="2E73B8"/>
                </a:solidFill>
                <a:latin typeface="Arial" panose="020B0604020202020204" pitchFamily="34" charset="0"/>
                <a:ea typeface="Segoe UI Symbol"/>
                <a:cs typeface="Arial" panose="020B0604020202020204" pitchFamily="34" charset="0"/>
              </a:rPr>
              <a:t>④</a:t>
            </a:r>
            <a:endParaRPr lang="zh-CN" altLang="en-US" sz="160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42" name="Text 6">
            <a:extLst>
              <a:ext uri="{FF2B5EF4-FFF2-40B4-BE49-F238E27FC236}">
                <a16:creationId xmlns:a16="http://schemas.microsoft.com/office/drawing/2014/main" id="{B01085CE-1F45-43E3-84C1-A4CE5E1716CA}"/>
              </a:ext>
            </a:extLst>
          </p:cNvPr>
          <p:cNvSpPr>
            <a:spLocks noGrp="1"/>
          </p:cNvSpPr>
          <p:nvPr/>
        </p:nvSpPr>
        <p:spPr>
          <a:xfrm>
            <a:off x="7239926" y="1713106"/>
            <a:ext cx="1110441" cy="182271"/>
          </a:xfrm>
          <a:prstGeom prst="rect">
            <a:avLst/>
          </a:prstGeom>
          <a:noFill/>
        </p:spPr>
        <p:txBody>
          <a:bodyPr wrap="square" lIns="19050" tIns="19050" rIns="19050" bIns="19050" anchor="ctr">
            <a:noAutofit/>
          </a:bodyPr>
          <a:lstStyle/>
          <a:p>
            <a:pPr marL="0" indent="0" algn="l">
              <a:buNone/>
            </a:pPr>
            <a:r>
              <a:rPr lang="en-US" altLang="zh-CN" sz="1200" b="1">
                <a:solidFill>
                  <a:srgbClr val="0B1F54"/>
                </a:solidFill>
                <a:latin typeface="Arial" panose="020B0604020202020204" pitchFamily="34" charset="0"/>
                <a:ea typeface="Arial"/>
                <a:cs typeface="Arial" panose="020B0604020202020204" pitchFamily="34" charset="0"/>
              </a:rPr>
              <a:t>Retain / revise</a:t>
            </a:r>
          </a:p>
        </p:txBody>
      </p:sp>
      <p:sp>
        <p:nvSpPr>
          <p:cNvPr id="343" name="Text 7">
            <a:extLst>
              <a:ext uri="{FF2B5EF4-FFF2-40B4-BE49-F238E27FC236}">
                <a16:creationId xmlns:a16="http://schemas.microsoft.com/office/drawing/2014/main" id="{F298954C-0C83-47AB-9F47-CF1C1F918FC3}"/>
              </a:ext>
            </a:extLst>
          </p:cNvPr>
          <p:cNvSpPr>
            <a:spLocks noGrp="1"/>
          </p:cNvSpPr>
          <p:nvPr/>
        </p:nvSpPr>
        <p:spPr>
          <a:xfrm>
            <a:off x="7333667" y="1937549"/>
            <a:ext cx="777828" cy="225905"/>
          </a:xfrm>
          <a:prstGeom prst="rect">
            <a:avLst/>
          </a:prstGeom>
          <a:noFill/>
        </p:spPr>
        <p:txBody>
          <a:bodyPr wrap="square" lIns="254" tIns="254" rIns="254" bIns="254" anchor="ctr">
            <a:noAutofit/>
          </a:bodyPr>
          <a:lstStyle/>
          <a:p>
            <a:pPr marL="0" indent="0" algn="ctr">
              <a:buNone/>
            </a:pPr>
            <a:endParaRPr sz="140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344" name="图片 122">
            <a:extLst>
              <a:ext uri="{FF2B5EF4-FFF2-40B4-BE49-F238E27FC236}">
                <a16:creationId xmlns:a16="http://schemas.microsoft.com/office/drawing/2014/main" id="{3C168231-6AB5-4EDC-9AA9-5299FC77ADD6}"/>
              </a:ext>
            </a:extLst>
          </p:cNvPr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3792093" y="1909986"/>
            <a:ext cx="619186" cy="459396"/>
          </a:xfrm>
          <a:prstGeom prst="rect">
            <a:avLst/>
          </a:prstGeom>
        </p:spPr>
      </p:pic>
      <p:pic>
        <p:nvPicPr>
          <p:cNvPr id="345" name="图片 126">
            <a:extLst>
              <a:ext uri="{FF2B5EF4-FFF2-40B4-BE49-F238E27FC236}">
                <a16:creationId xmlns:a16="http://schemas.microsoft.com/office/drawing/2014/main" id="{06C24F11-1D45-4B75-B263-4F74D36EF08C}"/>
              </a:ext>
            </a:extLst>
          </p:cNvPr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5522540" y="1908652"/>
            <a:ext cx="827604" cy="585302"/>
          </a:xfrm>
          <a:prstGeom prst="rect">
            <a:avLst/>
          </a:prstGeom>
        </p:spPr>
      </p:pic>
      <p:pic>
        <p:nvPicPr>
          <p:cNvPr id="346" name="图片 128">
            <a:extLst>
              <a:ext uri="{FF2B5EF4-FFF2-40B4-BE49-F238E27FC236}">
                <a16:creationId xmlns:a16="http://schemas.microsoft.com/office/drawing/2014/main" id="{C751E312-A2AB-402C-B99F-ADC8C8025374}"/>
              </a:ext>
            </a:extLst>
          </p:cNvPr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7379981" y="2023770"/>
            <a:ext cx="685200" cy="406838"/>
          </a:xfrm>
          <a:prstGeom prst="rect">
            <a:avLst/>
          </a:prstGeom>
        </p:spPr>
      </p:pic>
      <p:pic>
        <p:nvPicPr>
          <p:cNvPr id="347" name="图片 177">
            <a:extLst>
              <a:ext uri="{FF2B5EF4-FFF2-40B4-BE49-F238E27FC236}">
                <a16:creationId xmlns:a16="http://schemas.microsoft.com/office/drawing/2014/main" id="{0BC8FDEE-126E-462B-9174-F6495994482D}"/>
              </a:ext>
            </a:extLst>
          </p:cNvPr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216025" y="5929372"/>
            <a:ext cx="444046" cy="450575"/>
          </a:xfrm>
          <a:prstGeom prst="rect">
            <a:avLst/>
          </a:prstGeom>
        </p:spPr>
      </p:pic>
      <p:sp>
        <p:nvSpPr>
          <p:cNvPr id="348" name="Text 32">
            <a:extLst>
              <a:ext uri="{FF2B5EF4-FFF2-40B4-BE49-F238E27FC236}">
                <a16:creationId xmlns:a16="http://schemas.microsoft.com/office/drawing/2014/main" id="{75B8EF60-C316-4399-8DAB-C1B07084FB16}"/>
              </a:ext>
            </a:extLst>
          </p:cNvPr>
          <p:cNvSpPr>
            <a:spLocks noGrp="1"/>
          </p:cNvSpPr>
          <p:nvPr/>
        </p:nvSpPr>
        <p:spPr>
          <a:xfrm>
            <a:off x="1359582" y="1663700"/>
            <a:ext cx="1400353" cy="905000"/>
          </a:xfrm>
          <a:prstGeom prst="rect">
            <a:avLst/>
          </a:prstGeom>
          <a:noFill/>
        </p:spPr>
        <p:txBody>
          <a:bodyPr wrap="square" lIns="19050" tIns="19050" rIns="19050" bIns="19050" anchor="ctr">
            <a:noAutofit/>
          </a:bodyPr>
          <a:lstStyle/>
          <a:p>
            <a:pPr marL="0" indent="0" algn="ctr">
              <a:buNone/>
            </a:pPr>
            <a:r>
              <a:rPr lang="en-US" sz="1100" i="1">
                <a:solidFill>
                  <a:schemeClr val="accent5">
                    <a:lumMod val="75000"/>
                  </a:schemeClr>
                </a:solidFill>
                <a:latin typeface="Cambria Math" panose="02040503050406030204" pitchFamily="18" charset="0"/>
                <a:ea typeface="Arial"/>
                <a:cs typeface="Arial" panose="020B0604020202020204" pitchFamily="34" charset="0"/>
              </a:rPr>
              <a:t>𝑆</a:t>
            </a:r>
            <a:r>
              <a:rPr lang="en-US" sz="1100">
                <a:solidFill>
                  <a:schemeClr val="accent5">
                    <a:lumMod val="75000"/>
                  </a:schemeClr>
                </a:solidFill>
                <a:latin typeface="Arial" panose="020B0604020202020204" pitchFamily="34" charset="0"/>
                <a:ea typeface="Arial"/>
                <a:cs typeface="Arial" panose="020B0604020202020204" pitchFamily="34" charset="0"/>
              </a:rPr>
              <a:t> generates new hypothesis / experiment / expected effect / </a:t>
            </a:r>
            <a:r>
              <a:rPr lang="en-US" sz="1100" b="1">
                <a:solidFill>
                  <a:schemeClr val="accent5">
                    <a:lumMod val="75000"/>
                  </a:schemeClr>
                </a:solidFill>
                <a:latin typeface="Arial" panose="020B0604020202020204" pitchFamily="34" charset="0"/>
                <a:ea typeface="Arial"/>
                <a:cs typeface="Arial" panose="020B0604020202020204" pitchFamily="34" charset="0"/>
              </a:rPr>
              <a:t>design_id</a:t>
            </a:r>
            <a:endParaRPr lang="en-US" sz="1100" b="1">
              <a:solidFill>
                <a:schemeClr val="accent5">
                  <a:lumMod val="75000"/>
                </a:schemeClr>
              </a:solidFill>
              <a:latin typeface="Arial" panose="020B0604020202020204" pitchFamily="34" charset="0"/>
              <a:ea typeface="Calibri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48412391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Georgia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Georgia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113</TotalTime>
  <Words>183</Words>
  <Application>Microsoft Office PowerPoint</Application>
  <DocSecurity>0</DocSecurity>
  <PresentationFormat>On-screen Show (4:3)</PresentationFormat>
  <Paragraphs>68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6" baseType="lpstr">
      <vt:lpstr>Aptos</vt:lpstr>
      <vt:lpstr>Arial</vt:lpstr>
      <vt:lpstr>Cambria Math</vt:lpstr>
      <vt:lpstr>Times New Roman</vt:lpstr>
      <vt:lpstr>Office Theme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Presentation</dc:title>
  <dc:creator>Walnut Exporter</dc:creator>
  <cp:lastModifiedBy>Kai YU 俞开</cp:lastModifiedBy>
  <cp:revision>6</cp:revision>
  <dcterms:created xsi:type="dcterms:W3CDTF">2026-09-25T16:35:57Z</dcterms:created>
  <dcterms:modified xsi:type="dcterms:W3CDTF">2026-09-25T19:29:34Z</dcterms:modified>
</cp:coreProperties>
</file>